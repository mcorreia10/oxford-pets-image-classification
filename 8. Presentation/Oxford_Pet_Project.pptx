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metadata/core-properties" Target="docProps/core0.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sldIdLst>
    <p:sldId id="256" r:id="rId3"/>
    <p:sldId id="257" r:id="rId4"/>
    <p:sldId id="258" r:id="rId5"/>
    <p:sldId id="276" r:id="rId6"/>
    <p:sldId id="277" r:id="rId7"/>
    <p:sldId id="260" r:id="rId8"/>
    <p:sldId id="261" r:id="rId9"/>
    <p:sldId id="278" r:id="rId10"/>
    <p:sldId id="262" r:id="rId11"/>
    <p:sldId id="263" r:id="rId12"/>
    <p:sldId id="279" r:id="rId13"/>
    <p:sldId id="264" r:id="rId14"/>
    <p:sldId id="265" r:id="rId15"/>
    <p:sldId id="280" r:id="rId16"/>
    <p:sldId id="266" r:id="rId17"/>
    <p:sldId id="267" r:id="rId18"/>
    <p:sldId id="268" r:id="rId19"/>
    <p:sldId id="269" r:id="rId20"/>
    <p:sldId id="270" r:id="rId21"/>
    <p:sldId id="271" r:id="rId22"/>
    <p:sldId id="272" r:id="rId23"/>
    <p:sldId id="273" r:id="rId24"/>
    <p:sldId id="281" r:id="rId25"/>
    <p:sldId id="274" r:id="rId26"/>
    <p:sldId id="275" r:id="rId27"/>
  </p:sldIdLst>
  <p:sldSz cx="9144000" cy="5143500" type="screen16x9"/>
  <p:notesSz cx="7559675" cy="10691813"/>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74"/>
    <p:restoredTop sz="94684"/>
  </p:normalViewPr>
  <p:slideViewPr>
    <p:cSldViewPr snapToGrid="0">
      <p:cViewPr varScale="1">
        <p:scale>
          <a:sx n="198" d="100"/>
          <a:sy n="198" d="100"/>
        </p:scale>
        <p:origin x="208" y="2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MasterSlide0">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24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 name="PlaceHolder 2"/>
          <p:cNvSpPr>
            <a:spLocks noGrp="1"/>
          </p:cNvSpPr>
          <p:nvPr>
            <p:ph type="subTitle"/>
          </p:nvPr>
        </p:nvSpPr>
        <p:spPr>
          <a:xfrm>
            <a:off x="457200" y="1203480"/>
            <a:ext cx="8229240" cy="298260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MasterSlide1">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24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3" name="PlaceHolder 2"/>
          <p:cNvSpPr>
            <a:spLocks noGrp="1"/>
          </p:cNvSpPr>
          <p:nvPr>
            <p:ph type="body"/>
          </p:nvPr>
        </p:nvSpPr>
        <p:spPr>
          <a:xfrm>
            <a:off x="457200" y="1203480"/>
            <a:ext cx="8229240" cy="2982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24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5" name="PlaceHolder 2"/>
          <p:cNvSpPr>
            <a:spLocks noGrp="1"/>
          </p:cNvSpPr>
          <p:nvPr>
            <p:ph type="body"/>
          </p:nvPr>
        </p:nvSpPr>
        <p:spPr>
          <a:xfrm>
            <a:off x="457200" y="1203480"/>
            <a:ext cx="8229240" cy="2982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Freeform 5"/>
          <p:cNvSpPr/>
          <p:nvPr/>
        </p:nvSpPr>
        <p:spPr>
          <a:xfrm>
            <a:off x="0" y="0"/>
            <a:ext cx="9144720" cy="73800"/>
          </a:xfrm>
          <a:custGeom>
            <a:avLst/>
            <a:gdLst/>
            <a:ahLst/>
            <a:cxnLst/>
            <a:rect l="0" t="0" r="r" b="b"/>
            <a:pathLst>
              <a:path w="25402" h="205">
                <a:moveTo>
                  <a:pt x="0" y="0"/>
                </a:moveTo>
                <a:lnTo>
                  <a:pt x="25402" y="0"/>
                </a:lnTo>
                <a:lnTo>
                  <a:pt x="25402" y="205"/>
                </a:lnTo>
                <a:lnTo>
                  <a:pt x="0" y="205"/>
                </a:lnTo>
                <a:lnTo>
                  <a:pt x="0" y="0"/>
                </a:lnTo>
                <a:close/>
              </a:path>
            </a:pathLst>
          </a:custGeom>
          <a:solidFill>
            <a:srgbClr val="2361EB"/>
          </a:solidFill>
          <a:ln w="12600">
            <a:solidFill>
              <a:srgbClr val="2361EB"/>
            </a:solidFill>
            <a:round/>
          </a:ln>
        </p:spPr>
        <p:txBody>
          <a:bodyPr lIns="96120" tIns="22680" rIns="96120" bIns="22680" anchor="t">
            <a:noAutofit/>
          </a:bodyPr>
          <a:lstStyle/>
          <a:p>
            <a:endParaRPr lang="en-US" sz="1800" b="0" strike="noStrike" spc="-1">
              <a:solidFill>
                <a:srgbClr val="FFFFFF"/>
              </a:solidFill>
              <a:latin typeface="Arial"/>
            </a:endParaRPr>
          </a:p>
        </p:txBody>
      </p:sp>
      <p:sp>
        <p:nvSpPr>
          <p:cNvPr id="7" name="TextBox 6"/>
          <p:cNvSpPr txBox="1"/>
          <p:nvPr/>
        </p:nvSpPr>
        <p:spPr>
          <a:xfrm>
            <a:off x="502200" y="457200"/>
            <a:ext cx="4939200" cy="594360"/>
          </a:xfrm>
          <a:prstGeom prst="rect">
            <a:avLst/>
          </a:prstGeom>
          <a:noFill/>
          <a:ln w="0">
            <a:noFill/>
          </a:ln>
        </p:spPr>
        <p:txBody>
          <a:bodyPr lIns="90000" tIns="45000" rIns="90000" bIns="45000" anchor="t">
            <a:noAutofit/>
          </a:bodyPr>
          <a:lstStyle/>
          <a:p>
            <a:r>
              <a:rPr lang="en-US" sz="2800" b="1" strike="noStrike" spc="-1">
                <a:solidFill>
                  <a:srgbClr val="182C48"/>
                </a:solidFill>
                <a:latin typeface="Calibri-Bold"/>
                <a:ea typeface="Calibri-Bold"/>
              </a:rPr>
              <a:t>Deep Learning Project</a:t>
            </a:r>
            <a:endParaRPr lang="en-US" sz="2800" b="0" strike="noStrike" spc="-1">
              <a:solidFill>
                <a:srgbClr val="000000"/>
              </a:solidFill>
              <a:latin typeface="Arial"/>
            </a:endParaRPr>
          </a:p>
        </p:txBody>
      </p:sp>
      <p:sp>
        <p:nvSpPr>
          <p:cNvPr id="8" name="TextBox 7"/>
          <p:cNvSpPr txBox="1"/>
          <p:nvPr/>
        </p:nvSpPr>
        <p:spPr>
          <a:xfrm>
            <a:off x="502200" y="1051560"/>
            <a:ext cx="4939200" cy="457200"/>
          </a:xfrm>
          <a:prstGeom prst="rect">
            <a:avLst/>
          </a:prstGeom>
          <a:noFill/>
          <a:ln w="0">
            <a:noFill/>
          </a:ln>
        </p:spPr>
        <p:txBody>
          <a:bodyPr lIns="90000" tIns="45000" rIns="90000" bIns="45000" anchor="t">
            <a:noAutofit/>
          </a:bodyPr>
          <a:lstStyle/>
          <a:p>
            <a:r>
              <a:rPr lang="en-US" sz="2000" b="0" strike="noStrike" spc="-1">
                <a:solidFill>
                  <a:srgbClr val="2361EB"/>
                </a:solidFill>
                <a:latin typeface="Calibri"/>
                <a:ea typeface="Calibri"/>
              </a:rPr>
              <a:t>Oxford-IIIT Pet Dataset</a:t>
            </a:r>
            <a:endParaRPr lang="en-US" sz="2000" b="0" strike="noStrike" spc="-1">
              <a:solidFill>
                <a:srgbClr val="000000"/>
              </a:solidFill>
              <a:latin typeface="Arial"/>
            </a:endParaRPr>
          </a:p>
        </p:txBody>
      </p:sp>
      <p:sp>
        <p:nvSpPr>
          <p:cNvPr id="9" name="Straight Connector 8"/>
          <p:cNvSpPr/>
          <p:nvPr/>
        </p:nvSpPr>
        <p:spPr>
          <a:xfrm>
            <a:off x="457200" y="1572840"/>
            <a:ext cx="4114800" cy="0"/>
          </a:xfrm>
          <a:prstGeom prst="line">
            <a:avLst/>
          </a:prstGeom>
          <a:ln w="12600">
            <a:solidFill>
              <a:srgbClr val="E2E8F0"/>
            </a:solidFill>
            <a:round/>
          </a:ln>
        </p:spPr>
        <p:style>
          <a:lnRef idx="0">
            <a:scrgbClr r="0" g="0" b="0"/>
          </a:lnRef>
          <a:fillRef idx="0">
            <a:scrgbClr r="0" g="0" b="0"/>
          </a:fillRef>
          <a:effectRef idx="0">
            <a:scrgbClr r="0" g="0" b="0"/>
          </a:effectRef>
          <a:fontRef idx="minor"/>
        </p:style>
        <p:txBody>
          <a:bodyPr lIns="96120" tIns="-51120" rIns="96120" bIns="-51120" anchor="t">
            <a:noAutofit/>
          </a:bodyPr>
          <a:lstStyle/>
          <a:p>
            <a:endParaRPr lang="en-US" sz="1800" b="0" strike="noStrike" spc="-1">
              <a:solidFill>
                <a:srgbClr val="000000"/>
              </a:solidFill>
              <a:latin typeface="Arial"/>
            </a:endParaRPr>
          </a:p>
        </p:txBody>
      </p:sp>
      <p:sp>
        <p:nvSpPr>
          <p:cNvPr id="10" name="TextBox 9"/>
          <p:cNvSpPr txBox="1"/>
          <p:nvPr/>
        </p:nvSpPr>
        <p:spPr>
          <a:xfrm>
            <a:off x="502200" y="1691640"/>
            <a:ext cx="4847760" cy="1005840"/>
          </a:xfrm>
          <a:prstGeom prst="rect">
            <a:avLst/>
          </a:prstGeom>
          <a:noFill/>
          <a:ln w="0">
            <a:noFill/>
          </a:ln>
        </p:spPr>
        <p:txBody>
          <a:bodyPr lIns="90000" tIns="45000" rIns="90000" bIns="45000" anchor="t">
            <a:noAutofit/>
          </a:bodyPr>
          <a:lstStyle/>
          <a:p>
            <a:r>
              <a:rPr lang="en-US" sz="1200" b="0" strike="noStrike" spc="-1">
                <a:solidFill>
                  <a:srgbClr val="1C2739"/>
                </a:solidFill>
                <a:latin typeface="Calibri"/>
                <a:ea typeface="Calibri"/>
              </a:rPr>
              <a:t>Fine-grained image classification of 37 pet breeds using deep learning — from a custom CNN baseline to state-of-the-art transfer learning models.</a:t>
            </a:r>
            <a:endParaRPr lang="en-US" sz="1200" b="0" strike="noStrike" spc="-1">
              <a:solidFill>
                <a:srgbClr val="000000"/>
              </a:solidFill>
              <a:latin typeface="Arial"/>
            </a:endParaRPr>
          </a:p>
        </p:txBody>
      </p:sp>
      <p:sp>
        <p:nvSpPr>
          <p:cNvPr id="11" name="Freeform 10"/>
          <p:cNvSpPr/>
          <p:nvPr/>
        </p:nvSpPr>
        <p:spPr>
          <a:xfrm>
            <a:off x="457200" y="2834640"/>
            <a:ext cx="1143720" cy="320760"/>
          </a:xfrm>
          <a:custGeom>
            <a:avLst/>
            <a:gdLst/>
            <a:ahLst/>
            <a:cxnLst/>
            <a:rect l="0" t="0" r="r" b="b"/>
            <a:pathLst>
              <a:path w="3177" h="891">
                <a:moveTo>
                  <a:pt x="0" y="0"/>
                </a:moveTo>
                <a:lnTo>
                  <a:pt x="3177" y="0"/>
                </a:lnTo>
                <a:lnTo>
                  <a:pt x="3177" y="891"/>
                </a:lnTo>
                <a:lnTo>
                  <a:pt x="0" y="891"/>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12" name="TextBox 11"/>
          <p:cNvSpPr txBox="1"/>
          <p:nvPr/>
        </p:nvSpPr>
        <p:spPr>
          <a:xfrm>
            <a:off x="502200" y="2834640"/>
            <a:ext cx="1053000" cy="320040"/>
          </a:xfrm>
          <a:prstGeom prst="rect">
            <a:avLst/>
          </a:prstGeom>
          <a:noFill/>
          <a:ln w="0">
            <a:noFill/>
          </a:ln>
        </p:spPr>
        <p:txBody>
          <a:bodyPr lIns="90000" tIns="45000" rIns="90000" bIns="45000" anchor="t">
            <a:noAutofit/>
          </a:bodyPr>
          <a:lstStyle/>
          <a:p>
            <a:pPr algn="ctr"/>
            <a:r>
              <a:rPr lang="en-US" sz="900" b="1" strike="noStrike" spc="-1">
                <a:solidFill>
                  <a:srgbClr val="2361EB"/>
                </a:solidFill>
                <a:latin typeface="Calibri-Bold"/>
                <a:ea typeface="Calibri-Bold"/>
              </a:rPr>
              <a:t>37 Breeds</a:t>
            </a:r>
            <a:endParaRPr lang="en-US" sz="900" b="0" strike="noStrike" spc="-1">
              <a:solidFill>
                <a:srgbClr val="000000"/>
              </a:solidFill>
              <a:latin typeface="Arial"/>
            </a:endParaRPr>
          </a:p>
        </p:txBody>
      </p:sp>
      <p:sp>
        <p:nvSpPr>
          <p:cNvPr id="13" name="Freeform 12"/>
          <p:cNvSpPr/>
          <p:nvPr/>
        </p:nvSpPr>
        <p:spPr>
          <a:xfrm>
            <a:off x="1691640" y="2834640"/>
            <a:ext cx="1143720" cy="320760"/>
          </a:xfrm>
          <a:custGeom>
            <a:avLst/>
            <a:gdLst/>
            <a:ahLst/>
            <a:cxnLst/>
            <a:rect l="0" t="0" r="r" b="b"/>
            <a:pathLst>
              <a:path w="3177" h="891">
                <a:moveTo>
                  <a:pt x="0" y="0"/>
                </a:moveTo>
                <a:lnTo>
                  <a:pt x="3177" y="0"/>
                </a:lnTo>
                <a:lnTo>
                  <a:pt x="3177" y="891"/>
                </a:lnTo>
                <a:lnTo>
                  <a:pt x="0" y="891"/>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14" name="TextBox 13"/>
          <p:cNvSpPr txBox="1"/>
          <p:nvPr/>
        </p:nvSpPr>
        <p:spPr>
          <a:xfrm>
            <a:off x="1736640" y="2834640"/>
            <a:ext cx="1053000" cy="320040"/>
          </a:xfrm>
          <a:prstGeom prst="rect">
            <a:avLst/>
          </a:prstGeom>
          <a:noFill/>
          <a:ln w="0">
            <a:noFill/>
          </a:ln>
        </p:spPr>
        <p:txBody>
          <a:bodyPr lIns="90000" tIns="45000" rIns="90000" bIns="45000" anchor="t">
            <a:noAutofit/>
          </a:bodyPr>
          <a:lstStyle/>
          <a:p>
            <a:pPr algn="ctr"/>
            <a:r>
              <a:rPr lang="en-US" sz="900" b="1" strike="noStrike" spc="-1">
                <a:solidFill>
                  <a:srgbClr val="2361EB"/>
                </a:solidFill>
                <a:latin typeface="Calibri-Bold"/>
                <a:ea typeface="Calibri-Bold"/>
              </a:rPr>
              <a:t>7,400 Images</a:t>
            </a:r>
            <a:endParaRPr lang="en-US" sz="900" b="0" strike="noStrike" spc="-1">
              <a:solidFill>
                <a:srgbClr val="000000"/>
              </a:solidFill>
              <a:latin typeface="Arial"/>
            </a:endParaRPr>
          </a:p>
        </p:txBody>
      </p:sp>
      <p:sp>
        <p:nvSpPr>
          <p:cNvPr id="15" name="Freeform 14"/>
          <p:cNvSpPr/>
          <p:nvPr/>
        </p:nvSpPr>
        <p:spPr>
          <a:xfrm>
            <a:off x="2926080" y="2834640"/>
            <a:ext cx="1143720" cy="320760"/>
          </a:xfrm>
          <a:custGeom>
            <a:avLst/>
            <a:gdLst/>
            <a:ahLst/>
            <a:cxnLst/>
            <a:rect l="0" t="0" r="r" b="b"/>
            <a:pathLst>
              <a:path w="3177" h="891">
                <a:moveTo>
                  <a:pt x="0" y="0"/>
                </a:moveTo>
                <a:lnTo>
                  <a:pt x="3177" y="0"/>
                </a:lnTo>
                <a:lnTo>
                  <a:pt x="3177" y="891"/>
                </a:lnTo>
                <a:lnTo>
                  <a:pt x="0" y="891"/>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16" name="TextBox 15"/>
          <p:cNvSpPr txBox="1"/>
          <p:nvPr/>
        </p:nvSpPr>
        <p:spPr>
          <a:xfrm>
            <a:off x="2971080" y="2834640"/>
            <a:ext cx="1053000" cy="320040"/>
          </a:xfrm>
          <a:prstGeom prst="rect">
            <a:avLst/>
          </a:prstGeom>
          <a:noFill/>
          <a:ln w="0">
            <a:noFill/>
          </a:ln>
        </p:spPr>
        <p:txBody>
          <a:bodyPr lIns="90000" tIns="45000" rIns="90000" bIns="45000" anchor="t">
            <a:noAutofit/>
          </a:bodyPr>
          <a:lstStyle/>
          <a:p>
            <a:pPr algn="ctr"/>
            <a:r>
              <a:rPr lang="en-US" sz="900" b="1" strike="noStrike" spc="-1">
                <a:solidFill>
                  <a:srgbClr val="2361EB"/>
                </a:solidFill>
                <a:latin typeface="Calibri-Bold"/>
                <a:ea typeface="Calibri-Bold"/>
              </a:rPr>
              <a:t>PyTorch</a:t>
            </a:r>
            <a:endParaRPr lang="en-US" sz="900" b="0" strike="noStrike" spc="-1">
              <a:solidFill>
                <a:srgbClr val="000000"/>
              </a:solidFill>
              <a:latin typeface="Arial"/>
            </a:endParaRPr>
          </a:p>
        </p:txBody>
      </p:sp>
      <p:sp>
        <p:nvSpPr>
          <p:cNvPr id="17" name="Freeform 16"/>
          <p:cNvSpPr/>
          <p:nvPr/>
        </p:nvSpPr>
        <p:spPr>
          <a:xfrm>
            <a:off x="4160520" y="2834640"/>
            <a:ext cx="1143720" cy="320760"/>
          </a:xfrm>
          <a:custGeom>
            <a:avLst/>
            <a:gdLst/>
            <a:ahLst/>
            <a:cxnLst/>
            <a:rect l="0" t="0" r="r" b="b"/>
            <a:pathLst>
              <a:path w="3177" h="891">
                <a:moveTo>
                  <a:pt x="0" y="0"/>
                </a:moveTo>
                <a:lnTo>
                  <a:pt x="3177" y="0"/>
                </a:lnTo>
                <a:lnTo>
                  <a:pt x="3177" y="891"/>
                </a:lnTo>
                <a:lnTo>
                  <a:pt x="0" y="891"/>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18" name="TextBox 17"/>
          <p:cNvSpPr txBox="1"/>
          <p:nvPr/>
        </p:nvSpPr>
        <p:spPr>
          <a:xfrm>
            <a:off x="4205520" y="2834640"/>
            <a:ext cx="1053000" cy="358920"/>
          </a:xfrm>
          <a:prstGeom prst="rect">
            <a:avLst/>
          </a:prstGeom>
          <a:noFill/>
          <a:ln w="0">
            <a:noFill/>
          </a:ln>
        </p:spPr>
        <p:txBody>
          <a:bodyPr lIns="90000" tIns="45000" rIns="90000" bIns="45000" anchor="t">
            <a:noAutofit/>
          </a:bodyPr>
          <a:lstStyle/>
          <a:p>
            <a:pPr algn="ctr"/>
            <a:r>
              <a:rPr lang="en-US" sz="900" b="1" strike="noStrike" spc="-1">
                <a:solidFill>
                  <a:srgbClr val="2361EB"/>
                </a:solidFill>
                <a:latin typeface="Calibri-Bold"/>
                <a:ea typeface="Calibri-Bold"/>
              </a:rPr>
              <a:t>Transfer Learning</a:t>
            </a:r>
            <a:endParaRPr lang="en-US" sz="900" b="0" strike="noStrike" spc="-1">
              <a:solidFill>
                <a:srgbClr val="000000"/>
              </a:solidFill>
              <a:latin typeface="Arial"/>
            </a:endParaRPr>
          </a:p>
        </p:txBody>
      </p:sp>
      <p:sp>
        <p:nvSpPr>
          <p:cNvPr id="19" name="TextBox 18"/>
          <p:cNvSpPr txBox="1"/>
          <p:nvPr/>
        </p:nvSpPr>
        <p:spPr>
          <a:xfrm>
            <a:off x="502200" y="4480560"/>
            <a:ext cx="4482000" cy="274320"/>
          </a:xfrm>
          <a:prstGeom prst="rect">
            <a:avLst/>
          </a:prstGeom>
          <a:noFill/>
          <a:ln w="0">
            <a:noFill/>
          </a:ln>
        </p:spPr>
        <p:txBody>
          <a:bodyPr lIns="90000" tIns="45000" rIns="90000" bIns="45000" anchor="t">
            <a:noAutofit/>
          </a:bodyPr>
          <a:lstStyle/>
          <a:p>
            <a:r>
              <a:rPr lang="en-US" sz="1000" b="0" i="1" strike="noStrike" spc="-1">
                <a:solidFill>
                  <a:srgbClr val="62728B"/>
                </a:solidFill>
                <a:latin typeface="Calibri-Italic"/>
                <a:ea typeface="Calibri-Italic"/>
              </a:rPr>
              <a:t>Deep Learning Bootcamp 2026  •  Ironhack</a:t>
            </a:r>
            <a:endParaRPr lang="en-US" sz="1000" b="0" strike="noStrike" spc="-1">
              <a:solidFill>
                <a:srgbClr val="000000"/>
              </a:solidFill>
              <a:latin typeface="Arial"/>
            </a:endParaRPr>
          </a:p>
        </p:txBody>
      </p:sp>
      <p:sp>
        <p:nvSpPr>
          <p:cNvPr id="20" name="TextBox 19"/>
          <p:cNvSpPr txBox="1"/>
          <p:nvPr/>
        </p:nvSpPr>
        <p:spPr>
          <a:xfrm>
            <a:off x="502200" y="4754880"/>
            <a:ext cx="4482000" cy="255960"/>
          </a:xfrm>
          <a:prstGeom prst="rect">
            <a:avLst/>
          </a:prstGeom>
          <a:noFill/>
          <a:ln w="0">
            <a:noFill/>
          </a:ln>
        </p:spPr>
        <p:txBody>
          <a:bodyPr lIns="90000" tIns="45000" rIns="90000" bIns="45000" anchor="t">
            <a:noAutofit/>
          </a:bodyPr>
          <a:lstStyle/>
          <a:p>
            <a:r>
              <a:rPr lang="en-US" sz="1000" b="0" strike="noStrike" spc="-1" dirty="0">
                <a:solidFill>
                  <a:srgbClr val="62728B"/>
                </a:solidFill>
                <a:latin typeface="Calibri"/>
                <a:ea typeface="Calibri"/>
              </a:rPr>
              <a:t>Marcelo Correia, Benay </a:t>
            </a:r>
            <a:r>
              <a:rPr lang="en-US" sz="1000" b="0" strike="noStrike" spc="-1" dirty="0" err="1">
                <a:solidFill>
                  <a:srgbClr val="62728B"/>
                </a:solidFill>
                <a:latin typeface="Calibri"/>
                <a:ea typeface="Calibri"/>
              </a:rPr>
              <a:t>Gavazoglu</a:t>
            </a:r>
            <a:r>
              <a:rPr lang="en-US" sz="1000" b="0" strike="noStrike" spc="-1" dirty="0">
                <a:solidFill>
                  <a:srgbClr val="62728B"/>
                </a:solidFill>
                <a:latin typeface="Calibri"/>
                <a:ea typeface="Calibri"/>
              </a:rPr>
              <a:t> &amp; Don Mithila Palliya Guruge</a:t>
            </a:r>
            <a:endParaRPr lang="en-US" sz="1000" b="0" strike="noStrike" spc="-1" dirty="0">
              <a:solidFill>
                <a:srgbClr val="000000"/>
              </a:solidFill>
              <a:latin typeface="Arial"/>
            </a:endParaRPr>
          </a:p>
        </p:txBody>
      </p:sp>
      <p:sp>
        <p:nvSpPr>
          <p:cNvPr id="21" name="Freeform 20"/>
          <p:cNvSpPr/>
          <p:nvPr/>
        </p:nvSpPr>
        <p:spPr>
          <a:xfrm>
            <a:off x="5577840" y="320040"/>
            <a:ext cx="3246840" cy="4481280"/>
          </a:xfrm>
          <a:custGeom>
            <a:avLst/>
            <a:gdLst/>
            <a:ahLst/>
            <a:cxnLst/>
            <a:rect l="0" t="0" r="r" b="b"/>
            <a:pathLst>
              <a:path w="9019" h="12448">
                <a:moveTo>
                  <a:pt x="0" y="0"/>
                </a:moveTo>
                <a:lnTo>
                  <a:pt x="9019" y="0"/>
                </a:lnTo>
                <a:lnTo>
                  <a:pt x="9019" y="12448"/>
                </a:lnTo>
                <a:lnTo>
                  <a:pt x="0" y="12448"/>
                </a:lnTo>
                <a:lnTo>
                  <a:pt x="0" y="0"/>
                </a:lnTo>
                <a:close/>
              </a:path>
            </a:pathLst>
          </a:custGeom>
          <a:solidFill>
            <a:srgbClr val="182C48"/>
          </a:solidFill>
          <a:ln w="12600">
            <a:solidFill>
              <a:srgbClr val="182C48"/>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22" name="TextBox 21"/>
          <p:cNvSpPr txBox="1"/>
          <p:nvPr/>
        </p:nvSpPr>
        <p:spPr>
          <a:xfrm>
            <a:off x="5805720" y="502920"/>
            <a:ext cx="2744640" cy="320040"/>
          </a:xfrm>
          <a:prstGeom prst="rect">
            <a:avLst/>
          </a:prstGeom>
          <a:noFill/>
          <a:ln w="0">
            <a:noFill/>
          </a:ln>
        </p:spPr>
        <p:txBody>
          <a:bodyPr lIns="90000" tIns="45000" rIns="90000" bIns="45000" anchor="t">
            <a:noAutofit/>
          </a:bodyPr>
          <a:lstStyle/>
          <a:p>
            <a:r>
              <a:rPr lang="en-US" sz="1100" b="1" strike="noStrike" spc="-1">
                <a:solidFill>
                  <a:srgbClr val="DBEAFE"/>
                </a:solidFill>
                <a:latin typeface="Calibri-Bold"/>
                <a:ea typeface="Calibri-Bold"/>
              </a:rPr>
              <a:t>Objective</a:t>
            </a:r>
            <a:endParaRPr lang="en-US" sz="1100" b="0" strike="noStrike" spc="-1">
              <a:solidFill>
                <a:srgbClr val="000000"/>
              </a:solidFill>
              <a:latin typeface="Arial"/>
            </a:endParaRPr>
          </a:p>
        </p:txBody>
      </p:sp>
      <p:sp>
        <p:nvSpPr>
          <p:cNvPr id="23" name="TextBox 22"/>
          <p:cNvSpPr txBox="1"/>
          <p:nvPr/>
        </p:nvSpPr>
        <p:spPr>
          <a:xfrm>
            <a:off x="5805720" y="841320"/>
            <a:ext cx="2744640" cy="640080"/>
          </a:xfrm>
          <a:prstGeom prst="rect">
            <a:avLst/>
          </a:prstGeom>
          <a:noFill/>
          <a:ln w="0">
            <a:noFill/>
          </a:ln>
        </p:spPr>
        <p:txBody>
          <a:bodyPr lIns="90000" tIns="45000" rIns="90000" bIns="45000" anchor="t">
            <a:noAutofit/>
          </a:bodyPr>
          <a:lstStyle/>
          <a:p>
            <a:r>
              <a:rPr lang="en-US" sz="1000" b="0" strike="noStrike" spc="-1">
                <a:solidFill>
                  <a:srgbClr val="93C5FD"/>
                </a:solidFill>
                <a:latin typeface="Calibri"/>
                <a:ea typeface="Calibri"/>
              </a:rPr>
              <a:t>Classify dog and cat breeds from a photograph with maximum accuracy.</a:t>
            </a:r>
            <a:endParaRPr lang="en-US" sz="1000" b="0" strike="noStrike" spc="-1">
              <a:solidFill>
                <a:srgbClr val="000000"/>
              </a:solidFill>
              <a:latin typeface="Arial"/>
            </a:endParaRPr>
          </a:p>
        </p:txBody>
      </p:sp>
      <p:sp>
        <p:nvSpPr>
          <p:cNvPr id="24" name="Straight Connector 23"/>
          <p:cNvSpPr/>
          <p:nvPr/>
        </p:nvSpPr>
        <p:spPr>
          <a:xfrm>
            <a:off x="5760720" y="1536120"/>
            <a:ext cx="2833920" cy="0"/>
          </a:xfrm>
          <a:prstGeom prst="line">
            <a:avLst/>
          </a:prstGeom>
          <a:ln w="12600">
            <a:solidFill>
              <a:srgbClr val="2B4B6C"/>
            </a:solidFill>
            <a:round/>
          </a:ln>
        </p:spPr>
        <p:style>
          <a:lnRef idx="0">
            <a:scrgbClr r="0" g="0" b="0"/>
          </a:lnRef>
          <a:fillRef idx="0">
            <a:scrgbClr r="0" g="0" b="0"/>
          </a:fillRef>
          <a:effectRef idx="0">
            <a:scrgbClr r="0" g="0" b="0"/>
          </a:effectRef>
          <a:fontRef idx="minor"/>
        </p:style>
        <p:txBody>
          <a:bodyPr lIns="96120" tIns="-51120" rIns="96120" bIns="-51120" anchor="t">
            <a:noAutofit/>
          </a:bodyPr>
          <a:lstStyle/>
          <a:p>
            <a:endParaRPr lang="en-US" sz="1800" b="0" strike="noStrike" spc="-1">
              <a:solidFill>
                <a:srgbClr val="000000"/>
              </a:solidFill>
              <a:latin typeface="Arial"/>
            </a:endParaRPr>
          </a:p>
        </p:txBody>
      </p:sp>
      <p:sp>
        <p:nvSpPr>
          <p:cNvPr id="25" name="TextBox 24"/>
          <p:cNvSpPr txBox="1"/>
          <p:nvPr/>
        </p:nvSpPr>
        <p:spPr>
          <a:xfrm>
            <a:off x="5805720" y="1664280"/>
            <a:ext cx="2744640" cy="292680"/>
          </a:xfrm>
          <a:prstGeom prst="rect">
            <a:avLst/>
          </a:prstGeom>
          <a:noFill/>
          <a:ln w="0">
            <a:noFill/>
          </a:ln>
        </p:spPr>
        <p:txBody>
          <a:bodyPr lIns="90000" tIns="45000" rIns="90000" bIns="45000" anchor="t">
            <a:noAutofit/>
          </a:bodyPr>
          <a:lstStyle/>
          <a:p>
            <a:r>
              <a:rPr lang="en-US" sz="1100" b="1" strike="noStrike" spc="-1">
                <a:solidFill>
                  <a:srgbClr val="DBEAFE"/>
                </a:solidFill>
                <a:latin typeface="Calibri-Bold"/>
                <a:ea typeface="Calibri-Bold"/>
              </a:rPr>
              <a:t>Project Structure</a:t>
            </a:r>
            <a:endParaRPr lang="en-US" sz="1100" b="0" strike="noStrike" spc="-1">
              <a:solidFill>
                <a:srgbClr val="000000"/>
              </a:solidFill>
              <a:latin typeface="Arial"/>
            </a:endParaRPr>
          </a:p>
        </p:txBody>
      </p:sp>
      <p:sp>
        <p:nvSpPr>
          <p:cNvPr id="26" name="TextBox 25"/>
          <p:cNvSpPr txBox="1"/>
          <p:nvPr/>
        </p:nvSpPr>
        <p:spPr>
          <a:xfrm>
            <a:off x="5828760" y="1998360"/>
            <a:ext cx="2744640" cy="306000"/>
          </a:xfrm>
          <a:prstGeom prst="rect">
            <a:avLst/>
          </a:prstGeom>
          <a:noFill/>
          <a:ln w="0">
            <a:noFill/>
          </a:ln>
        </p:spPr>
        <p:txBody>
          <a:bodyPr lIns="90000" tIns="45000" rIns="90000" bIns="45000" anchor="t">
            <a:noAutofit/>
          </a:bodyPr>
          <a:lstStyle/>
          <a:p>
            <a:r>
              <a:rPr lang="en-US" sz="1000" b="0" strike="noStrike" spc="-1">
                <a:solidFill>
                  <a:srgbClr val="FFFFFF"/>
                </a:solidFill>
                <a:latin typeface="Calibri"/>
                <a:ea typeface="Calibri"/>
              </a:rPr>
              <a:t>📊  Dataset + EDA</a:t>
            </a:r>
            <a:endParaRPr lang="en-US" sz="1000" b="0" strike="noStrike" spc="-1">
              <a:solidFill>
                <a:srgbClr val="000000"/>
              </a:solidFill>
              <a:latin typeface="Arial"/>
            </a:endParaRPr>
          </a:p>
        </p:txBody>
      </p:sp>
      <p:sp>
        <p:nvSpPr>
          <p:cNvPr id="27" name="TextBox 26"/>
          <p:cNvSpPr txBox="1"/>
          <p:nvPr/>
        </p:nvSpPr>
        <p:spPr>
          <a:xfrm>
            <a:off x="5828760" y="2325600"/>
            <a:ext cx="2744640" cy="306000"/>
          </a:xfrm>
          <a:prstGeom prst="rect">
            <a:avLst/>
          </a:prstGeom>
          <a:noFill/>
          <a:ln w="0">
            <a:noFill/>
          </a:ln>
        </p:spPr>
        <p:txBody>
          <a:bodyPr lIns="90000" tIns="45000" rIns="90000" bIns="45000" anchor="t">
            <a:noAutofit/>
          </a:bodyPr>
          <a:lstStyle/>
          <a:p>
            <a:r>
              <a:rPr lang="en-US" sz="1000" b="0" strike="noStrike" spc="-1">
                <a:solidFill>
                  <a:srgbClr val="FFFFFF"/>
                </a:solidFill>
                <a:latin typeface="Calibri"/>
                <a:ea typeface="Calibri"/>
              </a:rPr>
              <a:t>🧱  CNN Baseline</a:t>
            </a:r>
            <a:endParaRPr lang="en-US" sz="1000" b="0" strike="noStrike" spc="-1">
              <a:solidFill>
                <a:srgbClr val="000000"/>
              </a:solidFill>
              <a:latin typeface="Arial"/>
            </a:endParaRPr>
          </a:p>
        </p:txBody>
      </p:sp>
      <p:sp>
        <p:nvSpPr>
          <p:cNvPr id="28" name="TextBox 27"/>
          <p:cNvSpPr txBox="1"/>
          <p:nvPr/>
        </p:nvSpPr>
        <p:spPr>
          <a:xfrm>
            <a:off x="5805720" y="2646000"/>
            <a:ext cx="2744640" cy="306000"/>
          </a:xfrm>
          <a:prstGeom prst="rect">
            <a:avLst/>
          </a:prstGeom>
          <a:noFill/>
          <a:ln w="0">
            <a:noFill/>
          </a:ln>
        </p:spPr>
        <p:txBody>
          <a:bodyPr lIns="90000" tIns="45000" rIns="90000" bIns="45000" anchor="t">
            <a:noAutofit/>
          </a:bodyPr>
          <a:lstStyle/>
          <a:p>
            <a:r>
              <a:rPr lang="en-US" sz="1000" b="0" strike="noStrike" spc="-1">
                <a:solidFill>
                  <a:srgbClr val="FFFFFF"/>
                </a:solidFill>
                <a:latin typeface="Calibri"/>
                <a:ea typeface="Calibri"/>
              </a:rPr>
              <a:t>🔄  R</a:t>
            </a:r>
            <a:r>
              <a:rPr lang="nl-NL" sz="1000" b="0" strike="noStrike" spc="-1">
                <a:solidFill>
                  <a:srgbClr val="FFFFFF"/>
                </a:solidFill>
                <a:latin typeface="Calibri"/>
                <a:ea typeface="Calibri"/>
              </a:rPr>
              <a:t>esNet18</a:t>
            </a:r>
            <a:endParaRPr lang="en-US" sz="1000" b="0" strike="noStrike" spc="-1">
              <a:solidFill>
                <a:srgbClr val="000000"/>
              </a:solidFill>
              <a:latin typeface="Arial"/>
            </a:endParaRPr>
          </a:p>
        </p:txBody>
      </p:sp>
      <p:sp>
        <p:nvSpPr>
          <p:cNvPr id="29" name="TextBox 28"/>
          <p:cNvSpPr txBox="1"/>
          <p:nvPr/>
        </p:nvSpPr>
        <p:spPr>
          <a:xfrm>
            <a:off x="5828760" y="2966400"/>
            <a:ext cx="2744640" cy="306000"/>
          </a:xfrm>
          <a:prstGeom prst="rect">
            <a:avLst/>
          </a:prstGeom>
          <a:noFill/>
          <a:ln w="0">
            <a:noFill/>
          </a:ln>
        </p:spPr>
        <p:txBody>
          <a:bodyPr lIns="90000" tIns="45000" rIns="90000" bIns="45000" anchor="t">
            <a:noAutofit/>
          </a:bodyPr>
          <a:lstStyle/>
          <a:p>
            <a:r>
              <a:rPr lang="en-US" sz="1000" b="0" strike="noStrike" spc="-1">
                <a:solidFill>
                  <a:srgbClr val="FFFFFF"/>
                </a:solidFill>
                <a:latin typeface="Calibri"/>
                <a:ea typeface="Calibri"/>
              </a:rPr>
              <a:t>⚡  ConvNeXt-Tiny</a:t>
            </a:r>
            <a:endParaRPr lang="en-US" sz="1000" b="0" strike="noStrike" spc="-1">
              <a:solidFill>
                <a:srgbClr val="000000"/>
              </a:solidFill>
              <a:latin typeface="Arial"/>
            </a:endParaRPr>
          </a:p>
        </p:txBody>
      </p:sp>
      <p:sp>
        <p:nvSpPr>
          <p:cNvPr id="30" name="TextBox 29"/>
          <p:cNvSpPr txBox="1"/>
          <p:nvPr/>
        </p:nvSpPr>
        <p:spPr>
          <a:xfrm>
            <a:off x="5828760" y="3298320"/>
            <a:ext cx="2744640" cy="306000"/>
          </a:xfrm>
          <a:prstGeom prst="rect">
            <a:avLst/>
          </a:prstGeom>
          <a:noFill/>
          <a:ln w="0">
            <a:noFill/>
          </a:ln>
        </p:spPr>
        <p:txBody>
          <a:bodyPr lIns="90000" tIns="45000" rIns="90000" bIns="45000" anchor="t">
            <a:noAutofit/>
          </a:bodyPr>
          <a:lstStyle/>
          <a:p>
            <a:r>
              <a:rPr lang="en-US" sz="1000" b="0" strike="noStrike" spc="-1">
                <a:solidFill>
                  <a:srgbClr val="FFFFFF"/>
                </a:solidFill>
                <a:latin typeface="Calibri"/>
                <a:ea typeface="Calibri"/>
              </a:rPr>
              <a:t>🤖  ViT</a:t>
            </a:r>
            <a:endParaRPr lang="en-US" sz="1000" b="0" strike="noStrike" spc="-1">
              <a:solidFill>
                <a:srgbClr val="000000"/>
              </a:solidFill>
              <a:latin typeface="Arial"/>
            </a:endParaRPr>
          </a:p>
        </p:txBody>
      </p:sp>
      <p:sp>
        <p:nvSpPr>
          <p:cNvPr id="31" name="TextBox 30"/>
          <p:cNvSpPr txBox="1"/>
          <p:nvPr/>
        </p:nvSpPr>
        <p:spPr>
          <a:xfrm>
            <a:off x="5828760" y="3938400"/>
            <a:ext cx="2744640" cy="306000"/>
          </a:xfrm>
          <a:prstGeom prst="rect">
            <a:avLst/>
          </a:prstGeom>
          <a:noFill/>
          <a:ln w="0">
            <a:noFill/>
          </a:ln>
        </p:spPr>
        <p:txBody>
          <a:bodyPr lIns="90000" tIns="45000" rIns="90000" bIns="45000" anchor="t">
            <a:noAutofit/>
          </a:bodyPr>
          <a:lstStyle/>
          <a:p>
            <a:r>
              <a:rPr lang="en-US" sz="1000" b="0" strike="noStrike" spc="-1">
                <a:solidFill>
                  <a:srgbClr val="FFFFFF"/>
                </a:solidFill>
                <a:latin typeface="Calibri"/>
                <a:ea typeface="Calibri"/>
              </a:rPr>
              <a:t>🚀  Classification App</a:t>
            </a:r>
            <a:endParaRPr lang="en-US" sz="1000" b="0" strike="noStrike" spc="-1">
              <a:solidFill>
                <a:srgbClr val="000000"/>
              </a:solidFill>
              <a:latin typeface="Arial"/>
            </a:endParaRPr>
          </a:p>
        </p:txBody>
      </p:sp>
      <p:sp>
        <p:nvSpPr>
          <p:cNvPr id="32" name="Straight Connector 31"/>
          <p:cNvSpPr/>
          <p:nvPr/>
        </p:nvSpPr>
        <p:spPr>
          <a:xfrm>
            <a:off x="5760720" y="4370760"/>
            <a:ext cx="2833920" cy="0"/>
          </a:xfrm>
          <a:prstGeom prst="line">
            <a:avLst/>
          </a:prstGeom>
          <a:ln w="12600">
            <a:solidFill>
              <a:srgbClr val="2B4B6C"/>
            </a:solidFill>
            <a:round/>
          </a:ln>
        </p:spPr>
        <p:style>
          <a:lnRef idx="0">
            <a:scrgbClr r="0" g="0" b="0"/>
          </a:lnRef>
          <a:fillRef idx="0">
            <a:scrgbClr r="0" g="0" b="0"/>
          </a:fillRef>
          <a:effectRef idx="0">
            <a:scrgbClr r="0" g="0" b="0"/>
          </a:effectRef>
          <a:fontRef idx="minor"/>
        </p:style>
        <p:txBody>
          <a:bodyPr lIns="96120" tIns="-51120" rIns="96120" bIns="-51120" anchor="t">
            <a:noAutofit/>
          </a:bodyPr>
          <a:lstStyle/>
          <a:p>
            <a:endParaRPr lang="en-US" sz="1800" b="0" strike="noStrike" spc="-1">
              <a:solidFill>
                <a:srgbClr val="000000"/>
              </a:solidFill>
              <a:latin typeface="Arial"/>
            </a:endParaRPr>
          </a:p>
        </p:txBody>
      </p:sp>
      <p:sp>
        <p:nvSpPr>
          <p:cNvPr id="33" name="TextBox 32"/>
          <p:cNvSpPr txBox="1"/>
          <p:nvPr/>
        </p:nvSpPr>
        <p:spPr>
          <a:xfrm>
            <a:off x="5828760" y="3611160"/>
            <a:ext cx="2744640" cy="306000"/>
          </a:xfrm>
          <a:prstGeom prst="rect">
            <a:avLst/>
          </a:prstGeom>
          <a:noFill/>
          <a:ln w="0">
            <a:noFill/>
          </a:ln>
        </p:spPr>
        <p:txBody>
          <a:bodyPr lIns="90000" tIns="45000" rIns="90000" bIns="45000" anchor="t">
            <a:noAutofit/>
          </a:bodyPr>
          <a:lstStyle/>
          <a:p>
            <a:r>
              <a:rPr lang="en-US" sz="1000" b="0" strike="noStrike" spc="-1">
                <a:solidFill>
                  <a:srgbClr val="FFFFFF"/>
                </a:solidFill>
                <a:latin typeface="Calibri"/>
                <a:ea typeface="Calibri"/>
              </a:rPr>
              <a:t>📊  R</a:t>
            </a:r>
            <a:r>
              <a:rPr lang="nl-NL" sz="1000" b="0" strike="noStrike" spc="-1">
                <a:solidFill>
                  <a:srgbClr val="FFFFFF"/>
                </a:solidFill>
                <a:latin typeface="Calibri"/>
                <a:ea typeface="Calibri"/>
              </a:rPr>
              <a:t>esults Comparison</a:t>
            </a:r>
            <a:endParaRPr lang="en-US" sz="1000" b="0" strike="noStrike" spc="-1">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4" name="Freeform 33"/>
          <p:cNvSpPr/>
          <p:nvPr/>
        </p:nvSpPr>
        <p:spPr>
          <a:xfrm>
            <a:off x="0" y="0"/>
            <a:ext cx="9144720" cy="55440"/>
          </a:xfrm>
          <a:custGeom>
            <a:avLst/>
            <a:gdLst/>
            <a:ahLst/>
            <a:cxnLst/>
            <a:rect l="0" t="0" r="r" b="b"/>
            <a:pathLst>
              <a:path w="25402" h="154">
                <a:moveTo>
                  <a:pt x="0" y="0"/>
                </a:moveTo>
                <a:lnTo>
                  <a:pt x="25402" y="0"/>
                </a:lnTo>
                <a:lnTo>
                  <a:pt x="25402" y="154"/>
                </a:lnTo>
                <a:lnTo>
                  <a:pt x="0" y="154"/>
                </a:lnTo>
                <a:lnTo>
                  <a:pt x="0" y="0"/>
                </a:lnTo>
                <a:close/>
              </a:path>
            </a:pathLst>
          </a:custGeom>
          <a:solidFill>
            <a:srgbClr val="2361EB"/>
          </a:solidFill>
          <a:ln w="12600">
            <a:solidFill>
              <a:srgbClr val="2361EB"/>
            </a:solidFill>
            <a:round/>
          </a:ln>
        </p:spPr>
        <p:txBody>
          <a:bodyPr lIns="96120" tIns="4320" rIns="96120" bIns="4320" anchor="t">
            <a:noAutofit/>
          </a:bodyPr>
          <a:lstStyle/>
          <a:p>
            <a:endParaRPr lang="en-US" sz="1800" b="0" strike="noStrike" spc="-1">
              <a:solidFill>
                <a:srgbClr val="FFFFFF"/>
              </a:solidFill>
              <a:latin typeface="Arial"/>
            </a:endParaRPr>
          </a:p>
        </p:txBody>
      </p:sp>
      <p:sp>
        <p:nvSpPr>
          <p:cNvPr id="35" name="TextBox 34"/>
          <p:cNvSpPr txBox="1"/>
          <p:nvPr/>
        </p:nvSpPr>
        <p:spPr>
          <a:xfrm>
            <a:off x="502200" y="251280"/>
            <a:ext cx="8139600" cy="474480"/>
          </a:xfrm>
          <a:prstGeom prst="rect">
            <a:avLst/>
          </a:prstGeom>
          <a:noFill/>
          <a:ln w="0">
            <a:noFill/>
          </a:ln>
        </p:spPr>
        <p:txBody>
          <a:bodyPr lIns="90000" tIns="45000" rIns="90000" bIns="45000" anchor="t">
            <a:noAutofit/>
          </a:bodyPr>
          <a:lstStyle/>
          <a:p>
            <a:r>
              <a:rPr lang="en-US" sz="2600" b="1" strike="noStrike" spc="-1">
                <a:solidFill>
                  <a:srgbClr val="182C48"/>
                </a:solidFill>
                <a:latin typeface="Calibri-Bold"/>
                <a:ea typeface="Calibri-Bold"/>
              </a:rPr>
              <a:t>Project Roadmap</a:t>
            </a:r>
            <a:endParaRPr lang="en-US" sz="2600" b="0" strike="noStrike" spc="-1">
              <a:solidFill>
                <a:srgbClr val="000000"/>
              </a:solidFill>
              <a:latin typeface="Arial"/>
            </a:endParaRPr>
          </a:p>
        </p:txBody>
      </p:sp>
      <p:sp>
        <p:nvSpPr>
          <p:cNvPr id="36" name="TextBox 35"/>
          <p:cNvSpPr txBox="1"/>
          <p:nvPr/>
        </p:nvSpPr>
        <p:spPr>
          <a:xfrm>
            <a:off x="502200" y="658440"/>
            <a:ext cx="8139600" cy="292680"/>
          </a:xfrm>
          <a:prstGeom prst="rect">
            <a:avLst/>
          </a:prstGeom>
          <a:noFill/>
          <a:ln w="0">
            <a:noFill/>
          </a:ln>
        </p:spPr>
        <p:txBody>
          <a:bodyPr lIns="90000" tIns="45000" rIns="90000" bIns="45000" anchor="t">
            <a:noAutofit/>
          </a:bodyPr>
          <a:lstStyle/>
          <a:p>
            <a:r>
              <a:rPr lang="en-US" sz="1200" b="0" i="1" strike="noStrike" spc="-1">
                <a:solidFill>
                  <a:srgbClr val="62728B"/>
                </a:solidFill>
                <a:latin typeface="Calibri-Italic"/>
                <a:ea typeface="Calibri-Italic"/>
              </a:rPr>
              <a:t>Project overview — phase by phase</a:t>
            </a:r>
            <a:endParaRPr lang="en-US" sz="1200" b="0" strike="noStrike" spc="-1">
              <a:solidFill>
                <a:srgbClr val="000000"/>
              </a:solidFill>
              <a:latin typeface="Arial"/>
            </a:endParaRPr>
          </a:p>
        </p:txBody>
      </p:sp>
      <p:sp>
        <p:nvSpPr>
          <p:cNvPr id="37" name="Straight Connector 36"/>
          <p:cNvSpPr/>
          <p:nvPr/>
        </p:nvSpPr>
        <p:spPr>
          <a:xfrm>
            <a:off x="457200" y="960120"/>
            <a:ext cx="8229600" cy="0"/>
          </a:xfrm>
          <a:prstGeom prst="line">
            <a:avLst/>
          </a:prstGeom>
          <a:ln w="12600">
            <a:solidFill>
              <a:srgbClr val="E2E8F0"/>
            </a:solidFill>
            <a:round/>
          </a:ln>
        </p:spPr>
        <p:style>
          <a:lnRef idx="0">
            <a:scrgbClr r="0" g="0" b="0"/>
          </a:lnRef>
          <a:fillRef idx="0">
            <a:scrgbClr r="0" g="0" b="0"/>
          </a:fillRef>
          <a:effectRef idx="0">
            <a:scrgbClr r="0" g="0" b="0"/>
          </a:effectRef>
          <a:fontRef idx="minor"/>
        </p:style>
        <p:txBody>
          <a:bodyPr lIns="96120" tIns="-51120" rIns="96120" bIns="-51120" anchor="t">
            <a:noAutofit/>
          </a:bodyPr>
          <a:lstStyle/>
          <a:p>
            <a:endParaRPr lang="en-US" sz="1800" b="0" strike="noStrike" spc="-1">
              <a:solidFill>
                <a:srgbClr val="000000"/>
              </a:solidFill>
              <a:latin typeface="Arial"/>
            </a:endParaRPr>
          </a:p>
        </p:txBody>
      </p:sp>
      <p:sp>
        <p:nvSpPr>
          <p:cNvPr id="38" name="Freeform 37"/>
          <p:cNvSpPr/>
          <p:nvPr/>
        </p:nvSpPr>
        <p:spPr>
          <a:xfrm>
            <a:off x="320040" y="1097280"/>
            <a:ext cx="942480" cy="1738080"/>
          </a:xfrm>
          <a:custGeom>
            <a:avLst/>
            <a:gdLst/>
            <a:ahLst/>
            <a:cxnLst/>
            <a:rect l="0" t="0" r="r" b="b"/>
            <a:pathLst>
              <a:path w="2618" h="4828">
                <a:moveTo>
                  <a:pt x="0" y="0"/>
                </a:moveTo>
                <a:lnTo>
                  <a:pt x="2618" y="0"/>
                </a:lnTo>
                <a:lnTo>
                  <a:pt x="2618" y="4828"/>
                </a:lnTo>
                <a:lnTo>
                  <a:pt x="0" y="4828"/>
                </a:lnTo>
                <a:lnTo>
                  <a:pt x="0" y="0"/>
                </a:lnTo>
                <a:close/>
              </a:path>
            </a:pathLst>
          </a:custGeom>
          <a:solidFill>
            <a:srgbClr val="0691B2"/>
          </a:solidFill>
          <a:ln w="12600">
            <a:solidFill>
              <a:srgbClr val="0691B2"/>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39" name="Freeform 38"/>
          <p:cNvSpPr/>
          <p:nvPr/>
        </p:nvSpPr>
        <p:spPr>
          <a:xfrm>
            <a:off x="617040" y="1188720"/>
            <a:ext cx="348480" cy="348480"/>
          </a:xfrm>
          <a:custGeom>
            <a:avLst/>
            <a:gdLst/>
            <a:ahLst/>
            <a:cxnLst/>
            <a:rect l="0" t="0" r="r" b="b"/>
            <a:pathLst>
              <a:path w="968" h="968">
                <a:moveTo>
                  <a:pt x="826" y="141"/>
                </a:moveTo>
                <a:cubicBezTo>
                  <a:pt x="1015" y="329"/>
                  <a:pt x="1015" y="637"/>
                  <a:pt x="826" y="826"/>
                </a:cubicBezTo>
                <a:cubicBezTo>
                  <a:pt x="637" y="1015"/>
                  <a:pt x="329" y="1015"/>
                  <a:pt x="141" y="826"/>
                </a:cubicBezTo>
                <a:cubicBezTo>
                  <a:pt x="-47" y="637"/>
                  <a:pt x="-47" y="329"/>
                  <a:pt x="141" y="141"/>
                </a:cubicBezTo>
                <a:cubicBezTo>
                  <a:pt x="329" y="-47"/>
                  <a:pt x="637" y="-47"/>
                  <a:pt x="826" y="141"/>
                </a:cubicBezTo>
                <a:close/>
              </a:path>
            </a:pathLst>
          </a:custGeom>
          <a:solidFill>
            <a:srgbClr val="FFFFFF"/>
          </a:solidFill>
          <a:ln w="12600">
            <a:solidFill>
              <a:srgbClr val="FFFFFF"/>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40" name="TextBox 39"/>
          <p:cNvSpPr txBox="1"/>
          <p:nvPr/>
        </p:nvSpPr>
        <p:spPr>
          <a:xfrm>
            <a:off x="662040" y="1188720"/>
            <a:ext cx="257400" cy="347400"/>
          </a:xfrm>
          <a:prstGeom prst="rect">
            <a:avLst/>
          </a:prstGeom>
          <a:noFill/>
          <a:ln w="0">
            <a:noFill/>
          </a:ln>
        </p:spPr>
        <p:txBody>
          <a:bodyPr lIns="90000" tIns="45000" rIns="90000" bIns="45000" anchor="t">
            <a:noAutofit/>
          </a:bodyPr>
          <a:lstStyle/>
          <a:p>
            <a:pPr algn="ctr"/>
            <a:r>
              <a:rPr lang="en-US" sz="1300" b="1" strike="noStrike" spc="-1">
                <a:solidFill>
                  <a:srgbClr val="0691B2"/>
                </a:solidFill>
                <a:latin typeface="Calibri-Bold"/>
                <a:ea typeface="Calibri-Bold"/>
              </a:rPr>
              <a:t>1</a:t>
            </a:r>
            <a:endParaRPr lang="en-US" sz="1300" b="0" strike="noStrike" spc="-1">
              <a:solidFill>
                <a:srgbClr val="000000"/>
              </a:solidFill>
              <a:latin typeface="Arial"/>
            </a:endParaRPr>
          </a:p>
        </p:txBody>
      </p:sp>
      <p:sp>
        <p:nvSpPr>
          <p:cNvPr id="41" name="TextBox 40"/>
          <p:cNvSpPr txBox="1"/>
          <p:nvPr/>
        </p:nvSpPr>
        <p:spPr>
          <a:xfrm>
            <a:off x="401760" y="1645920"/>
            <a:ext cx="778680" cy="914400"/>
          </a:xfrm>
          <a:prstGeom prst="rect">
            <a:avLst/>
          </a:prstGeom>
          <a:noFill/>
          <a:ln w="0">
            <a:noFill/>
          </a:ln>
        </p:spPr>
        <p:txBody>
          <a:bodyPr lIns="90000" tIns="45000" rIns="90000" bIns="45000" anchor="t">
            <a:noAutofit/>
          </a:bodyPr>
          <a:lstStyle/>
          <a:p>
            <a:pPr algn="ctr"/>
            <a:r>
              <a:rPr lang="en-US" sz="1000" b="1" strike="noStrike" spc="-1">
                <a:solidFill>
                  <a:srgbClr val="FFFFFF"/>
                </a:solidFill>
                <a:latin typeface="Calibri-Bold"/>
                <a:ea typeface="Calibri-Bold"/>
              </a:rPr>
              <a:t>Dataset</a:t>
            </a:r>
            <a:endParaRPr lang="en-US" sz="1000" b="0" strike="noStrike" spc="-1">
              <a:solidFill>
                <a:srgbClr val="000000"/>
              </a:solidFill>
              <a:latin typeface="Arial"/>
            </a:endParaRPr>
          </a:p>
          <a:p>
            <a:pPr algn="ctr"/>
            <a:r>
              <a:rPr lang="en-US" sz="1000" b="1" strike="noStrike" spc="-1">
                <a:solidFill>
                  <a:srgbClr val="FFFFFF"/>
                </a:solidFill>
                <a:latin typeface="Calibri-Bold"/>
                <a:ea typeface="Calibri-Bold"/>
              </a:rPr>
              <a:t>+ EDA</a:t>
            </a:r>
            <a:endParaRPr lang="en-US" sz="1000" b="0" strike="noStrike" spc="-1">
              <a:solidFill>
                <a:srgbClr val="000000"/>
              </a:solidFill>
              <a:latin typeface="Arial"/>
            </a:endParaRPr>
          </a:p>
        </p:txBody>
      </p:sp>
      <p:sp>
        <p:nvSpPr>
          <p:cNvPr id="42" name="Straight Connector 41"/>
          <p:cNvSpPr/>
          <p:nvPr/>
        </p:nvSpPr>
        <p:spPr>
          <a:xfrm>
            <a:off x="1261800" y="1965960"/>
            <a:ext cx="137160" cy="0"/>
          </a:xfrm>
          <a:prstGeom prst="line">
            <a:avLst/>
          </a:prstGeom>
          <a:ln w="19080">
            <a:solidFill>
              <a:srgbClr val="E2E8F0"/>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43" name="Freeform 42"/>
          <p:cNvSpPr/>
          <p:nvPr/>
        </p:nvSpPr>
        <p:spPr>
          <a:xfrm>
            <a:off x="1398960" y="1097280"/>
            <a:ext cx="942480" cy="1738080"/>
          </a:xfrm>
          <a:custGeom>
            <a:avLst/>
            <a:gdLst/>
            <a:ahLst/>
            <a:cxnLst/>
            <a:rect l="0" t="0" r="r" b="b"/>
            <a:pathLst>
              <a:path w="2618" h="4828">
                <a:moveTo>
                  <a:pt x="0" y="0"/>
                </a:moveTo>
                <a:lnTo>
                  <a:pt x="2618" y="0"/>
                </a:lnTo>
                <a:lnTo>
                  <a:pt x="2618" y="4828"/>
                </a:lnTo>
                <a:lnTo>
                  <a:pt x="0" y="4828"/>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44" name="Freeform 43"/>
          <p:cNvSpPr/>
          <p:nvPr/>
        </p:nvSpPr>
        <p:spPr>
          <a:xfrm>
            <a:off x="1696320" y="1188720"/>
            <a:ext cx="348480" cy="348480"/>
          </a:xfrm>
          <a:custGeom>
            <a:avLst/>
            <a:gdLst/>
            <a:ahLst/>
            <a:cxnLst/>
            <a:rect l="0" t="0" r="r" b="b"/>
            <a:pathLst>
              <a:path w="968" h="968">
                <a:moveTo>
                  <a:pt x="826" y="141"/>
                </a:moveTo>
                <a:cubicBezTo>
                  <a:pt x="1015" y="329"/>
                  <a:pt x="1015" y="637"/>
                  <a:pt x="826" y="826"/>
                </a:cubicBezTo>
                <a:cubicBezTo>
                  <a:pt x="637" y="1015"/>
                  <a:pt x="329" y="1015"/>
                  <a:pt x="141" y="826"/>
                </a:cubicBezTo>
                <a:cubicBezTo>
                  <a:pt x="-47" y="637"/>
                  <a:pt x="-47" y="329"/>
                  <a:pt x="141" y="141"/>
                </a:cubicBezTo>
                <a:cubicBezTo>
                  <a:pt x="329" y="-47"/>
                  <a:pt x="637" y="-47"/>
                  <a:pt x="826" y="141"/>
                </a:cubicBezTo>
                <a:close/>
              </a:path>
            </a:pathLst>
          </a:custGeom>
          <a:solidFill>
            <a:srgbClr val="FFFFFF"/>
          </a:solidFill>
          <a:ln w="12600">
            <a:solidFill>
              <a:srgbClr val="FFFFFF"/>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45" name="TextBox 44"/>
          <p:cNvSpPr txBox="1"/>
          <p:nvPr/>
        </p:nvSpPr>
        <p:spPr>
          <a:xfrm>
            <a:off x="1741320" y="1188720"/>
            <a:ext cx="257400" cy="347400"/>
          </a:xfrm>
          <a:prstGeom prst="rect">
            <a:avLst/>
          </a:prstGeom>
          <a:noFill/>
          <a:ln w="0">
            <a:noFill/>
          </a:ln>
        </p:spPr>
        <p:txBody>
          <a:bodyPr lIns="90000" tIns="45000" rIns="90000" bIns="45000" anchor="t">
            <a:noAutofit/>
          </a:bodyPr>
          <a:lstStyle/>
          <a:p>
            <a:pPr algn="ctr"/>
            <a:r>
              <a:rPr lang="en-US" sz="1300" b="1" strike="noStrike" spc="-1">
                <a:solidFill>
                  <a:srgbClr val="2361EB"/>
                </a:solidFill>
                <a:latin typeface="Calibri-Bold"/>
                <a:ea typeface="Calibri-Bold"/>
              </a:rPr>
              <a:t>2</a:t>
            </a:r>
            <a:endParaRPr lang="en-US" sz="1300" b="0" strike="noStrike" spc="-1">
              <a:solidFill>
                <a:srgbClr val="000000"/>
              </a:solidFill>
              <a:latin typeface="Arial"/>
            </a:endParaRPr>
          </a:p>
        </p:txBody>
      </p:sp>
      <p:sp>
        <p:nvSpPr>
          <p:cNvPr id="46" name="TextBox 45"/>
          <p:cNvSpPr txBox="1"/>
          <p:nvPr/>
        </p:nvSpPr>
        <p:spPr>
          <a:xfrm>
            <a:off x="1480680" y="1645920"/>
            <a:ext cx="778680" cy="914400"/>
          </a:xfrm>
          <a:prstGeom prst="rect">
            <a:avLst/>
          </a:prstGeom>
          <a:noFill/>
          <a:ln w="0">
            <a:noFill/>
          </a:ln>
        </p:spPr>
        <p:txBody>
          <a:bodyPr lIns="90000" tIns="45000" rIns="90000" bIns="45000" anchor="t">
            <a:noAutofit/>
          </a:bodyPr>
          <a:lstStyle/>
          <a:p>
            <a:pPr algn="ctr"/>
            <a:r>
              <a:rPr lang="en-US" sz="1000" b="1" strike="noStrike" spc="-1">
                <a:solidFill>
                  <a:srgbClr val="FFFFFF"/>
                </a:solidFill>
                <a:latin typeface="Calibri-Bold"/>
                <a:ea typeface="Calibri-Bold"/>
              </a:rPr>
              <a:t>CNN</a:t>
            </a:r>
            <a:endParaRPr lang="en-US" sz="1000" b="0" strike="noStrike" spc="-1">
              <a:solidFill>
                <a:srgbClr val="000000"/>
              </a:solidFill>
              <a:latin typeface="Arial"/>
            </a:endParaRPr>
          </a:p>
          <a:p>
            <a:pPr algn="ctr"/>
            <a:r>
              <a:rPr lang="en-US" sz="1000" b="1" strike="noStrike" spc="-1">
                <a:solidFill>
                  <a:srgbClr val="FFFFFF"/>
                </a:solidFill>
                <a:latin typeface="Calibri-Bold"/>
                <a:ea typeface="Calibri-Bold"/>
              </a:rPr>
              <a:t>Baseline</a:t>
            </a:r>
            <a:endParaRPr lang="en-US" sz="1000" b="0" strike="noStrike" spc="-1">
              <a:solidFill>
                <a:srgbClr val="000000"/>
              </a:solidFill>
              <a:latin typeface="Arial"/>
            </a:endParaRPr>
          </a:p>
        </p:txBody>
      </p:sp>
      <p:sp>
        <p:nvSpPr>
          <p:cNvPr id="47" name="Straight Connector 46"/>
          <p:cNvSpPr/>
          <p:nvPr/>
        </p:nvSpPr>
        <p:spPr>
          <a:xfrm>
            <a:off x="2340720" y="1965960"/>
            <a:ext cx="137160" cy="0"/>
          </a:xfrm>
          <a:prstGeom prst="line">
            <a:avLst/>
          </a:prstGeom>
          <a:ln w="19080">
            <a:solidFill>
              <a:srgbClr val="E2E8F0"/>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48" name="Freeform 47"/>
          <p:cNvSpPr/>
          <p:nvPr/>
        </p:nvSpPr>
        <p:spPr>
          <a:xfrm>
            <a:off x="2477880" y="1097280"/>
            <a:ext cx="942480" cy="1738080"/>
          </a:xfrm>
          <a:custGeom>
            <a:avLst/>
            <a:gdLst/>
            <a:ahLst/>
            <a:cxnLst/>
            <a:rect l="0" t="0" r="r" b="b"/>
            <a:pathLst>
              <a:path w="2618" h="4828">
                <a:moveTo>
                  <a:pt x="0" y="0"/>
                </a:moveTo>
                <a:lnTo>
                  <a:pt x="2618" y="0"/>
                </a:lnTo>
                <a:lnTo>
                  <a:pt x="2618" y="4828"/>
                </a:lnTo>
                <a:lnTo>
                  <a:pt x="0" y="4828"/>
                </a:lnTo>
                <a:lnTo>
                  <a:pt x="0" y="0"/>
                </a:lnTo>
                <a:close/>
              </a:path>
            </a:pathLst>
          </a:custGeom>
          <a:gradFill rotWithShape="0">
            <a:gsLst>
              <a:gs pos="0">
                <a:srgbClr val="80B75E"/>
              </a:gs>
              <a:gs pos="100000">
                <a:srgbClr val="60A234"/>
              </a:gs>
            </a:gsLst>
            <a:lin ang="5400000"/>
          </a:gradFill>
          <a:ln w="6480">
            <a:solidFill>
              <a:srgbClr val="4270C4"/>
            </a:solidFill>
            <a:miter/>
          </a:ln>
        </p:spPr>
        <p:txBody>
          <a:bodyPr lIns="93240" tIns="48240" rIns="93240" bIns="48240" anchor="t">
            <a:noAutofit/>
          </a:bodyPr>
          <a:lstStyle/>
          <a:p>
            <a:endParaRPr lang="en-US" sz="1800" b="0" strike="noStrike" spc="-1">
              <a:solidFill>
                <a:srgbClr val="000000"/>
              </a:solidFill>
              <a:latin typeface="Arial"/>
            </a:endParaRPr>
          </a:p>
        </p:txBody>
      </p:sp>
      <p:sp>
        <p:nvSpPr>
          <p:cNvPr id="49" name="Freeform 48"/>
          <p:cNvSpPr/>
          <p:nvPr/>
        </p:nvSpPr>
        <p:spPr>
          <a:xfrm>
            <a:off x="2775240" y="1188720"/>
            <a:ext cx="348480" cy="348480"/>
          </a:xfrm>
          <a:custGeom>
            <a:avLst/>
            <a:gdLst/>
            <a:ahLst/>
            <a:cxnLst/>
            <a:rect l="0" t="0" r="r" b="b"/>
            <a:pathLst>
              <a:path w="968" h="968">
                <a:moveTo>
                  <a:pt x="826" y="141"/>
                </a:moveTo>
                <a:cubicBezTo>
                  <a:pt x="1015" y="329"/>
                  <a:pt x="1015" y="637"/>
                  <a:pt x="826" y="826"/>
                </a:cubicBezTo>
                <a:cubicBezTo>
                  <a:pt x="637" y="1015"/>
                  <a:pt x="329" y="1015"/>
                  <a:pt x="141" y="826"/>
                </a:cubicBezTo>
                <a:cubicBezTo>
                  <a:pt x="-47" y="637"/>
                  <a:pt x="-47" y="329"/>
                  <a:pt x="141" y="141"/>
                </a:cubicBezTo>
                <a:cubicBezTo>
                  <a:pt x="329" y="-47"/>
                  <a:pt x="637" y="-47"/>
                  <a:pt x="826" y="141"/>
                </a:cubicBezTo>
                <a:close/>
              </a:path>
            </a:pathLst>
          </a:custGeom>
          <a:solidFill>
            <a:srgbClr val="FFFFFF"/>
          </a:solidFill>
          <a:ln w="12600">
            <a:solidFill>
              <a:srgbClr val="4270C4"/>
            </a:solidFill>
            <a:miter/>
          </a:ln>
        </p:spPr>
        <p:txBody>
          <a:bodyPr lIns="96120" tIns="51120" rIns="96120" bIns="51120" anchor="t">
            <a:noAutofit/>
          </a:bodyPr>
          <a:lstStyle/>
          <a:p>
            <a:endParaRPr lang="en-US" sz="1800" b="0" strike="noStrike" spc="-1">
              <a:solidFill>
                <a:srgbClr val="000000"/>
              </a:solidFill>
              <a:latin typeface="Arial"/>
            </a:endParaRPr>
          </a:p>
        </p:txBody>
      </p:sp>
      <p:sp>
        <p:nvSpPr>
          <p:cNvPr id="50" name="TextBox 49"/>
          <p:cNvSpPr txBox="1"/>
          <p:nvPr/>
        </p:nvSpPr>
        <p:spPr>
          <a:xfrm>
            <a:off x="2820240" y="1188720"/>
            <a:ext cx="257400" cy="347400"/>
          </a:xfrm>
          <a:prstGeom prst="rect">
            <a:avLst/>
          </a:prstGeom>
          <a:noFill/>
          <a:ln w="0">
            <a:noFill/>
          </a:ln>
        </p:spPr>
        <p:txBody>
          <a:bodyPr lIns="90000" tIns="45000" rIns="90000" bIns="45000" anchor="t">
            <a:noAutofit/>
          </a:bodyPr>
          <a:lstStyle/>
          <a:p>
            <a:pPr algn="ctr"/>
            <a:r>
              <a:rPr lang="en-US" sz="1300" b="1" strike="noStrike" spc="-1">
                <a:solidFill>
                  <a:srgbClr val="93C173"/>
                </a:solidFill>
                <a:latin typeface="Calibri-Bold"/>
                <a:ea typeface="Calibri-Bold"/>
              </a:rPr>
              <a:t>3</a:t>
            </a:r>
            <a:endParaRPr lang="en-US" sz="1300" b="0" strike="noStrike" spc="-1">
              <a:solidFill>
                <a:srgbClr val="000000"/>
              </a:solidFill>
              <a:latin typeface="Arial"/>
            </a:endParaRPr>
          </a:p>
        </p:txBody>
      </p:sp>
      <p:sp>
        <p:nvSpPr>
          <p:cNvPr id="51" name="TextBox 50"/>
          <p:cNvSpPr txBox="1"/>
          <p:nvPr/>
        </p:nvSpPr>
        <p:spPr>
          <a:xfrm>
            <a:off x="2559600" y="1645920"/>
            <a:ext cx="778680" cy="914400"/>
          </a:xfrm>
          <a:prstGeom prst="rect">
            <a:avLst/>
          </a:prstGeom>
          <a:noFill/>
          <a:ln w="0">
            <a:noFill/>
          </a:ln>
        </p:spPr>
        <p:txBody>
          <a:bodyPr lIns="90000" tIns="45000" rIns="90000" bIns="45000" anchor="t">
            <a:noAutofit/>
          </a:bodyPr>
          <a:lstStyle/>
          <a:p>
            <a:pPr algn="ctr"/>
            <a:r>
              <a:rPr lang="en-US" sz="1000" b="1" strike="noStrike" spc="-1">
                <a:solidFill>
                  <a:srgbClr val="FFFFFF"/>
                </a:solidFill>
                <a:latin typeface="Calibri-Bold"/>
                <a:ea typeface="Calibri-Bold"/>
              </a:rPr>
              <a:t>ResNet18</a:t>
            </a:r>
            <a:endParaRPr lang="en-US" sz="1000" b="0" strike="noStrike" spc="-1">
              <a:solidFill>
                <a:srgbClr val="000000"/>
              </a:solidFill>
              <a:latin typeface="Arial"/>
            </a:endParaRPr>
          </a:p>
        </p:txBody>
      </p:sp>
      <p:sp>
        <p:nvSpPr>
          <p:cNvPr id="52" name="Straight Connector 51"/>
          <p:cNvSpPr/>
          <p:nvPr/>
        </p:nvSpPr>
        <p:spPr>
          <a:xfrm>
            <a:off x="3420000" y="1965960"/>
            <a:ext cx="137160" cy="0"/>
          </a:xfrm>
          <a:prstGeom prst="line">
            <a:avLst/>
          </a:prstGeom>
          <a:ln w="19080">
            <a:solidFill>
              <a:srgbClr val="E2E8F0"/>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53" name="Freeform 52"/>
          <p:cNvSpPr/>
          <p:nvPr/>
        </p:nvSpPr>
        <p:spPr>
          <a:xfrm>
            <a:off x="3557160" y="1097280"/>
            <a:ext cx="942480" cy="1738080"/>
          </a:xfrm>
          <a:custGeom>
            <a:avLst/>
            <a:gdLst/>
            <a:ahLst/>
            <a:cxnLst/>
            <a:rect l="0" t="0" r="r" b="b"/>
            <a:pathLst>
              <a:path w="2618" h="4828">
                <a:moveTo>
                  <a:pt x="0" y="0"/>
                </a:moveTo>
                <a:lnTo>
                  <a:pt x="2618" y="0"/>
                </a:lnTo>
                <a:lnTo>
                  <a:pt x="2618" y="4828"/>
                </a:lnTo>
                <a:lnTo>
                  <a:pt x="0" y="4828"/>
                </a:lnTo>
                <a:lnTo>
                  <a:pt x="0" y="0"/>
                </a:lnTo>
                <a:close/>
              </a:path>
            </a:pathLst>
          </a:custGeom>
          <a:gradFill rotWithShape="0">
            <a:gsLst>
              <a:gs pos="0">
                <a:srgbClr val="80B75E"/>
              </a:gs>
              <a:gs pos="100000">
                <a:srgbClr val="60A234"/>
              </a:gs>
            </a:gsLst>
            <a:lin ang="5400000"/>
          </a:gradFill>
          <a:ln w="6480">
            <a:solidFill>
              <a:srgbClr val="4270C4"/>
            </a:solidFill>
            <a:miter/>
          </a:ln>
        </p:spPr>
        <p:txBody>
          <a:bodyPr lIns="93240" tIns="48240" rIns="93240" bIns="48240" anchor="t">
            <a:noAutofit/>
          </a:bodyPr>
          <a:lstStyle/>
          <a:p>
            <a:endParaRPr lang="en-US" sz="1800" b="0" strike="noStrike" spc="-1">
              <a:solidFill>
                <a:srgbClr val="000000"/>
              </a:solidFill>
              <a:latin typeface="Arial"/>
            </a:endParaRPr>
          </a:p>
        </p:txBody>
      </p:sp>
      <p:sp>
        <p:nvSpPr>
          <p:cNvPr id="54" name="Freeform 53"/>
          <p:cNvSpPr/>
          <p:nvPr/>
        </p:nvSpPr>
        <p:spPr>
          <a:xfrm>
            <a:off x="3854160" y="1188720"/>
            <a:ext cx="348480" cy="348480"/>
          </a:xfrm>
          <a:custGeom>
            <a:avLst/>
            <a:gdLst/>
            <a:ahLst/>
            <a:cxnLst/>
            <a:rect l="0" t="0" r="r" b="b"/>
            <a:pathLst>
              <a:path w="968" h="968">
                <a:moveTo>
                  <a:pt x="826" y="141"/>
                </a:moveTo>
                <a:cubicBezTo>
                  <a:pt x="1015" y="329"/>
                  <a:pt x="1015" y="637"/>
                  <a:pt x="826" y="826"/>
                </a:cubicBezTo>
                <a:cubicBezTo>
                  <a:pt x="637" y="1015"/>
                  <a:pt x="329" y="1015"/>
                  <a:pt x="141" y="826"/>
                </a:cubicBezTo>
                <a:cubicBezTo>
                  <a:pt x="-47" y="637"/>
                  <a:pt x="-47" y="329"/>
                  <a:pt x="141" y="141"/>
                </a:cubicBezTo>
                <a:cubicBezTo>
                  <a:pt x="329" y="-47"/>
                  <a:pt x="637" y="-47"/>
                  <a:pt x="826" y="141"/>
                </a:cubicBezTo>
                <a:close/>
              </a:path>
            </a:pathLst>
          </a:custGeom>
          <a:solidFill>
            <a:srgbClr val="FFFFFF"/>
          </a:solidFill>
          <a:ln w="12600">
            <a:solidFill>
              <a:srgbClr val="4270C4"/>
            </a:solidFill>
            <a:miter/>
          </a:ln>
        </p:spPr>
        <p:txBody>
          <a:bodyPr lIns="96120" tIns="51120" rIns="96120" bIns="51120" anchor="t">
            <a:noAutofit/>
          </a:bodyPr>
          <a:lstStyle/>
          <a:p>
            <a:endParaRPr lang="en-US" sz="1800" b="0" strike="noStrike" spc="-1">
              <a:solidFill>
                <a:srgbClr val="000000"/>
              </a:solidFill>
              <a:latin typeface="Arial"/>
            </a:endParaRPr>
          </a:p>
        </p:txBody>
      </p:sp>
      <p:sp>
        <p:nvSpPr>
          <p:cNvPr id="55" name="TextBox 54"/>
          <p:cNvSpPr txBox="1"/>
          <p:nvPr/>
        </p:nvSpPr>
        <p:spPr>
          <a:xfrm>
            <a:off x="3899160" y="1188720"/>
            <a:ext cx="257400" cy="347400"/>
          </a:xfrm>
          <a:prstGeom prst="rect">
            <a:avLst/>
          </a:prstGeom>
          <a:noFill/>
          <a:ln w="0">
            <a:noFill/>
          </a:ln>
        </p:spPr>
        <p:txBody>
          <a:bodyPr lIns="90000" tIns="45000" rIns="90000" bIns="45000" anchor="t">
            <a:noAutofit/>
          </a:bodyPr>
          <a:lstStyle/>
          <a:p>
            <a:pPr algn="ctr"/>
            <a:r>
              <a:rPr lang="en-US" sz="1300" b="1" strike="noStrike" spc="-1">
                <a:solidFill>
                  <a:srgbClr val="93C173"/>
                </a:solidFill>
                <a:latin typeface="Calibri-Bold"/>
                <a:ea typeface="Calibri-Bold"/>
              </a:rPr>
              <a:t>4</a:t>
            </a:r>
            <a:endParaRPr lang="en-US" sz="1300" b="0" strike="noStrike" spc="-1">
              <a:solidFill>
                <a:srgbClr val="000000"/>
              </a:solidFill>
              <a:latin typeface="Arial"/>
            </a:endParaRPr>
          </a:p>
        </p:txBody>
      </p:sp>
      <p:sp>
        <p:nvSpPr>
          <p:cNvPr id="56" name="TextBox 55"/>
          <p:cNvSpPr txBox="1"/>
          <p:nvPr/>
        </p:nvSpPr>
        <p:spPr>
          <a:xfrm>
            <a:off x="3638520" y="1645920"/>
            <a:ext cx="778680" cy="914400"/>
          </a:xfrm>
          <a:prstGeom prst="rect">
            <a:avLst/>
          </a:prstGeom>
          <a:noFill/>
          <a:ln w="0">
            <a:noFill/>
          </a:ln>
        </p:spPr>
        <p:txBody>
          <a:bodyPr lIns="90000" tIns="45000" rIns="90000" bIns="45000" anchor="t">
            <a:noAutofit/>
          </a:bodyPr>
          <a:lstStyle/>
          <a:p>
            <a:pPr algn="ctr"/>
            <a:r>
              <a:rPr lang="en-US" sz="1000" b="1" strike="noStrike" spc="-1" dirty="0">
                <a:solidFill>
                  <a:srgbClr val="FFFFFF"/>
                </a:solidFill>
                <a:latin typeface="Calibri-Bold"/>
                <a:ea typeface="Calibri-Bold"/>
              </a:rPr>
              <a:t>ConvNeXt</a:t>
            </a:r>
            <a:endParaRPr lang="en-US" sz="1000" b="0" strike="noStrike" spc="-1" dirty="0">
              <a:solidFill>
                <a:srgbClr val="000000"/>
              </a:solidFill>
              <a:latin typeface="Arial"/>
            </a:endParaRPr>
          </a:p>
          <a:p>
            <a:pPr algn="ctr"/>
            <a:r>
              <a:rPr lang="en-US" sz="1000" b="1" strike="noStrike" spc="-1" dirty="0">
                <a:solidFill>
                  <a:srgbClr val="FFFFFF"/>
                </a:solidFill>
                <a:latin typeface="Calibri-Bold"/>
                <a:ea typeface="Calibri-Bold"/>
              </a:rPr>
              <a:t>Tiny</a:t>
            </a:r>
            <a:endParaRPr lang="en-US" sz="1000" b="0" strike="noStrike" spc="-1" dirty="0">
              <a:solidFill>
                <a:srgbClr val="000000"/>
              </a:solidFill>
              <a:latin typeface="Arial"/>
            </a:endParaRPr>
          </a:p>
        </p:txBody>
      </p:sp>
      <p:sp>
        <p:nvSpPr>
          <p:cNvPr id="57" name="Straight Connector 56"/>
          <p:cNvSpPr/>
          <p:nvPr/>
        </p:nvSpPr>
        <p:spPr>
          <a:xfrm>
            <a:off x="4498920" y="1965960"/>
            <a:ext cx="137160" cy="0"/>
          </a:xfrm>
          <a:prstGeom prst="line">
            <a:avLst/>
          </a:prstGeom>
          <a:ln w="19080">
            <a:solidFill>
              <a:srgbClr val="E2E8F0"/>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58" name="Freeform 57"/>
          <p:cNvSpPr/>
          <p:nvPr/>
        </p:nvSpPr>
        <p:spPr>
          <a:xfrm>
            <a:off x="4636080" y="1097280"/>
            <a:ext cx="942480" cy="1738080"/>
          </a:xfrm>
          <a:custGeom>
            <a:avLst/>
            <a:gdLst/>
            <a:ahLst/>
            <a:cxnLst/>
            <a:rect l="0" t="0" r="r" b="b"/>
            <a:pathLst>
              <a:path w="2618" h="4828">
                <a:moveTo>
                  <a:pt x="0" y="0"/>
                </a:moveTo>
                <a:lnTo>
                  <a:pt x="2618" y="0"/>
                </a:lnTo>
                <a:lnTo>
                  <a:pt x="2618" y="4828"/>
                </a:lnTo>
                <a:lnTo>
                  <a:pt x="0" y="4828"/>
                </a:lnTo>
                <a:lnTo>
                  <a:pt x="0" y="0"/>
                </a:lnTo>
                <a:close/>
              </a:path>
            </a:pathLst>
          </a:custGeom>
          <a:gradFill rotWithShape="0">
            <a:gsLst>
              <a:gs pos="0">
                <a:srgbClr val="80B75E"/>
              </a:gs>
              <a:gs pos="100000">
                <a:srgbClr val="60A234"/>
              </a:gs>
            </a:gsLst>
            <a:lin ang="5400000"/>
          </a:gradFill>
          <a:ln w="6480">
            <a:solidFill>
              <a:srgbClr val="4270C4"/>
            </a:solidFill>
            <a:miter/>
          </a:ln>
        </p:spPr>
        <p:txBody>
          <a:bodyPr lIns="93240" tIns="48240" rIns="93240" bIns="48240" anchor="t">
            <a:noAutofit/>
          </a:bodyPr>
          <a:lstStyle/>
          <a:p>
            <a:endParaRPr lang="en-US" sz="1800" b="0" strike="noStrike" spc="-1">
              <a:solidFill>
                <a:srgbClr val="000000"/>
              </a:solidFill>
              <a:latin typeface="Arial"/>
            </a:endParaRPr>
          </a:p>
        </p:txBody>
      </p:sp>
      <p:sp>
        <p:nvSpPr>
          <p:cNvPr id="59" name="Freeform 58"/>
          <p:cNvSpPr/>
          <p:nvPr/>
        </p:nvSpPr>
        <p:spPr>
          <a:xfrm>
            <a:off x="4933080" y="1188720"/>
            <a:ext cx="348480" cy="348480"/>
          </a:xfrm>
          <a:custGeom>
            <a:avLst/>
            <a:gdLst/>
            <a:ahLst/>
            <a:cxnLst/>
            <a:rect l="0" t="0" r="r" b="b"/>
            <a:pathLst>
              <a:path w="968" h="968">
                <a:moveTo>
                  <a:pt x="826" y="141"/>
                </a:moveTo>
                <a:cubicBezTo>
                  <a:pt x="1015" y="329"/>
                  <a:pt x="1015" y="637"/>
                  <a:pt x="826" y="826"/>
                </a:cubicBezTo>
                <a:cubicBezTo>
                  <a:pt x="637" y="1015"/>
                  <a:pt x="329" y="1015"/>
                  <a:pt x="141" y="826"/>
                </a:cubicBezTo>
                <a:cubicBezTo>
                  <a:pt x="-47" y="637"/>
                  <a:pt x="-47" y="329"/>
                  <a:pt x="141" y="141"/>
                </a:cubicBezTo>
                <a:cubicBezTo>
                  <a:pt x="329" y="-47"/>
                  <a:pt x="637" y="-47"/>
                  <a:pt x="826" y="141"/>
                </a:cubicBezTo>
                <a:close/>
              </a:path>
            </a:pathLst>
          </a:custGeom>
          <a:solidFill>
            <a:srgbClr val="FFFFFF"/>
          </a:solidFill>
          <a:ln w="12600">
            <a:solidFill>
              <a:srgbClr val="4270C4"/>
            </a:solidFill>
            <a:miter/>
          </a:ln>
        </p:spPr>
        <p:txBody>
          <a:bodyPr lIns="96120" tIns="51120" rIns="96120" bIns="51120" anchor="t">
            <a:noAutofit/>
          </a:bodyPr>
          <a:lstStyle/>
          <a:p>
            <a:endParaRPr lang="en-US" sz="1800" b="0" strike="noStrike" spc="-1">
              <a:solidFill>
                <a:srgbClr val="000000"/>
              </a:solidFill>
              <a:latin typeface="Arial"/>
            </a:endParaRPr>
          </a:p>
        </p:txBody>
      </p:sp>
      <p:sp>
        <p:nvSpPr>
          <p:cNvPr id="60" name="TextBox 59"/>
          <p:cNvSpPr txBox="1"/>
          <p:nvPr/>
        </p:nvSpPr>
        <p:spPr>
          <a:xfrm>
            <a:off x="4978080" y="1188720"/>
            <a:ext cx="257400" cy="347400"/>
          </a:xfrm>
          <a:prstGeom prst="rect">
            <a:avLst/>
          </a:prstGeom>
          <a:noFill/>
          <a:ln w="0">
            <a:noFill/>
          </a:ln>
        </p:spPr>
        <p:txBody>
          <a:bodyPr lIns="90000" tIns="45000" rIns="90000" bIns="45000" anchor="t">
            <a:noAutofit/>
          </a:bodyPr>
          <a:lstStyle/>
          <a:p>
            <a:pPr algn="ctr"/>
            <a:r>
              <a:rPr lang="en-US" sz="1300" b="1" strike="noStrike" spc="-1">
                <a:solidFill>
                  <a:srgbClr val="93C173"/>
                </a:solidFill>
                <a:latin typeface="Calibri-Bold"/>
                <a:ea typeface="Calibri-Bold"/>
              </a:rPr>
              <a:t>5</a:t>
            </a:r>
            <a:endParaRPr lang="en-US" sz="1300" b="0" strike="noStrike" spc="-1">
              <a:solidFill>
                <a:srgbClr val="000000"/>
              </a:solidFill>
              <a:latin typeface="Arial"/>
            </a:endParaRPr>
          </a:p>
        </p:txBody>
      </p:sp>
      <p:sp>
        <p:nvSpPr>
          <p:cNvPr id="61" name="TextBox 60"/>
          <p:cNvSpPr txBox="1"/>
          <p:nvPr/>
        </p:nvSpPr>
        <p:spPr>
          <a:xfrm>
            <a:off x="4717440" y="1645920"/>
            <a:ext cx="778680" cy="914400"/>
          </a:xfrm>
          <a:prstGeom prst="rect">
            <a:avLst/>
          </a:prstGeom>
          <a:noFill/>
          <a:ln w="0">
            <a:noFill/>
          </a:ln>
        </p:spPr>
        <p:txBody>
          <a:bodyPr lIns="90000" tIns="45000" rIns="90000" bIns="45000" anchor="t">
            <a:noAutofit/>
          </a:bodyPr>
          <a:lstStyle/>
          <a:p>
            <a:pPr algn="ctr"/>
            <a:r>
              <a:rPr lang="en-US" sz="1000" b="1" strike="noStrike" spc="-1">
                <a:solidFill>
                  <a:srgbClr val="FFFFFF"/>
                </a:solidFill>
                <a:latin typeface="Calibri-Bold"/>
                <a:ea typeface="Calibri-Bold"/>
              </a:rPr>
              <a:t>ViT</a:t>
            </a:r>
            <a:endParaRPr lang="en-US" sz="1000" b="0" strike="noStrike" spc="-1">
              <a:solidFill>
                <a:srgbClr val="000000"/>
              </a:solidFill>
              <a:latin typeface="Arial"/>
            </a:endParaRPr>
          </a:p>
        </p:txBody>
      </p:sp>
      <p:sp>
        <p:nvSpPr>
          <p:cNvPr id="62" name="Straight Connector 61"/>
          <p:cNvSpPr/>
          <p:nvPr/>
        </p:nvSpPr>
        <p:spPr>
          <a:xfrm>
            <a:off x="5577840" y="1965960"/>
            <a:ext cx="137160" cy="0"/>
          </a:xfrm>
          <a:prstGeom prst="line">
            <a:avLst/>
          </a:prstGeom>
          <a:ln w="19080">
            <a:solidFill>
              <a:srgbClr val="E2E8F0"/>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63" name="Freeform 62"/>
          <p:cNvSpPr/>
          <p:nvPr/>
        </p:nvSpPr>
        <p:spPr>
          <a:xfrm>
            <a:off x="5715000" y="1097280"/>
            <a:ext cx="942480" cy="1738080"/>
          </a:xfrm>
          <a:custGeom>
            <a:avLst/>
            <a:gdLst/>
            <a:ahLst/>
            <a:cxnLst/>
            <a:rect l="0" t="0" r="r" b="b"/>
            <a:pathLst>
              <a:path w="2618" h="4828">
                <a:moveTo>
                  <a:pt x="0" y="0"/>
                </a:moveTo>
                <a:lnTo>
                  <a:pt x="2618" y="0"/>
                </a:lnTo>
                <a:lnTo>
                  <a:pt x="2618" y="4828"/>
                </a:lnTo>
                <a:lnTo>
                  <a:pt x="0" y="4828"/>
                </a:lnTo>
                <a:lnTo>
                  <a:pt x="0" y="0"/>
                </a:lnTo>
                <a:close/>
              </a:path>
            </a:pathLst>
          </a:custGeom>
          <a:solidFill>
            <a:srgbClr val="ED7B2F"/>
          </a:solidFill>
          <a:ln w="12600">
            <a:solidFill>
              <a:srgbClr val="AD5A22"/>
            </a:solidFill>
            <a:miter/>
          </a:ln>
        </p:spPr>
        <p:txBody>
          <a:bodyPr lIns="96120" tIns="51120" rIns="96120" bIns="51120" anchor="t">
            <a:noAutofit/>
          </a:bodyPr>
          <a:lstStyle/>
          <a:p>
            <a:endParaRPr lang="en-US" sz="1800" b="0" strike="noStrike" spc="-1">
              <a:solidFill>
                <a:srgbClr val="FFFFFF"/>
              </a:solidFill>
              <a:latin typeface="Arial"/>
            </a:endParaRPr>
          </a:p>
        </p:txBody>
      </p:sp>
      <p:sp>
        <p:nvSpPr>
          <p:cNvPr id="64" name="Freeform 63"/>
          <p:cNvSpPr/>
          <p:nvPr/>
        </p:nvSpPr>
        <p:spPr>
          <a:xfrm>
            <a:off x="6005880" y="1188720"/>
            <a:ext cx="348480" cy="348480"/>
          </a:xfrm>
          <a:custGeom>
            <a:avLst/>
            <a:gdLst/>
            <a:ahLst/>
            <a:cxnLst/>
            <a:rect l="0" t="0" r="r" b="b"/>
            <a:pathLst>
              <a:path w="968" h="968">
                <a:moveTo>
                  <a:pt x="826" y="141"/>
                </a:moveTo>
                <a:cubicBezTo>
                  <a:pt x="1015" y="329"/>
                  <a:pt x="1015" y="637"/>
                  <a:pt x="826" y="826"/>
                </a:cubicBezTo>
                <a:cubicBezTo>
                  <a:pt x="637" y="1015"/>
                  <a:pt x="329" y="1015"/>
                  <a:pt x="141" y="826"/>
                </a:cubicBezTo>
                <a:cubicBezTo>
                  <a:pt x="-47" y="637"/>
                  <a:pt x="-47" y="329"/>
                  <a:pt x="141" y="141"/>
                </a:cubicBezTo>
                <a:cubicBezTo>
                  <a:pt x="329" y="-47"/>
                  <a:pt x="637" y="-47"/>
                  <a:pt x="826" y="141"/>
                </a:cubicBezTo>
                <a:close/>
              </a:path>
            </a:pathLst>
          </a:custGeom>
          <a:solidFill>
            <a:srgbClr val="FFFFFF"/>
          </a:solidFill>
          <a:ln w="12600">
            <a:solidFill>
              <a:srgbClr val="4270C4"/>
            </a:solidFill>
            <a:miter/>
          </a:ln>
        </p:spPr>
        <p:txBody>
          <a:bodyPr lIns="96120" tIns="51120" rIns="96120" bIns="51120" anchor="t">
            <a:noAutofit/>
          </a:bodyPr>
          <a:lstStyle/>
          <a:p>
            <a:endParaRPr lang="en-US" sz="1800" b="0" strike="noStrike" spc="-1">
              <a:solidFill>
                <a:srgbClr val="000000"/>
              </a:solidFill>
              <a:latin typeface="Arial"/>
            </a:endParaRPr>
          </a:p>
        </p:txBody>
      </p:sp>
      <p:sp>
        <p:nvSpPr>
          <p:cNvPr id="65" name="TextBox 64"/>
          <p:cNvSpPr txBox="1"/>
          <p:nvPr/>
        </p:nvSpPr>
        <p:spPr>
          <a:xfrm>
            <a:off x="6057360" y="1188720"/>
            <a:ext cx="257400" cy="280800"/>
          </a:xfrm>
          <a:prstGeom prst="rect">
            <a:avLst/>
          </a:prstGeom>
          <a:noFill/>
          <a:ln w="0">
            <a:noFill/>
          </a:ln>
        </p:spPr>
        <p:txBody>
          <a:bodyPr lIns="90000" tIns="45000" rIns="90000" bIns="45000" anchor="t">
            <a:noAutofit/>
          </a:bodyPr>
          <a:lstStyle/>
          <a:p>
            <a:pPr algn="ctr"/>
            <a:r>
              <a:rPr lang="en-US" sz="1300" b="1" strike="noStrike" spc="-1">
                <a:solidFill>
                  <a:srgbClr val="ED7B2F"/>
                </a:solidFill>
                <a:latin typeface="Calibri-Bold"/>
                <a:ea typeface="Calibri-Bold"/>
              </a:rPr>
              <a:t>6</a:t>
            </a:r>
            <a:endParaRPr lang="en-US" sz="1300" b="0" strike="noStrike" spc="-1">
              <a:solidFill>
                <a:srgbClr val="000000"/>
              </a:solidFill>
              <a:latin typeface="Arial"/>
            </a:endParaRPr>
          </a:p>
        </p:txBody>
      </p:sp>
      <p:sp>
        <p:nvSpPr>
          <p:cNvPr id="66" name="TextBox 65"/>
          <p:cNvSpPr txBox="1"/>
          <p:nvPr/>
        </p:nvSpPr>
        <p:spPr>
          <a:xfrm>
            <a:off x="5714280" y="1645920"/>
            <a:ext cx="942480" cy="914400"/>
          </a:xfrm>
          <a:prstGeom prst="rect">
            <a:avLst/>
          </a:prstGeom>
          <a:noFill/>
          <a:ln w="0">
            <a:noFill/>
          </a:ln>
        </p:spPr>
        <p:txBody>
          <a:bodyPr lIns="90000" tIns="45000" rIns="90000" bIns="45000" anchor="t">
            <a:noAutofit/>
          </a:bodyPr>
          <a:lstStyle/>
          <a:p>
            <a:pPr algn="ctr"/>
            <a:r>
              <a:rPr lang="en-US" sz="1000" b="1" strike="noStrike" spc="-1" dirty="0">
                <a:solidFill>
                  <a:srgbClr val="FFFFFF"/>
                </a:solidFill>
                <a:latin typeface="Calibri-Bold"/>
                <a:ea typeface="Calibri-Bold"/>
              </a:rPr>
              <a:t>Comparisons</a:t>
            </a:r>
            <a:endParaRPr lang="en-US" sz="1000" b="0" strike="noStrike" spc="-1" dirty="0">
              <a:solidFill>
                <a:srgbClr val="000000"/>
              </a:solidFill>
              <a:latin typeface="Arial"/>
            </a:endParaRPr>
          </a:p>
        </p:txBody>
      </p:sp>
      <p:sp>
        <p:nvSpPr>
          <p:cNvPr id="67" name="Straight Connector 66"/>
          <p:cNvSpPr/>
          <p:nvPr/>
        </p:nvSpPr>
        <p:spPr>
          <a:xfrm>
            <a:off x="6656760" y="1965960"/>
            <a:ext cx="137160" cy="0"/>
          </a:xfrm>
          <a:prstGeom prst="line">
            <a:avLst/>
          </a:prstGeom>
          <a:ln w="19080">
            <a:solidFill>
              <a:srgbClr val="E2E8F0"/>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68" name="Freeform 67"/>
          <p:cNvSpPr/>
          <p:nvPr/>
        </p:nvSpPr>
        <p:spPr>
          <a:xfrm>
            <a:off x="6793920" y="1097280"/>
            <a:ext cx="942480" cy="1738080"/>
          </a:xfrm>
          <a:custGeom>
            <a:avLst/>
            <a:gdLst/>
            <a:ahLst/>
            <a:cxnLst/>
            <a:rect l="0" t="0" r="r" b="b"/>
            <a:pathLst>
              <a:path w="2618" h="4828">
                <a:moveTo>
                  <a:pt x="0" y="0"/>
                </a:moveTo>
                <a:lnTo>
                  <a:pt x="2618" y="0"/>
                </a:lnTo>
                <a:lnTo>
                  <a:pt x="2618" y="4828"/>
                </a:lnTo>
                <a:lnTo>
                  <a:pt x="0" y="4828"/>
                </a:lnTo>
                <a:lnTo>
                  <a:pt x="0" y="0"/>
                </a:lnTo>
                <a:close/>
              </a:path>
            </a:pathLst>
          </a:custGeom>
          <a:solidFill>
            <a:srgbClr val="ED7B2F"/>
          </a:solidFill>
          <a:ln w="12600">
            <a:solidFill>
              <a:srgbClr val="AD5A22"/>
            </a:solidFill>
            <a:miter/>
          </a:ln>
        </p:spPr>
        <p:txBody>
          <a:bodyPr lIns="96120" tIns="51120" rIns="96120" bIns="51120" anchor="t">
            <a:noAutofit/>
          </a:bodyPr>
          <a:lstStyle/>
          <a:p>
            <a:endParaRPr lang="en-US" sz="1800" b="0" strike="noStrike" spc="-1">
              <a:solidFill>
                <a:srgbClr val="FFFFFF"/>
              </a:solidFill>
              <a:latin typeface="Arial"/>
            </a:endParaRPr>
          </a:p>
        </p:txBody>
      </p:sp>
      <p:sp>
        <p:nvSpPr>
          <p:cNvPr id="69" name="Freeform 68"/>
          <p:cNvSpPr/>
          <p:nvPr/>
        </p:nvSpPr>
        <p:spPr>
          <a:xfrm>
            <a:off x="7091280" y="1188720"/>
            <a:ext cx="348480" cy="348480"/>
          </a:xfrm>
          <a:custGeom>
            <a:avLst/>
            <a:gdLst/>
            <a:ahLst/>
            <a:cxnLst/>
            <a:rect l="0" t="0" r="r" b="b"/>
            <a:pathLst>
              <a:path w="968" h="968">
                <a:moveTo>
                  <a:pt x="826" y="141"/>
                </a:moveTo>
                <a:cubicBezTo>
                  <a:pt x="1015" y="329"/>
                  <a:pt x="1015" y="637"/>
                  <a:pt x="826" y="826"/>
                </a:cubicBezTo>
                <a:cubicBezTo>
                  <a:pt x="637" y="1015"/>
                  <a:pt x="329" y="1015"/>
                  <a:pt x="141" y="826"/>
                </a:cubicBezTo>
                <a:cubicBezTo>
                  <a:pt x="-47" y="637"/>
                  <a:pt x="-47" y="329"/>
                  <a:pt x="141" y="141"/>
                </a:cubicBezTo>
                <a:cubicBezTo>
                  <a:pt x="329" y="-47"/>
                  <a:pt x="637" y="-47"/>
                  <a:pt x="826" y="141"/>
                </a:cubicBezTo>
                <a:close/>
              </a:path>
            </a:pathLst>
          </a:custGeom>
          <a:solidFill>
            <a:srgbClr val="FFFFFF"/>
          </a:solidFill>
          <a:ln w="12600">
            <a:solidFill>
              <a:srgbClr val="4270C4"/>
            </a:solidFill>
            <a:miter/>
          </a:ln>
        </p:spPr>
        <p:txBody>
          <a:bodyPr lIns="96120" tIns="51120" rIns="96120" bIns="51120" anchor="t">
            <a:noAutofit/>
          </a:bodyPr>
          <a:lstStyle/>
          <a:p>
            <a:endParaRPr lang="en-US" sz="1800" b="0" strike="noStrike" spc="-1">
              <a:solidFill>
                <a:srgbClr val="000000"/>
              </a:solidFill>
              <a:latin typeface="Arial"/>
            </a:endParaRPr>
          </a:p>
        </p:txBody>
      </p:sp>
      <p:sp>
        <p:nvSpPr>
          <p:cNvPr id="70" name="TextBox 69"/>
          <p:cNvSpPr txBox="1"/>
          <p:nvPr/>
        </p:nvSpPr>
        <p:spPr>
          <a:xfrm>
            <a:off x="7136280" y="1188720"/>
            <a:ext cx="257400" cy="280800"/>
          </a:xfrm>
          <a:prstGeom prst="rect">
            <a:avLst/>
          </a:prstGeom>
          <a:noFill/>
          <a:ln w="0">
            <a:noFill/>
          </a:ln>
        </p:spPr>
        <p:txBody>
          <a:bodyPr lIns="90000" tIns="45000" rIns="90000" bIns="45000" anchor="t">
            <a:noAutofit/>
          </a:bodyPr>
          <a:lstStyle/>
          <a:p>
            <a:pPr algn="ctr"/>
            <a:r>
              <a:rPr lang="en-US" sz="1300" b="1" strike="noStrike" spc="-1">
                <a:solidFill>
                  <a:srgbClr val="ED7B2F"/>
                </a:solidFill>
                <a:latin typeface="Calibri-Bold"/>
                <a:ea typeface="Calibri-Bold"/>
              </a:rPr>
              <a:t>7</a:t>
            </a:r>
            <a:endParaRPr lang="en-US" sz="1300" b="0" strike="noStrike" spc="-1">
              <a:solidFill>
                <a:srgbClr val="000000"/>
              </a:solidFill>
              <a:latin typeface="Arial"/>
            </a:endParaRPr>
          </a:p>
        </p:txBody>
      </p:sp>
      <p:sp>
        <p:nvSpPr>
          <p:cNvPr id="71" name="TextBox 70"/>
          <p:cNvSpPr txBox="1"/>
          <p:nvPr/>
        </p:nvSpPr>
        <p:spPr>
          <a:xfrm>
            <a:off x="6792480" y="1645920"/>
            <a:ext cx="942480" cy="914400"/>
          </a:xfrm>
          <a:prstGeom prst="rect">
            <a:avLst/>
          </a:prstGeom>
          <a:noFill/>
          <a:ln w="0">
            <a:noFill/>
          </a:ln>
        </p:spPr>
        <p:txBody>
          <a:bodyPr lIns="90000" tIns="45000" rIns="90000" bIns="45000" anchor="t">
            <a:noAutofit/>
          </a:bodyPr>
          <a:lstStyle/>
          <a:p>
            <a:pPr algn="ctr"/>
            <a:r>
              <a:rPr lang="en-US" sz="1000" b="1" strike="noStrike" spc="-1" dirty="0">
                <a:solidFill>
                  <a:srgbClr val="FFFFFF"/>
                </a:solidFill>
                <a:latin typeface="Calibri-Bold"/>
                <a:ea typeface="Calibri-Bold"/>
              </a:rPr>
              <a:t>Conclusions</a:t>
            </a:r>
            <a:endParaRPr lang="en-US" sz="1000" b="0" strike="noStrike" spc="-1" dirty="0">
              <a:solidFill>
                <a:srgbClr val="000000"/>
              </a:solidFill>
              <a:latin typeface="Arial"/>
            </a:endParaRPr>
          </a:p>
        </p:txBody>
      </p:sp>
      <p:sp>
        <p:nvSpPr>
          <p:cNvPr id="72" name="Straight Connector 71"/>
          <p:cNvSpPr/>
          <p:nvPr/>
        </p:nvSpPr>
        <p:spPr>
          <a:xfrm>
            <a:off x="7735680" y="1965960"/>
            <a:ext cx="137160" cy="0"/>
          </a:xfrm>
          <a:prstGeom prst="line">
            <a:avLst/>
          </a:prstGeom>
          <a:ln w="19080">
            <a:solidFill>
              <a:srgbClr val="E2E8F0"/>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73" name="Freeform 72"/>
          <p:cNvSpPr/>
          <p:nvPr/>
        </p:nvSpPr>
        <p:spPr>
          <a:xfrm>
            <a:off x="7872840" y="1097280"/>
            <a:ext cx="942480" cy="1738080"/>
          </a:xfrm>
          <a:custGeom>
            <a:avLst/>
            <a:gdLst/>
            <a:ahLst/>
            <a:cxnLst/>
            <a:rect l="0" t="0" r="r" b="b"/>
            <a:pathLst>
              <a:path w="2618" h="4828">
                <a:moveTo>
                  <a:pt x="0" y="0"/>
                </a:moveTo>
                <a:lnTo>
                  <a:pt x="2618" y="0"/>
                </a:lnTo>
                <a:lnTo>
                  <a:pt x="2618" y="4828"/>
                </a:lnTo>
                <a:lnTo>
                  <a:pt x="0" y="4828"/>
                </a:lnTo>
                <a:lnTo>
                  <a:pt x="0" y="0"/>
                </a:lnTo>
                <a:close/>
              </a:path>
            </a:pathLst>
          </a:custGeom>
          <a:solidFill>
            <a:srgbClr val="ED7B2F"/>
          </a:solidFill>
          <a:ln w="12600">
            <a:solidFill>
              <a:srgbClr val="AD5A22"/>
            </a:solidFill>
            <a:miter/>
          </a:ln>
        </p:spPr>
        <p:txBody>
          <a:bodyPr lIns="96120" tIns="51120" rIns="96120" bIns="51120" anchor="t">
            <a:noAutofit/>
          </a:bodyPr>
          <a:lstStyle/>
          <a:p>
            <a:endParaRPr lang="en-US" sz="1800" b="0" strike="noStrike" spc="-1">
              <a:solidFill>
                <a:srgbClr val="FFFFFF"/>
              </a:solidFill>
              <a:latin typeface="Arial"/>
            </a:endParaRPr>
          </a:p>
        </p:txBody>
      </p:sp>
      <p:sp>
        <p:nvSpPr>
          <p:cNvPr id="74" name="Freeform 73"/>
          <p:cNvSpPr/>
          <p:nvPr/>
        </p:nvSpPr>
        <p:spPr>
          <a:xfrm>
            <a:off x="8176320" y="1188720"/>
            <a:ext cx="348480" cy="348480"/>
          </a:xfrm>
          <a:custGeom>
            <a:avLst/>
            <a:gdLst/>
            <a:ahLst/>
            <a:cxnLst/>
            <a:rect l="0" t="0" r="r" b="b"/>
            <a:pathLst>
              <a:path w="968" h="968">
                <a:moveTo>
                  <a:pt x="826" y="141"/>
                </a:moveTo>
                <a:cubicBezTo>
                  <a:pt x="1015" y="329"/>
                  <a:pt x="1015" y="637"/>
                  <a:pt x="826" y="826"/>
                </a:cubicBezTo>
                <a:cubicBezTo>
                  <a:pt x="637" y="1015"/>
                  <a:pt x="329" y="1015"/>
                  <a:pt x="141" y="826"/>
                </a:cubicBezTo>
                <a:cubicBezTo>
                  <a:pt x="-47" y="637"/>
                  <a:pt x="-47" y="329"/>
                  <a:pt x="141" y="141"/>
                </a:cubicBezTo>
                <a:cubicBezTo>
                  <a:pt x="329" y="-47"/>
                  <a:pt x="637" y="-47"/>
                  <a:pt x="826" y="141"/>
                </a:cubicBezTo>
                <a:close/>
              </a:path>
            </a:pathLst>
          </a:custGeom>
          <a:solidFill>
            <a:srgbClr val="FFFFFF"/>
          </a:solidFill>
          <a:ln w="12600">
            <a:solidFill>
              <a:srgbClr val="4270C4"/>
            </a:solidFill>
            <a:miter/>
          </a:ln>
        </p:spPr>
        <p:txBody>
          <a:bodyPr lIns="96120" tIns="51120" rIns="96120" bIns="51120" anchor="t">
            <a:noAutofit/>
          </a:bodyPr>
          <a:lstStyle/>
          <a:p>
            <a:endParaRPr lang="en-US" sz="1800" b="0" strike="noStrike" spc="-1">
              <a:solidFill>
                <a:srgbClr val="000000"/>
              </a:solidFill>
              <a:latin typeface="Arial"/>
            </a:endParaRPr>
          </a:p>
        </p:txBody>
      </p:sp>
      <p:sp>
        <p:nvSpPr>
          <p:cNvPr id="75" name="TextBox 74"/>
          <p:cNvSpPr txBox="1"/>
          <p:nvPr/>
        </p:nvSpPr>
        <p:spPr>
          <a:xfrm>
            <a:off x="8215200" y="1188720"/>
            <a:ext cx="257400" cy="347400"/>
          </a:xfrm>
          <a:prstGeom prst="rect">
            <a:avLst/>
          </a:prstGeom>
          <a:noFill/>
          <a:ln w="0">
            <a:noFill/>
          </a:ln>
        </p:spPr>
        <p:txBody>
          <a:bodyPr lIns="90000" tIns="45000" rIns="90000" bIns="45000" anchor="t">
            <a:noAutofit/>
          </a:bodyPr>
          <a:lstStyle/>
          <a:p>
            <a:pPr algn="ctr"/>
            <a:r>
              <a:rPr lang="en-US" sz="1300" b="1" strike="noStrike" spc="-1">
                <a:solidFill>
                  <a:srgbClr val="ED7B2F"/>
                </a:solidFill>
                <a:latin typeface="Calibri-Bold"/>
                <a:ea typeface="Calibri-Bold"/>
              </a:rPr>
              <a:t>8</a:t>
            </a:r>
            <a:endParaRPr lang="en-US" sz="1300" b="0" strike="noStrike" spc="-1">
              <a:solidFill>
                <a:srgbClr val="000000"/>
              </a:solidFill>
              <a:latin typeface="Arial"/>
            </a:endParaRPr>
          </a:p>
        </p:txBody>
      </p:sp>
      <p:sp>
        <p:nvSpPr>
          <p:cNvPr id="76" name="TextBox 75"/>
          <p:cNvSpPr txBox="1"/>
          <p:nvPr/>
        </p:nvSpPr>
        <p:spPr>
          <a:xfrm>
            <a:off x="7954560" y="1667880"/>
            <a:ext cx="778680" cy="238320"/>
          </a:xfrm>
          <a:prstGeom prst="rect">
            <a:avLst/>
          </a:prstGeom>
          <a:noFill/>
          <a:ln w="0">
            <a:noFill/>
          </a:ln>
        </p:spPr>
        <p:txBody>
          <a:bodyPr lIns="90000" tIns="45000" rIns="90000" bIns="45000" anchor="t">
            <a:noAutofit/>
          </a:bodyPr>
          <a:lstStyle/>
          <a:p>
            <a:pPr algn="ctr"/>
            <a:r>
              <a:rPr lang="en-US" sz="1000" b="1" strike="noStrike" spc="-1">
                <a:solidFill>
                  <a:srgbClr val="FFFFFF"/>
                </a:solidFill>
                <a:latin typeface="Calibri-Bold"/>
                <a:ea typeface="Calibri-Bold"/>
              </a:rPr>
              <a:t>App</a:t>
            </a:r>
            <a:endParaRPr lang="en-US" sz="1000" b="0" strike="noStrike" spc="-1">
              <a:solidFill>
                <a:srgbClr val="000000"/>
              </a:solidFill>
              <a:latin typeface="Arial"/>
            </a:endParaRPr>
          </a:p>
        </p:txBody>
      </p:sp>
      <p:sp>
        <p:nvSpPr>
          <p:cNvPr id="77" name="Freeform 76"/>
          <p:cNvSpPr/>
          <p:nvPr/>
        </p:nvSpPr>
        <p:spPr>
          <a:xfrm>
            <a:off x="365760" y="3337560"/>
            <a:ext cx="2012400" cy="1463760"/>
          </a:xfrm>
          <a:custGeom>
            <a:avLst/>
            <a:gdLst/>
            <a:ahLst/>
            <a:cxnLst/>
            <a:rect l="0" t="0" r="r" b="b"/>
            <a:pathLst>
              <a:path w="5590" h="4066">
                <a:moveTo>
                  <a:pt x="0" y="0"/>
                </a:moveTo>
                <a:lnTo>
                  <a:pt x="5590" y="0"/>
                </a:lnTo>
                <a:lnTo>
                  <a:pt x="5590" y="4066"/>
                </a:lnTo>
                <a:lnTo>
                  <a:pt x="0" y="4066"/>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78" name="Freeform 77"/>
          <p:cNvSpPr/>
          <p:nvPr/>
        </p:nvSpPr>
        <p:spPr>
          <a:xfrm>
            <a:off x="365760" y="3337560"/>
            <a:ext cx="64800" cy="1463760"/>
          </a:xfrm>
          <a:custGeom>
            <a:avLst/>
            <a:gdLst/>
            <a:ahLst/>
            <a:cxnLst/>
            <a:rect l="0" t="0" r="r" b="b"/>
            <a:pathLst>
              <a:path w="180" h="4066">
                <a:moveTo>
                  <a:pt x="0" y="0"/>
                </a:moveTo>
                <a:lnTo>
                  <a:pt x="180" y="0"/>
                </a:lnTo>
                <a:lnTo>
                  <a:pt x="180" y="4066"/>
                </a:lnTo>
                <a:lnTo>
                  <a:pt x="0" y="4066"/>
                </a:lnTo>
                <a:lnTo>
                  <a:pt x="0" y="0"/>
                </a:lnTo>
                <a:close/>
              </a:path>
            </a:pathLst>
          </a:custGeom>
          <a:solidFill>
            <a:srgbClr val="0691B2"/>
          </a:solidFill>
          <a:ln w="12600">
            <a:solidFill>
              <a:srgbClr val="0691B2"/>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79" name="TextBox 78"/>
          <p:cNvSpPr txBox="1"/>
          <p:nvPr/>
        </p:nvSpPr>
        <p:spPr>
          <a:xfrm>
            <a:off x="547920" y="3401640"/>
            <a:ext cx="1693080" cy="292680"/>
          </a:xfrm>
          <a:prstGeom prst="rect">
            <a:avLst/>
          </a:prstGeom>
          <a:noFill/>
          <a:ln w="0">
            <a:noFill/>
          </a:ln>
        </p:spPr>
        <p:txBody>
          <a:bodyPr lIns="90000" tIns="45000" rIns="90000" bIns="45000" anchor="t">
            <a:noAutofit/>
          </a:bodyPr>
          <a:lstStyle/>
          <a:p>
            <a:r>
              <a:rPr lang="en-US" sz="1000" b="1" strike="noStrike" spc="-1">
                <a:solidFill>
                  <a:srgbClr val="182C48"/>
                </a:solidFill>
                <a:latin typeface="Calibri-Bold"/>
                <a:ea typeface="Calibri-Bold"/>
              </a:rPr>
              <a:t>Phase 1 — Data</a:t>
            </a:r>
            <a:endParaRPr lang="en-US" sz="1000" b="0" strike="noStrike" spc="-1">
              <a:solidFill>
                <a:srgbClr val="000000"/>
              </a:solidFill>
              <a:latin typeface="Arial"/>
            </a:endParaRPr>
          </a:p>
        </p:txBody>
      </p:sp>
      <p:sp>
        <p:nvSpPr>
          <p:cNvPr id="80" name="TextBox 79"/>
          <p:cNvSpPr txBox="1"/>
          <p:nvPr/>
        </p:nvSpPr>
        <p:spPr>
          <a:xfrm>
            <a:off x="547920" y="3730680"/>
            <a:ext cx="1693080" cy="1005840"/>
          </a:xfrm>
          <a:prstGeom prst="rect">
            <a:avLst/>
          </a:prstGeom>
          <a:noFill/>
          <a:ln w="0">
            <a:noFill/>
          </a:ln>
        </p:spPr>
        <p:txBody>
          <a:bodyPr lIns="90000" tIns="45000" rIns="90000" bIns="45000" anchor="t">
            <a:noAutofit/>
          </a:bodyPr>
          <a:lstStyle/>
          <a:p>
            <a:r>
              <a:rPr lang="en-US" sz="900" b="0" strike="noStrike" spc="-1">
                <a:solidFill>
                  <a:srgbClr val="1C2739"/>
                </a:solidFill>
                <a:latin typeface="Calibri"/>
                <a:ea typeface="Calibri"/>
              </a:rPr>
              <a:t>Exploratory analysis of the Oxford-IIIT Pet dataset: 37 breeds, 7,400 images, balanced distribution.</a:t>
            </a:r>
            <a:endParaRPr lang="en-US" sz="900" b="0" strike="noStrike" spc="-1">
              <a:solidFill>
                <a:srgbClr val="000000"/>
              </a:solidFill>
              <a:latin typeface="Arial"/>
            </a:endParaRPr>
          </a:p>
        </p:txBody>
      </p:sp>
      <p:sp>
        <p:nvSpPr>
          <p:cNvPr id="81" name="Freeform 80"/>
          <p:cNvSpPr/>
          <p:nvPr/>
        </p:nvSpPr>
        <p:spPr>
          <a:xfrm>
            <a:off x="2541960" y="3337560"/>
            <a:ext cx="2012400" cy="1463760"/>
          </a:xfrm>
          <a:custGeom>
            <a:avLst/>
            <a:gdLst/>
            <a:ahLst/>
            <a:cxnLst/>
            <a:rect l="0" t="0" r="r" b="b"/>
            <a:pathLst>
              <a:path w="5590" h="4066">
                <a:moveTo>
                  <a:pt x="0" y="0"/>
                </a:moveTo>
                <a:lnTo>
                  <a:pt x="5590" y="0"/>
                </a:lnTo>
                <a:lnTo>
                  <a:pt x="5590" y="4066"/>
                </a:lnTo>
                <a:lnTo>
                  <a:pt x="0" y="4066"/>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82" name="Freeform 81"/>
          <p:cNvSpPr/>
          <p:nvPr/>
        </p:nvSpPr>
        <p:spPr>
          <a:xfrm>
            <a:off x="2541960" y="3337560"/>
            <a:ext cx="64800" cy="1463760"/>
          </a:xfrm>
          <a:custGeom>
            <a:avLst/>
            <a:gdLst/>
            <a:ahLst/>
            <a:cxnLst/>
            <a:rect l="0" t="0" r="r" b="b"/>
            <a:pathLst>
              <a:path w="180" h="4066">
                <a:moveTo>
                  <a:pt x="0" y="0"/>
                </a:moveTo>
                <a:lnTo>
                  <a:pt x="180" y="0"/>
                </a:lnTo>
                <a:lnTo>
                  <a:pt x="180" y="4066"/>
                </a:lnTo>
                <a:lnTo>
                  <a:pt x="0" y="4066"/>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83" name="TextBox 82"/>
          <p:cNvSpPr txBox="1"/>
          <p:nvPr/>
        </p:nvSpPr>
        <p:spPr>
          <a:xfrm>
            <a:off x="2724120" y="3401640"/>
            <a:ext cx="1693080" cy="292680"/>
          </a:xfrm>
          <a:prstGeom prst="rect">
            <a:avLst/>
          </a:prstGeom>
          <a:noFill/>
          <a:ln w="0">
            <a:noFill/>
          </a:ln>
        </p:spPr>
        <p:txBody>
          <a:bodyPr lIns="90000" tIns="45000" rIns="90000" bIns="45000" anchor="t">
            <a:noAutofit/>
          </a:bodyPr>
          <a:lstStyle/>
          <a:p>
            <a:r>
              <a:rPr lang="en-US" sz="1000" b="1" strike="noStrike" spc="-1">
                <a:solidFill>
                  <a:srgbClr val="182C48"/>
                </a:solidFill>
                <a:latin typeface="Calibri-Bold"/>
                <a:ea typeface="Calibri-Bold"/>
              </a:rPr>
              <a:t>Phase 2 — Baseline</a:t>
            </a:r>
            <a:endParaRPr lang="en-US" sz="1000" b="0" strike="noStrike" spc="-1">
              <a:solidFill>
                <a:srgbClr val="000000"/>
              </a:solidFill>
              <a:latin typeface="Arial"/>
            </a:endParaRPr>
          </a:p>
        </p:txBody>
      </p:sp>
      <p:sp>
        <p:nvSpPr>
          <p:cNvPr id="84" name="TextBox 83"/>
          <p:cNvSpPr txBox="1"/>
          <p:nvPr/>
        </p:nvSpPr>
        <p:spPr>
          <a:xfrm>
            <a:off x="2724120" y="3730680"/>
            <a:ext cx="1693080" cy="1005840"/>
          </a:xfrm>
          <a:prstGeom prst="rect">
            <a:avLst/>
          </a:prstGeom>
          <a:noFill/>
          <a:ln w="0">
            <a:noFill/>
          </a:ln>
        </p:spPr>
        <p:txBody>
          <a:bodyPr lIns="90000" tIns="45000" rIns="90000" bIns="45000" anchor="t">
            <a:noAutofit/>
          </a:bodyPr>
          <a:lstStyle/>
          <a:p>
            <a:r>
              <a:rPr lang="en-US" sz="900" b="0" strike="noStrike" spc="-1">
                <a:solidFill>
                  <a:srgbClr val="1C2739"/>
                </a:solidFill>
                <a:latin typeface="Calibri"/>
                <a:ea typeface="Calibri"/>
              </a:rPr>
              <a:t>CNN trained from scratch to establish a performance baseline before transfer learning.</a:t>
            </a:r>
            <a:endParaRPr lang="en-US" sz="900" b="0" strike="noStrike" spc="-1">
              <a:solidFill>
                <a:srgbClr val="000000"/>
              </a:solidFill>
              <a:latin typeface="Arial"/>
            </a:endParaRPr>
          </a:p>
        </p:txBody>
      </p:sp>
      <p:sp>
        <p:nvSpPr>
          <p:cNvPr id="85" name="Freeform 84"/>
          <p:cNvSpPr/>
          <p:nvPr/>
        </p:nvSpPr>
        <p:spPr>
          <a:xfrm>
            <a:off x="4718160" y="3337560"/>
            <a:ext cx="2012400" cy="1463760"/>
          </a:xfrm>
          <a:custGeom>
            <a:avLst/>
            <a:gdLst/>
            <a:ahLst/>
            <a:cxnLst/>
            <a:rect l="0" t="0" r="r" b="b"/>
            <a:pathLst>
              <a:path w="5590" h="4066">
                <a:moveTo>
                  <a:pt x="0" y="0"/>
                </a:moveTo>
                <a:lnTo>
                  <a:pt x="5590" y="0"/>
                </a:lnTo>
                <a:lnTo>
                  <a:pt x="5590" y="4066"/>
                </a:lnTo>
                <a:lnTo>
                  <a:pt x="0" y="4066"/>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86" name="Freeform 85"/>
          <p:cNvSpPr/>
          <p:nvPr/>
        </p:nvSpPr>
        <p:spPr>
          <a:xfrm>
            <a:off x="4718160" y="3337560"/>
            <a:ext cx="64800" cy="1463760"/>
          </a:xfrm>
          <a:custGeom>
            <a:avLst/>
            <a:gdLst/>
            <a:ahLst/>
            <a:cxnLst/>
            <a:rect l="0" t="0" r="r" b="b"/>
            <a:pathLst>
              <a:path w="180" h="4066">
                <a:moveTo>
                  <a:pt x="0" y="0"/>
                </a:moveTo>
                <a:lnTo>
                  <a:pt x="180" y="0"/>
                </a:lnTo>
                <a:lnTo>
                  <a:pt x="180" y="4066"/>
                </a:lnTo>
                <a:lnTo>
                  <a:pt x="0" y="4066"/>
                </a:lnTo>
                <a:lnTo>
                  <a:pt x="0" y="0"/>
                </a:lnTo>
                <a:close/>
              </a:path>
            </a:pathLst>
          </a:custGeom>
          <a:gradFill rotWithShape="0">
            <a:gsLst>
              <a:gs pos="0">
                <a:srgbClr val="80B75E"/>
              </a:gs>
              <a:gs pos="100000">
                <a:srgbClr val="60A234"/>
              </a:gs>
            </a:gsLst>
            <a:lin ang="5400000"/>
          </a:gradFill>
          <a:ln w="6480">
            <a:solidFill>
              <a:srgbClr val="4270C4"/>
            </a:solidFill>
            <a:miter/>
          </a:ln>
        </p:spPr>
        <p:txBody>
          <a:bodyPr lIns="93240" tIns="48240" rIns="93240" bIns="48240" anchor="t">
            <a:noAutofit/>
          </a:bodyPr>
          <a:lstStyle/>
          <a:p>
            <a:endParaRPr lang="en-US" sz="1800" b="0" strike="noStrike" spc="-1">
              <a:solidFill>
                <a:srgbClr val="000000"/>
              </a:solidFill>
              <a:latin typeface="Arial"/>
            </a:endParaRPr>
          </a:p>
        </p:txBody>
      </p:sp>
      <p:sp>
        <p:nvSpPr>
          <p:cNvPr id="87" name="TextBox 86"/>
          <p:cNvSpPr txBox="1"/>
          <p:nvPr/>
        </p:nvSpPr>
        <p:spPr>
          <a:xfrm>
            <a:off x="4900320" y="3401640"/>
            <a:ext cx="1693080" cy="386280"/>
          </a:xfrm>
          <a:prstGeom prst="rect">
            <a:avLst/>
          </a:prstGeom>
          <a:noFill/>
          <a:ln w="0">
            <a:noFill/>
          </a:ln>
        </p:spPr>
        <p:txBody>
          <a:bodyPr lIns="90000" tIns="45000" rIns="90000" bIns="45000" anchor="t">
            <a:noAutofit/>
          </a:bodyPr>
          <a:lstStyle/>
          <a:p>
            <a:r>
              <a:rPr lang="en-US" sz="1000" b="1" strike="noStrike" spc="-1">
                <a:solidFill>
                  <a:srgbClr val="62728B"/>
                </a:solidFill>
                <a:latin typeface="Calibri-Bold"/>
                <a:ea typeface="Calibri-Bold"/>
              </a:rPr>
              <a:t>Phases 3-5 — Transfer Learning</a:t>
            </a:r>
            <a:endParaRPr lang="en-US" sz="1000" b="0" strike="noStrike" spc="-1">
              <a:solidFill>
                <a:srgbClr val="000000"/>
              </a:solidFill>
              <a:latin typeface="Arial"/>
            </a:endParaRPr>
          </a:p>
        </p:txBody>
      </p:sp>
      <p:sp>
        <p:nvSpPr>
          <p:cNvPr id="88" name="TextBox 87"/>
          <p:cNvSpPr txBox="1"/>
          <p:nvPr/>
        </p:nvSpPr>
        <p:spPr>
          <a:xfrm>
            <a:off x="4900320" y="3730680"/>
            <a:ext cx="1693080" cy="1005840"/>
          </a:xfrm>
          <a:prstGeom prst="rect">
            <a:avLst/>
          </a:prstGeom>
          <a:noFill/>
          <a:ln w="0">
            <a:noFill/>
          </a:ln>
        </p:spPr>
        <p:txBody>
          <a:bodyPr lIns="90000" tIns="45000" rIns="90000" bIns="45000" anchor="t">
            <a:noAutofit/>
          </a:bodyPr>
          <a:lstStyle/>
          <a:p>
            <a:r>
              <a:rPr lang="en-US" sz="900" b="0" strike="noStrike" spc="-1">
                <a:solidFill>
                  <a:srgbClr val="62728B"/>
                </a:solidFill>
                <a:latin typeface="Calibri"/>
                <a:ea typeface="Calibri"/>
              </a:rPr>
              <a:t>Progressive application of pre-trained models: ResNet18, ConvNeXt-Tiny, and Vision Transformer.</a:t>
            </a:r>
            <a:endParaRPr lang="en-US" sz="900" b="0" strike="noStrike" spc="-1">
              <a:solidFill>
                <a:srgbClr val="000000"/>
              </a:solidFill>
              <a:latin typeface="Arial"/>
            </a:endParaRPr>
          </a:p>
        </p:txBody>
      </p:sp>
      <p:sp>
        <p:nvSpPr>
          <p:cNvPr id="89" name="Freeform 88"/>
          <p:cNvSpPr/>
          <p:nvPr/>
        </p:nvSpPr>
        <p:spPr>
          <a:xfrm>
            <a:off x="6894720" y="3337560"/>
            <a:ext cx="2012400" cy="1463760"/>
          </a:xfrm>
          <a:custGeom>
            <a:avLst/>
            <a:gdLst/>
            <a:ahLst/>
            <a:cxnLst/>
            <a:rect l="0" t="0" r="r" b="b"/>
            <a:pathLst>
              <a:path w="5590" h="4066">
                <a:moveTo>
                  <a:pt x="0" y="0"/>
                </a:moveTo>
                <a:lnTo>
                  <a:pt x="5590" y="0"/>
                </a:lnTo>
                <a:lnTo>
                  <a:pt x="5590" y="4066"/>
                </a:lnTo>
                <a:lnTo>
                  <a:pt x="0" y="4066"/>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90" name="Freeform 89"/>
          <p:cNvSpPr/>
          <p:nvPr/>
        </p:nvSpPr>
        <p:spPr>
          <a:xfrm>
            <a:off x="6894720" y="3337560"/>
            <a:ext cx="64800" cy="1463760"/>
          </a:xfrm>
          <a:custGeom>
            <a:avLst/>
            <a:gdLst/>
            <a:ahLst/>
            <a:cxnLst/>
            <a:rect l="0" t="0" r="r" b="b"/>
            <a:pathLst>
              <a:path w="180" h="4066">
                <a:moveTo>
                  <a:pt x="0" y="0"/>
                </a:moveTo>
                <a:lnTo>
                  <a:pt x="180" y="0"/>
                </a:lnTo>
                <a:lnTo>
                  <a:pt x="180" y="4066"/>
                </a:lnTo>
                <a:lnTo>
                  <a:pt x="0" y="4066"/>
                </a:lnTo>
                <a:lnTo>
                  <a:pt x="0" y="0"/>
                </a:lnTo>
                <a:close/>
              </a:path>
            </a:pathLst>
          </a:custGeom>
          <a:solidFill>
            <a:srgbClr val="ED7B2F"/>
          </a:solidFill>
          <a:ln w="12600">
            <a:solidFill>
              <a:srgbClr val="AD5A22"/>
            </a:solidFill>
            <a:miter/>
          </a:ln>
        </p:spPr>
        <p:txBody>
          <a:bodyPr lIns="96120" tIns="51120" rIns="96120" bIns="51120" anchor="t">
            <a:noAutofit/>
          </a:bodyPr>
          <a:lstStyle/>
          <a:p>
            <a:endParaRPr lang="en-US" sz="1800" b="0" strike="noStrike" spc="-1">
              <a:solidFill>
                <a:srgbClr val="FFFFFF"/>
              </a:solidFill>
              <a:latin typeface="Arial"/>
            </a:endParaRPr>
          </a:p>
        </p:txBody>
      </p:sp>
      <p:sp>
        <p:nvSpPr>
          <p:cNvPr id="91" name="TextBox 90"/>
          <p:cNvSpPr txBox="1"/>
          <p:nvPr/>
        </p:nvSpPr>
        <p:spPr>
          <a:xfrm>
            <a:off x="7076880" y="3401640"/>
            <a:ext cx="1693080" cy="386280"/>
          </a:xfrm>
          <a:prstGeom prst="rect">
            <a:avLst/>
          </a:prstGeom>
          <a:noFill/>
          <a:ln w="0">
            <a:noFill/>
          </a:ln>
        </p:spPr>
        <p:txBody>
          <a:bodyPr lIns="90000" tIns="45000" rIns="90000" bIns="45000" anchor="t">
            <a:noAutofit/>
          </a:bodyPr>
          <a:lstStyle/>
          <a:p>
            <a:r>
              <a:rPr lang="en-US" sz="1000" b="1" strike="noStrike" spc="-1">
                <a:solidFill>
                  <a:srgbClr val="62728B"/>
                </a:solidFill>
                <a:latin typeface="Calibri-Bold"/>
                <a:ea typeface="Calibri-Bold"/>
              </a:rPr>
              <a:t>Phases 6-8 — Analysis &amp; App</a:t>
            </a:r>
            <a:endParaRPr lang="en-US" sz="1000" b="0" strike="noStrike" spc="-1">
              <a:solidFill>
                <a:srgbClr val="000000"/>
              </a:solidFill>
              <a:latin typeface="Arial"/>
            </a:endParaRPr>
          </a:p>
        </p:txBody>
      </p:sp>
      <p:sp>
        <p:nvSpPr>
          <p:cNvPr id="92" name="TextBox 91"/>
          <p:cNvSpPr txBox="1"/>
          <p:nvPr/>
        </p:nvSpPr>
        <p:spPr>
          <a:xfrm>
            <a:off x="7076880" y="3730680"/>
            <a:ext cx="1693080" cy="1005840"/>
          </a:xfrm>
          <a:prstGeom prst="rect">
            <a:avLst/>
          </a:prstGeom>
          <a:noFill/>
          <a:ln w="0">
            <a:noFill/>
          </a:ln>
        </p:spPr>
        <p:txBody>
          <a:bodyPr lIns="90000" tIns="45000" rIns="90000" bIns="45000" anchor="t">
            <a:noAutofit/>
          </a:bodyPr>
          <a:lstStyle/>
          <a:p>
            <a:r>
              <a:rPr lang="en-US" sz="900" b="0" strike="noStrike" spc="-1">
                <a:solidFill>
                  <a:srgbClr val="62728B"/>
                </a:solidFill>
                <a:latin typeface="Calibri"/>
                <a:ea typeface="Calibri"/>
              </a:rPr>
              <a:t>Comparison of all models, conclusions, and deployment of a classification application.</a:t>
            </a:r>
            <a:endParaRPr lang="en-US" sz="900" b="0" strike="noStrike" spc="-1">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93" name="Freeform 92"/>
          <p:cNvSpPr/>
          <p:nvPr/>
        </p:nvSpPr>
        <p:spPr>
          <a:xfrm>
            <a:off x="0" y="0"/>
            <a:ext cx="9144720" cy="55440"/>
          </a:xfrm>
          <a:custGeom>
            <a:avLst/>
            <a:gdLst/>
            <a:ahLst/>
            <a:cxnLst/>
            <a:rect l="0" t="0" r="r" b="b"/>
            <a:pathLst>
              <a:path w="25402" h="154">
                <a:moveTo>
                  <a:pt x="0" y="0"/>
                </a:moveTo>
                <a:lnTo>
                  <a:pt x="25402" y="0"/>
                </a:lnTo>
                <a:lnTo>
                  <a:pt x="25402" y="154"/>
                </a:lnTo>
                <a:lnTo>
                  <a:pt x="0" y="154"/>
                </a:lnTo>
                <a:lnTo>
                  <a:pt x="0" y="0"/>
                </a:lnTo>
                <a:close/>
              </a:path>
            </a:pathLst>
          </a:custGeom>
          <a:solidFill>
            <a:srgbClr val="2361EB"/>
          </a:solidFill>
          <a:ln w="12600">
            <a:solidFill>
              <a:srgbClr val="2361EB"/>
            </a:solidFill>
            <a:round/>
          </a:ln>
        </p:spPr>
        <p:txBody>
          <a:bodyPr lIns="96120" tIns="4320" rIns="96120" bIns="4320" anchor="t">
            <a:noAutofit/>
          </a:bodyPr>
          <a:lstStyle/>
          <a:p>
            <a:endParaRPr lang="en-US" sz="1800" b="0" strike="noStrike" spc="-1">
              <a:solidFill>
                <a:srgbClr val="FFFFFF"/>
              </a:solidFill>
              <a:latin typeface="Arial"/>
            </a:endParaRPr>
          </a:p>
        </p:txBody>
      </p:sp>
      <p:sp>
        <p:nvSpPr>
          <p:cNvPr id="94" name="TextBox 93"/>
          <p:cNvSpPr txBox="1"/>
          <p:nvPr/>
        </p:nvSpPr>
        <p:spPr>
          <a:xfrm>
            <a:off x="502200" y="164520"/>
            <a:ext cx="8139600" cy="502920"/>
          </a:xfrm>
          <a:prstGeom prst="rect">
            <a:avLst/>
          </a:prstGeom>
          <a:noFill/>
          <a:ln w="0">
            <a:noFill/>
          </a:ln>
        </p:spPr>
        <p:txBody>
          <a:bodyPr lIns="90000" tIns="45000" rIns="90000" bIns="45000" anchor="t">
            <a:noAutofit/>
          </a:bodyPr>
          <a:lstStyle/>
          <a:p>
            <a:r>
              <a:rPr lang="en-US" sz="2600" b="1" strike="noStrike" spc="-1">
                <a:solidFill>
                  <a:srgbClr val="182C48"/>
                </a:solidFill>
                <a:latin typeface="Calibri-Bold"/>
                <a:ea typeface="Calibri-Bold"/>
              </a:rPr>
              <a:t>Dataset + EDA</a:t>
            </a:r>
            <a:endParaRPr lang="en-US" sz="2600" b="0" strike="noStrike" spc="-1">
              <a:solidFill>
                <a:srgbClr val="000000"/>
              </a:solidFill>
              <a:latin typeface="Arial"/>
            </a:endParaRPr>
          </a:p>
        </p:txBody>
      </p:sp>
      <p:sp>
        <p:nvSpPr>
          <p:cNvPr id="95" name="TextBox 94"/>
          <p:cNvSpPr txBox="1"/>
          <p:nvPr/>
        </p:nvSpPr>
        <p:spPr>
          <a:xfrm>
            <a:off x="502200" y="658440"/>
            <a:ext cx="8139600" cy="292680"/>
          </a:xfrm>
          <a:prstGeom prst="rect">
            <a:avLst/>
          </a:prstGeom>
          <a:noFill/>
          <a:ln w="0">
            <a:noFill/>
          </a:ln>
        </p:spPr>
        <p:txBody>
          <a:bodyPr lIns="90000" tIns="45000" rIns="90000" bIns="45000" anchor="t">
            <a:noAutofit/>
          </a:bodyPr>
          <a:lstStyle/>
          <a:p>
            <a:r>
              <a:rPr lang="en-US" sz="1200" b="0" i="1" strike="noStrike" spc="-1">
                <a:solidFill>
                  <a:srgbClr val="62728B"/>
                </a:solidFill>
                <a:latin typeface="Calibri-Italic"/>
                <a:ea typeface="Calibri-Italic"/>
              </a:rPr>
              <a:t>Oxford-IIIT Pet Dataset — Fine-Grained Classification</a:t>
            </a:r>
            <a:endParaRPr lang="en-US" sz="1200" b="0" strike="noStrike" spc="-1">
              <a:solidFill>
                <a:srgbClr val="000000"/>
              </a:solidFill>
              <a:latin typeface="Arial"/>
            </a:endParaRPr>
          </a:p>
        </p:txBody>
      </p:sp>
      <p:sp>
        <p:nvSpPr>
          <p:cNvPr id="96" name="Straight Connector 95"/>
          <p:cNvSpPr/>
          <p:nvPr/>
        </p:nvSpPr>
        <p:spPr>
          <a:xfrm>
            <a:off x="457200" y="960120"/>
            <a:ext cx="8229600" cy="0"/>
          </a:xfrm>
          <a:prstGeom prst="line">
            <a:avLst/>
          </a:prstGeom>
          <a:ln w="12600">
            <a:solidFill>
              <a:srgbClr val="E2E8F0"/>
            </a:solidFill>
            <a:round/>
          </a:ln>
        </p:spPr>
        <p:style>
          <a:lnRef idx="0">
            <a:scrgbClr r="0" g="0" b="0"/>
          </a:lnRef>
          <a:fillRef idx="0">
            <a:scrgbClr r="0" g="0" b="0"/>
          </a:fillRef>
          <a:effectRef idx="0">
            <a:scrgbClr r="0" g="0" b="0"/>
          </a:effectRef>
          <a:fontRef idx="minor"/>
        </p:style>
        <p:txBody>
          <a:bodyPr lIns="96120" tIns="-51120" rIns="96120" bIns="-51120" anchor="t">
            <a:noAutofit/>
          </a:bodyPr>
          <a:lstStyle/>
          <a:p>
            <a:endParaRPr lang="en-US" sz="1800" b="0" strike="noStrike" spc="-1">
              <a:solidFill>
                <a:srgbClr val="000000"/>
              </a:solidFill>
              <a:latin typeface="Arial"/>
            </a:endParaRPr>
          </a:p>
        </p:txBody>
      </p:sp>
      <p:sp>
        <p:nvSpPr>
          <p:cNvPr id="97" name="Freeform 96"/>
          <p:cNvSpPr/>
          <p:nvPr/>
        </p:nvSpPr>
        <p:spPr>
          <a:xfrm>
            <a:off x="365760" y="1097280"/>
            <a:ext cx="1966680" cy="915120"/>
          </a:xfrm>
          <a:custGeom>
            <a:avLst/>
            <a:gdLst/>
            <a:ahLst/>
            <a:cxnLst/>
            <a:rect l="0" t="0" r="r" b="b"/>
            <a:pathLst>
              <a:path w="5463" h="2542">
                <a:moveTo>
                  <a:pt x="0" y="0"/>
                </a:moveTo>
                <a:lnTo>
                  <a:pt x="5463" y="0"/>
                </a:lnTo>
                <a:lnTo>
                  <a:pt x="5463" y="2542"/>
                </a:lnTo>
                <a:lnTo>
                  <a:pt x="0" y="2542"/>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98" name="Freeform 97"/>
          <p:cNvSpPr/>
          <p:nvPr/>
        </p:nvSpPr>
        <p:spPr>
          <a:xfrm>
            <a:off x="365760" y="1097280"/>
            <a:ext cx="64800" cy="915120"/>
          </a:xfrm>
          <a:custGeom>
            <a:avLst/>
            <a:gdLst/>
            <a:ahLst/>
            <a:cxnLst/>
            <a:rect l="0" t="0" r="r" b="b"/>
            <a:pathLst>
              <a:path w="180" h="2542">
                <a:moveTo>
                  <a:pt x="0" y="0"/>
                </a:moveTo>
                <a:lnTo>
                  <a:pt x="180" y="0"/>
                </a:lnTo>
                <a:lnTo>
                  <a:pt x="180" y="2542"/>
                </a:lnTo>
                <a:lnTo>
                  <a:pt x="0" y="2542"/>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99" name="TextBox 98"/>
          <p:cNvSpPr txBox="1"/>
          <p:nvPr/>
        </p:nvSpPr>
        <p:spPr>
          <a:xfrm>
            <a:off x="538920" y="1188720"/>
            <a:ext cx="1693080" cy="511920"/>
          </a:xfrm>
          <a:prstGeom prst="rect">
            <a:avLst/>
          </a:prstGeom>
          <a:noFill/>
          <a:ln w="0">
            <a:noFill/>
          </a:ln>
        </p:spPr>
        <p:txBody>
          <a:bodyPr lIns="90000" tIns="45000" rIns="90000" bIns="45000" anchor="t">
            <a:noAutofit/>
          </a:bodyPr>
          <a:lstStyle/>
          <a:p>
            <a:r>
              <a:rPr lang="en-US" sz="2400" b="1" strike="noStrike" spc="-1">
                <a:solidFill>
                  <a:srgbClr val="2361EB"/>
                </a:solidFill>
                <a:latin typeface="Calibri-Bold"/>
                <a:ea typeface="Calibri-Bold"/>
              </a:rPr>
              <a:t>7,400</a:t>
            </a:r>
            <a:endParaRPr lang="en-US" sz="2400" b="0" strike="noStrike" spc="-1">
              <a:solidFill>
                <a:srgbClr val="000000"/>
              </a:solidFill>
              <a:latin typeface="Arial"/>
            </a:endParaRPr>
          </a:p>
        </p:txBody>
      </p:sp>
      <p:sp>
        <p:nvSpPr>
          <p:cNvPr id="100" name="TextBox 99"/>
          <p:cNvSpPr txBox="1"/>
          <p:nvPr/>
        </p:nvSpPr>
        <p:spPr>
          <a:xfrm>
            <a:off x="538920" y="1682640"/>
            <a:ext cx="1693080" cy="301680"/>
          </a:xfrm>
          <a:prstGeom prst="rect">
            <a:avLst/>
          </a:prstGeom>
          <a:noFill/>
          <a:ln w="0">
            <a:noFill/>
          </a:ln>
        </p:spPr>
        <p:txBody>
          <a:bodyPr lIns="90000" tIns="45000" rIns="90000" bIns="45000" anchor="t">
            <a:noAutofit/>
          </a:bodyPr>
          <a:lstStyle/>
          <a:p>
            <a:r>
              <a:rPr lang="en-US" sz="1000" b="0" strike="noStrike" spc="-1">
                <a:solidFill>
                  <a:srgbClr val="62728B"/>
                </a:solidFill>
                <a:latin typeface="Calibri"/>
                <a:ea typeface="Calibri"/>
              </a:rPr>
              <a:t>Total Images</a:t>
            </a:r>
            <a:endParaRPr lang="en-US" sz="1000" b="0" strike="noStrike" spc="-1">
              <a:solidFill>
                <a:srgbClr val="000000"/>
              </a:solidFill>
              <a:latin typeface="Arial"/>
            </a:endParaRPr>
          </a:p>
        </p:txBody>
      </p:sp>
      <p:sp>
        <p:nvSpPr>
          <p:cNvPr id="101" name="Freeform 100"/>
          <p:cNvSpPr/>
          <p:nvPr/>
        </p:nvSpPr>
        <p:spPr>
          <a:xfrm>
            <a:off x="2514600" y="1097280"/>
            <a:ext cx="1966680" cy="915120"/>
          </a:xfrm>
          <a:custGeom>
            <a:avLst/>
            <a:gdLst/>
            <a:ahLst/>
            <a:cxnLst/>
            <a:rect l="0" t="0" r="r" b="b"/>
            <a:pathLst>
              <a:path w="5463" h="2542">
                <a:moveTo>
                  <a:pt x="0" y="0"/>
                </a:moveTo>
                <a:lnTo>
                  <a:pt x="5463" y="0"/>
                </a:lnTo>
                <a:lnTo>
                  <a:pt x="5463" y="2542"/>
                </a:lnTo>
                <a:lnTo>
                  <a:pt x="0" y="2542"/>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102" name="Freeform 101"/>
          <p:cNvSpPr/>
          <p:nvPr/>
        </p:nvSpPr>
        <p:spPr>
          <a:xfrm>
            <a:off x="2514600" y="1097280"/>
            <a:ext cx="64800" cy="915120"/>
          </a:xfrm>
          <a:custGeom>
            <a:avLst/>
            <a:gdLst/>
            <a:ahLst/>
            <a:cxnLst/>
            <a:rect l="0" t="0" r="r" b="b"/>
            <a:pathLst>
              <a:path w="180" h="2542">
                <a:moveTo>
                  <a:pt x="0" y="0"/>
                </a:moveTo>
                <a:lnTo>
                  <a:pt x="180" y="0"/>
                </a:lnTo>
                <a:lnTo>
                  <a:pt x="180" y="2542"/>
                </a:lnTo>
                <a:lnTo>
                  <a:pt x="0" y="2542"/>
                </a:lnTo>
                <a:lnTo>
                  <a:pt x="0" y="0"/>
                </a:lnTo>
                <a:close/>
              </a:path>
            </a:pathLst>
          </a:custGeom>
          <a:solidFill>
            <a:srgbClr val="0691B2"/>
          </a:solidFill>
          <a:ln w="12600">
            <a:solidFill>
              <a:srgbClr val="0691B2"/>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103" name="TextBox 102"/>
          <p:cNvSpPr txBox="1"/>
          <p:nvPr/>
        </p:nvSpPr>
        <p:spPr>
          <a:xfrm>
            <a:off x="2687760" y="1188720"/>
            <a:ext cx="1693080" cy="511920"/>
          </a:xfrm>
          <a:prstGeom prst="rect">
            <a:avLst/>
          </a:prstGeom>
          <a:noFill/>
          <a:ln w="0">
            <a:noFill/>
          </a:ln>
        </p:spPr>
        <p:txBody>
          <a:bodyPr lIns="90000" tIns="45000" rIns="90000" bIns="45000" anchor="t">
            <a:noAutofit/>
          </a:bodyPr>
          <a:lstStyle/>
          <a:p>
            <a:r>
              <a:rPr lang="en-US" sz="2400" b="1" strike="noStrike" spc="-1">
                <a:solidFill>
                  <a:srgbClr val="0691B2"/>
                </a:solidFill>
                <a:latin typeface="Calibri-Bold"/>
                <a:ea typeface="Calibri-Bold"/>
              </a:rPr>
              <a:t>37</a:t>
            </a:r>
            <a:endParaRPr lang="en-US" sz="2400" b="0" strike="noStrike" spc="-1">
              <a:solidFill>
                <a:srgbClr val="000000"/>
              </a:solidFill>
              <a:latin typeface="Arial"/>
            </a:endParaRPr>
          </a:p>
        </p:txBody>
      </p:sp>
      <p:sp>
        <p:nvSpPr>
          <p:cNvPr id="104" name="TextBox 103"/>
          <p:cNvSpPr txBox="1"/>
          <p:nvPr/>
        </p:nvSpPr>
        <p:spPr>
          <a:xfrm>
            <a:off x="2687760" y="1682640"/>
            <a:ext cx="1693080" cy="301680"/>
          </a:xfrm>
          <a:prstGeom prst="rect">
            <a:avLst/>
          </a:prstGeom>
          <a:noFill/>
          <a:ln w="0">
            <a:noFill/>
          </a:ln>
        </p:spPr>
        <p:txBody>
          <a:bodyPr lIns="90000" tIns="45000" rIns="90000" bIns="45000" anchor="t">
            <a:noAutofit/>
          </a:bodyPr>
          <a:lstStyle/>
          <a:p>
            <a:r>
              <a:rPr lang="en-US" sz="1000" b="0" strike="noStrike" spc="-1">
                <a:solidFill>
                  <a:srgbClr val="62728B"/>
                </a:solidFill>
                <a:latin typeface="Calibri"/>
                <a:ea typeface="Calibri"/>
              </a:rPr>
              <a:t>Breeds (25🐕 + 12🐈)</a:t>
            </a:r>
            <a:endParaRPr lang="en-US" sz="1000" b="0" strike="noStrike" spc="-1">
              <a:solidFill>
                <a:srgbClr val="000000"/>
              </a:solidFill>
              <a:latin typeface="Arial"/>
            </a:endParaRPr>
          </a:p>
        </p:txBody>
      </p:sp>
      <p:sp>
        <p:nvSpPr>
          <p:cNvPr id="105" name="Freeform 104"/>
          <p:cNvSpPr/>
          <p:nvPr/>
        </p:nvSpPr>
        <p:spPr>
          <a:xfrm>
            <a:off x="4663440" y="1097280"/>
            <a:ext cx="1966680" cy="915120"/>
          </a:xfrm>
          <a:custGeom>
            <a:avLst/>
            <a:gdLst/>
            <a:ahLst/>
            <a:cxnLst/>
            <a:rect l="0" t="0" r="r" b="b"/>
            <a:pathLst>
              <a:path w="5463" h="2542">
                <a:moveTo>
                  <a:pt x="0" y="0"/>
                </a:moveTo>
                <a:lnTo>
                  <a:pt x="5463" y="0"/>
                </a:lnTo>
                <a:lnTo>
                  <a:pt x="5463" y="2542"/>
                </a:lnTo>
                <a:lnTo>
                  <a:pt x="0" y="2542"/>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106" name="Freeform 105"/>
          <p:cNvSpPr/>
          <p:nvPr/>
        </p:nvSpPr>
        <p:spPr>
          <a:xfrm>
            <a:off x="4663440" y="1097280"/>
            <a:ext cx="64800" cy="915120"/>
          </a:xfrm>
          <a:custGeom>
            <a:avLst/>
            <a:gdLst/>
            <a:ahLst/>
            <a:cxnLst/>
            <a:rect l="0" t="0" r="r" b="b"/>
            <a:pathLst>
              <a:path w="180" h="2542">
                <a:moveTo>
                  <a:pt x="0" y="0"/>
                </a:moveTo>
                <a:lnTo>
                  <a:pt x="180" y="0"/>
                </a:lnTo>
                <a:lnTo>
                  <a:pt x="180" y="2542"/>
                </a:lnTo>
                <a:lnTo>
                  <a:pt x="0" y="2542"/>
                </a:lnTo>
                <a:lnTo>
                  <a:pt x="0" y="0"/>
                </a:lnTo>
                <a:close/>
              </a:path>
            </a:pathLst>
          </a:custGeom>
          <a:solidFill>
            <a:srgbClr val="039667"/>
          </a:solidFill>
          <a:ln w="12600">
            <a:solidFill>
              <a:srgbClr val="039667"/>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107" name="TextBox 106"/>
          <p:cNvSpPr txBox="1"/>
          <p:nvPr/>
        </p:nvSpPr>
        <p:spPr>
          <a:xfrm>
            <a:off x="4836600" y="1188720"/>
            <a:ext cx="1693080" cy="511920"/>
          </a:xfrm>
          <a:prstGeom prst="rect">
            <a:avLst/>
          </a:prstGeom>
          <a:noFill/>
          <a:ln w="0">
            <a:noFill/>
          </a:ln>
        </p:spPr>
        <p:txBody>
          <a:bodyPr lIns="90000" tIns="45000" rIns="90000" bIns="45000" anchor="t">
            <a:noAutofit/>
          </a:bodyPr>
          <a:lstStyle/>
          <a:p>
            <a:r>
              <a:rPr lang="en-US" sz="2400" b="1" strike="noStrike" spc="-1">
                <a:solidFill>
                  <a:srgbClr val="039667"/>
                </a:solidFill>
                <a:latin typeface="Calibri-Bold"/>
                <a:ea typeface="Calibri-Bold"/>
              </a:rPr>
              <a:t>~200</a:t>
            </a:r>
            <a:endParaRPr lang="en-US" sz="2400" b="0" strike="noStrike" spc="-1">
              <a:solidFill>
                <a:srgbClr val="000000"/>
              </a:solidFill>
              <a:latin typeface="Arial"/>
            </a:endParaRPr>
          </a:p>
        </p:txBody>
      </p:sp>
      <p:sp>
        <p:nvSpPr>
          <p:cNvPr id="108" name="TextBox 107"/>
          <p:cNvSpPr txBox="1"/>
          <p:nvPr/>
        </p:nvSpPr>
        <p:spPr>
          <a:xfrm>
            <a:off x="4836600" y="1682640"/>
            <a:ext cx="1693080" cy="301680"/>
          </a:xfrm>
          <a:prstGeom prst="rect">
            <a:avLst/>
          </a:prstGeom>
          <a:noFill/>
          <a:ln w="0">
            <a:noFill/>
          </a:ln>
        </p:spPr>
        <p:txBody>
          <a:bodyPr lIns="90000" tIns="45000" rIns="90000" bIns="45000" anchor="t">
            <a:noAutofit/>
          </a:bodyPr>
          <a:lstStyle/>
          <a:p>
            <a:r>
              <a:rPr lang="en-US" sz="1000" b="0" strike="noStrike" spc="-1">
                <a:solidFill>
                  <a:srgbClr val="62728B"/>
                </a:solidFill>
                <a:latin typeface="Calibri"/>
                <a:ea typeface="Calibri"/>
              </a:rPr>
              <a:t>Images per Class</a:t>
            </a:r>
            <a:endParaRPr lang="en-US" sz="1000" b="0" strike="noStrike" spc="-1">
              <a:solidFill>
                <a:srgbClr val="000000"/>
              </a:solidFill>
              <a:latin typeface="Arial"/>
            </a:endParaRPr>
          </a:p>
        </p:txBody>
      </p:sp>
      <p:sp>
        <p:nvSpPr>
          <p:cNvPr id="109" name="Freeform 108"/>
          <p:cNvSpPr/>
          <p:nvPr/>
        </p:nvSpPr>
        <p:spPr>
          <a:xfrm>
            <a:off x="6812280" y="1097280"/>
            <a:ext cx="1966680" cy="915120"/>
          </a:xfrm>
          <a:custGeom>
            <a:avLst/>
            <a:gdLst/>
            <a:ahLst/>
            <a:cxnLst/>
            <a:rect l="0" t="0" r="r" b="b"/>
            <a:pathLst>
              <a:path w="5463" h="2542">
                <a:moveTo>
                  <a:pt x="0" y="0"/>
                </a:moveTo>
                <a:lnTo>
                  <a:pt x="5463" y="0"/>
                </a:lnTo>
                <a:lnTo>
                  <a:pt x="5463" y="2542"/>
                </a:lnTo>
                <a:lnTo>
                  <a:pt x="0" y="2542"/>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110" name="Freeform 109"/>
          <p:cNvSpPr/>
          <p:nvPr/>
        </p:nvSpPr>
        <p:spPr>
          <a:xfrm>
            <a:off x="6812280" y="1097280"/>
            <a:ext cx="64800" cy="915120"/>
          </a:xfrm>
          <a:custGeom>
            <a:avLst/>
            <a:gdLst/>
            <a:ahLst/>
            <a:cxnLst/>
            <a:rect l="0" t="0" r="r" b="b"/>
            <a:pathLst>
              <a:path w="180" h="2542">
                <a:moveTo>
                  <a:pt x="0" y="0"/>
                </a:moveTo>
                <a:lnTo>
                  <a:pt x="180" y="0"/>
                </a:lnTo>
                <a:lnTo>
                  <a:pt x="180" y="2542"/>
                </a:lnTo>
                <a:lnTo>
                  <a:pt x="0" y="2542"/>
                </a:lnTo>
                <a:lnTo>
                  <a:pt x="0" y="0"/>
                </a:lnTo>
                <a:close/>
              </a:path>
            </a:pathLst>
          </a:custGeom>
          <a:solidFill>
            <a:srgbClr val="7A38ED"/>
          </a:solidFill>
          <a:ln w="12600">
            <a:solidFill>
              <a:srgbClr val="7A38ED"/>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111" name="TextBox 110"/>
          <p:cNvSpPr txBox="1"/>
          <p:nvPr/>
        </p:nvSpPr>
        <p:spPr>
          <a:xfrm>
            <a:off x="6985440" y="1188720"/>
            <a:ext cx="1693080" cy="800280"/>
          </a:xfrm>
          <a:prstGeom prst="rect">
            <a:avLst/>
          </a:prstGeom>
          <a:noFill/>
          <a:ln w="0">
            <a:noFill/>
          </a:ln>
        </p:spPr>
        <p:txBody>
          <a:bodyPr lIns="90000" tIns="45000" rIns="90000" bIns="45000" anchor="t">
            <a:noAutofit/>
          </a:bodyPr>
          <a:lstStyle/>
          <a:p>
            <a:r>
              <a:rPr lang="en-US" sz="2400" b="1" strike="noStrike" spc="-1">
                <a:solidFill>
                  <a:srgbClr val="7A38ED"/>
                </a:solidFill>
                <a:latin typeface="Calibri-Bold"/>
                <a:ea typeface="Calibri-Bold"/>
              </a:rPr>
              <a:t>Balanced</a:t>
            </a:r>
            <a:endParaRPr lang="en-US" sz="2400" b="0" strike="noStrike" spc="-1">
              <a:solidFill>
                <a:srgbClr val="000000"/>
              </a:solidFill>
              <a:latin typeface="Arial"/>
            </a:endParaRPr>
          </a:p>
        </p:txBody>
      </p:sp>
      <p:sp>
        <p:nvSpPr>
          <p:cNvPr id="112" name="TextBox 111"/>
          <p:cNvSpPr txBox="1"/>
          <p:nvPr/>
        </p:nvSpPr>
        <p:spPr>
          <a:xfrm>
            <a:off x="6985440" y="1682640"/>
            <a:ext cx="1693080" cy="301680"/>
          </a:xfrm>
          <a:prstGeom prst="rect">
            <a:avLst/>
          </a:prstGeom>
          <a:noFill/>
          <a:ln w="0">
            <a:noFill/>
          </a:ln>
        </p:spPr>
        <p:txBody>
          <a:bodyPr lIns="90000" tIns="45000" rIns="90000" bIns="45000" anchor="t">
            <a:noAutofit/>
          </a:bodyPr>
          <a:lstStyle/>
          <a:p>
            <a:r>
              <a:rPr lang="en-US" sz="1000" b="0" strike="noStrike" spc="-1">
                <a:solidFill>
                  <a:srgbClr val="62728B"/>
                </a:solidFill>
                <a:latin typeface="Calibri"/>
                <a:ea typeface="Calibri"/>
              </a:rPr>
              <a:t>Class Distribution</a:t>
            </a:r>
            <a:endParaRPr lang="en-US" sz="1000" b="0" strike="noStrike" spc="-1">
              <a:solidFill>
                <a:srgbClr val="000000"/>
              </a:solidFill>
              <a:latin typeface="Arial"/>
            </a:endParaRPr>
          </a:p>
        </p:txBody>
      </p:sp>
      <p:sp>
        <p:nvSpPr>
          <p:cNvPr id="113" name="Freeform 112"/>
          <p:cNvSpPr/>
          <p:nvPr/>
        </p:nvSpPr>
        <p:spPr>
          <a:xfrm>
            <a:off x="365760" y="2176200"/>
            <a:ext cx="4115520" cy="2652480"/>
          </a:xfrm>
          <a:custGeom>
            <a:avLst/>
            <a:gdLst/>
            <a:ahLst/>
            <a:cxnLst/>
            <a:rect l="0" t="0" r="r" b="b"/>
            <a:pathLst>
              <a:path w="11432" h="7368">
                <a:moveTo>
                  <a:pt x="0" y="0"/>
                </a:moveTo>
                <a:lnTo>
                  <a:pt x="11432" y="0"/>
                </a:lnTo>
                <a:lnTo>
                  <a:pt x="11432" y="7368"/>
                </a:lnTo>
                <a:lnTo>
                  <a:pt x="0" y="7368"/>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114" name="Freeform 113"/>
          <p:cNvSpPr/>
          <p:nvPr/>
        </p:nvSpPr>
        <p:spPr>
          <a:xfrm>
            <a:off x="365760" y="2176200"/>
            <a:ext cx="64800" cy="2652480"/>
          </a:xfrm>
          <a:custGeom>
            <a:avLst/>
            <a:gdLst/>
            <a:ahLst/>
            <a:cxnLst/>
            <a:rect l="0" t="0" r="r" b="b"/>
            <a:pathLst>
              <a:path w="180" h="7368">
                <a:moveTo>
                  <a:pt x="0" y="0"/>
                </a:moveTo>
                <a:lnTo>
                  <a:pt x="180" y="0"/>
                </a:lnTo>
                <a:lnTo>
                  <a:pt x="180" y="7368"/>
                </a:lnTo>
                <a:lnTo>
                  <a:pt x="0" y="7368"/>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115" name="TextBox 114"/>
          <p:cNvSpPr txBox="1"/>
          <p:nvPr/>
        </p:nvSpPr>
        <p:spPr>
          <a:xfrm>
            <a:off x="593640" y="2267640"/>
            <a:ext cx="3659040" cy="320040"/>
          </a:xfrm>
          <a:prstGeom prst="rect">
            <a:avLst/>
          </a:prstGeom>
          <a:noFill/>
          <a:ln w="0">
            <a:noFill/>
          </a:ln>
        </p:spPr>
        <p:txBody>
          <a:bodyPr lIns="90000" tIns="45000" rIns="90000" bIns="45000" anchor="t">
            <a:noAutofit/>
          </a:bodyPr>
          <a:lstStyle/>
          <a:p>
            <a:r>
              <a:rPr lang="en-US" sz="1300" b="1" strike="noStrike" spc="-1">
                <a:solidFill>
                  <a:srgbClr val="182C48"/>
                </a:solidFill>
                <a:latin typeface="Calibri-Bold"/>
                <a:ea typeface="Calibri-Bold"/>
              </a:rPr>
              <a:t>Why is it challenging?</a:t>
            </a:r>
            <a:endParaRPr lang="en-US" sz="1300" b="0" strike="noStrike" spc="-1">
              <a:solidFill>
                <a:srgbClr val="000000"/>
              </a:solidFill>
              <a:latin typeface="Arial"/>
            </a:endParaRPr>
          </a:p>
        </p:txBody>
      </p:sp>
      <p:sp>
        <p:nvSpPr>
          <p:cNvPr id="116" name="TextBox 115"/>
          <p:cNvSpPr txBox="1"/>
          <p:nvPr/>
        </p:nvSpPr>
        <p:spPr>
          <a:xfrm>
            <a:off x="685080" y="2651760"/>
            <a:ext cx="3567600" cy="2011680"/>
          </a:xfrm>
          <a:prstGeom prst="rect">
            <a:avLst/>
          </a:prstGeom>
          <a:noFill/>
          <a:ln w="0">
            <a:noFill/>
          </a:ln>
        </p:spPr>
        <p:txBody>
          <a:bodyPr lIns="90000" tIns="45000" rIns="90000" bIns="45000" anchor="t">
            <a:noAutofit/>
          </a:bodyPr>
          <a:lstStyle/>
          <a:p>
            <a:r>
              <a:rPr lang="en-US" sz="1100" b="0" strike="noStrike" spc="-1">
                <a:solidFill>
                  <a:srgbClr val="1C2739"/>
                </a:solidFill>
                <a:latin typeface="Calibri"/>
                <a:ea typeface="Calibri"/>
              </a:rPr>
              <a:t>High visual similarity between breeds</a:t>
            </a:r>
            <a:endParaRPr lang="en-US" sz="1100" b="0" strike="noStrike" spc="-1">
              <a:solidFill>
                <a:srgbClr val="000000"/>
              </a:solidFill>
              <a:latin typeface="Arial"/>
            </a:endParaRPr>
          </a:p>
          <a:p>
            <a:r>
              <a:rPr lang="en-US" sz="1100" b="0" strike="noStrike" spc="-1">
                <a:solidFill>
                  <a:srgbClr val="1C2739"/>
                </a:solidFill>
                <a:latin typeface="Calibri"/>
                <a:ea typeface="Calibri"/>
              </a:rPr>
              <a:t>Variation in pose, lighting, and background</a:t>
            </a:r>
            <a:endParaRPr lang="en-US" sz="1100" b="0" strike="noStrike" spc="-1">
              <a:solidFill>
                <a:srgbClr val="000000"/>
              </a:solidFill>
              <a:latin typeface="Arial"/>
            </a:endParaRPr>
          </a:p>
          <a:p>
            <a:r>
              <a:rPr lang="en-US" sz="1100" b="0" strike="noStrike" spc="-1">
                <a:solidFill>
                  <a:srgbClr val="1C2739"/>
                </a:solidFill>
                <a:latin typeface="Calibri"/>
                <a:ea typeface="Calibri"/>
              </a:rPr>
              <a:t>Only ~200 images per class</a:t>
            </a:r>
            <a:endParaRPr lang="en-US" sz="1100" b="0" strike="noStrike" spc="-1">
              <a:solidFill>
                <a:srgbClr val="000000"/>
              </a:solidFill>
              <a:latin typeface="Arial"/>
            </a:endParaRPr>
          </a:p>
          <a:p>
            <a:r>
              <a:rPr lang="en-US" sz="1100" b="0" strike="noStrike" spc="-1">
                <a:solidFill>
                  <a:srgbClr val="1C2739"/>
                </a:solidFill>
                <a:latin typeface="Calibri"/>
                <a:ea typeface="Calibri"/>
              </a:rPr>
              <a:t>Subtle differences between classes (fine-grained)</a:t>
            </a:r>
            <a:endParaRPr lang="en-US" sz="1100" b="0" strike="noStrike" spc="-1">
              <a:solidFill>
                <a:srgbClr val="000000"/>
              </a:solidFill>
              <a:latin typeface="Arial"/>
            </a:endParaRPr>
          </a:p>
          <a:p>
            <a:r>
              <a:rPr lang="en-US" sz="1100" b="0" strike="noStrike" spc="-1">
                <a:solidFill>
                  <a:srgbClr val="1C2739"/>
                </a:solidFill>
                <a:latin typeface="Calibri"/>
                <a:ea typeface="Calibri"/>
              </a:rPr>
              <a:t>Official train / val / test split applied</a:t>
            </a:r>
            <a:endParaRPr lang="en-US" sz="1100" b="0" strike="noStrike" spc="-1">
              <a:solidFill>
                <a:srgbClr val="000000"/>
              </a:solidFill>
              <a:latin typeface="Arial"/>
            </a:endParaRPr>
          </a:p>
        </p:txBody>
      </p:sp>
      <p:sp>
        <p:nvSpPr>
          <p:cNvPr id="117" name="Freeform 116"/>
          <p:cNvSpPr/>
          <p:nvPr/>
        </p:nvSpPr>
        <p:spPr>
          <a:xfrm>
            <a:off x="4663440" y="2176200"/>
            <a:ext cx="4115520" cy="2652480"/>
          </a:xfrm>
          <a:custGeom>
            <a:avLst/>
            <a:gdLst/>
            <a:ahLst/>
            <a:cxnLst/>
            <a:rect l="0" t="0" r="r" b="b"/>
            <a:pathLst>
              <a:path w="11432" h="7368">
                <a:moveTo>
                  <a:pt x="0" y="0"/>
                </a:moveTo>
                <a:lnTo>
                  <a:pt x="11432" y="0"/>
                </a:lnTo>
                <a:lnTo>
                  <a:pt x="11432" y="7368"/>
                </a:lnTo>
                <a:lnTo>
                  <a:pt x="0" y="7368"/>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118" name="Freeform 117"/>
          <p:cNvSpPr/>
          <p:nvPr/>
        </p:nvSpPr>
        <p:spPr>
          <a:xfrm>
            <a:off x="4663440" y="2176200"/>
            <a:ext cx="64800" cy="2652480"/>
          </a:xfrm>
          <a:custGeom>
            <a:avLst/>
            <a:gdLst/>
            <a:ahLst/>
            <a:cxnLst/>
            <a:rect l="0" t="0" r="r" b="b"/>
            <a:pathLst>
              <a:path w="180" h="7368">
                <a:moveTo>
                  <a:pt x="0" y="0"/>
                </a:moveTo>
                <a:lnTo>
                  <a:pt x="180" y="0"/>
                </a:lnTo>
                <a:lnTo>
                  <a:pt x="180" y="7368"/>
                </a:lnTo>
                <a:lnTo>
                  <a:pt x="0" y="7368"/>
                </a:lnTo>
                <a:lnTo>
                  <a:pt x="0" y="0"/>
                </a:lnTo>
                <a:close/>
              </a:path>
            </a:pathLst>
          </a:custGeom>
          <a:solidFill>
            <a:srgbClr val="0691B2"/>
          </a:solidFill>
          <a:ln w="12600">
            <a:solidFill>
              <a:srgbClr val="0691B2"/>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119" name="TextBox 118"/>
          <p:cNvSpPr txBox="1"/>
          <p:nvPr/>
        </p:nvSpPr>
        <p:spPr>
          <a:xfrm>
            <a:off x="4891320" y="2267640"/>
            <a:ext cx="3659040" cy="320040"/>
          </a:xfrm>
          <a:prstGeom prst="rect">
            <a:avLst/>
          </a:prstGeom>
          <a:noFill/>
          <a:ln w="0">
            <a:noFill/>
          </a:ln>
        </p:spPr>
        <p:txBody>
          <a:bodyPr lIns="90000" tIns="45000" rIns="90000" bIns="45000" anchor="t">
            <a:noAutofit/>
          </a:bodyPr>
          <a:lstStyle/>
          <a:p>
            <a:r>
              <a:rPr lang="en-US" sz="1300" b="1" strike="noStrike" spc="-1">
                <a:solidFill>
                  <a:srgbClr val="182C48"/>
                </a:solidFill>
                <a:latin typeface="Calibri-Bold"/>
                <a:ea typeface="Calibri-Bold"/>
              </a:rPr>
              <a:t>Input Normalization</a:t>
            </a:r>
            <a:endParaRPr lang="en-US" sz="1300" b="0" strike="noStrike" spc="-1">
              <a:solidFill>
                <a:srgbClr val="000000"/>
              </a:solidFill>
              <a:latin typeface="Arial"/>
            </a:endParaRPr>
          </a:p>
        </p:txBody>
      </p:sp>
      <p:sp>
        <p:nvSpPr>
          <p:cNvPr id="120" name="TextBox 119"/>
          <p:cNvSpPr txBox="1"/>
          <p:nvPr/>
        </p:nvSpPr>
        <p:spPr>
          <a:xfrm>
            <a:off x="4891320" y="2651760"/>
            <a:ext cx="3567600" cy="262800"/>
          </a:xfrm>
          <a:prstGeom prst="rect">
            <a:avLst/>
          </a:prstGeom>
          <a:noFill/>
          <a:ln w="0">
            <a:noFill/>
          </a:ln>
        </p:spPr>
        <p:txBody>
          <a:bodyPr lIns="90000" tIns="45000" rIns="90000" bIns="45000" anchor="t">
            <a:noAutofit/>
          </a:bodyPr>
          <a:lstStyle/>
          <a:p>
            <a:r>
              <a:rPr lang="en-US" sz="1100" b="0" strike="noStrike" spc="-1">
                <a:solidFill>
                  <a:srgbClr val="62728B"/>
                </a:solidFill>
                <a:latin typeface="Calibri"/>
                <a:ea typeface="Calibri"/>
              </a:rPr>
              <a:t>Statistics computed on the training set:</a:t>
            </a:r>
            <a:endParaRPr lang="en-US" sz="1100" b="0" strike="noStrike" spc="-1">
              <a:solidFill>
                <a:srgbClr val="000000"/>
              </a:solidFill>
              <a:latin typeface="Arial"/>
            </a:endParaRPr>
          </a:p>
        </p:txBody>
      </p:sp>
      <p:sp>
        <p:nvSpPr>
          <p:cNvPr id="121" name="Freeform 120"/>
          <p:cNvSpPr/>
          <p:nvPr/>
        </p:nvSpPr>
        <p:spPr>
          <a:xfrm>
            <a:off x="4846320" y="3017520"/>
            <a:ext cx="3795480" cy="384840"/>
          </a:xfrm>
          <a:custGeom>
            <a:avLst/>
            <a:gdLst/>
            <a:ahLst/>
            <a:cxnLst/>
            <a:rect l="0" t="0" r="r" b="b"/>
            <a:pathLst>
              <a:path w="10543" h="1069">
                <a:moveTo>
                  <a:pt x="0" y="0"/>
                </a:moveTo>
                <a:lnTo>
                  <a:pt x="10543" y="0"/>
                </a:lnTo>
                <a:lnTo>
                  <a:pt x="10543" y="1069"/>
                </a:lnTo>
                <a:lnTo>
                  <a:pt x="0" y="1069"/>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122" name="Freeform 121"/>
          <p:cNvSpPr/>
          <p:nvPr/>
        </p:nvSpPr>
        <p:spPr>
          <a:xfrm>
            <a:off x="4846320" y="3017520"/>
            <a:ext cx="55440" cy="384840"/>
          </a:xfrm>
          <a:custGeom>
            <a:avLst/>
            <a:gdLst/>
            <a:ahLst/>
            <a:cxnLst/>
            <a:rect l="0" t="0" r="r" b="b"/>
            <a:pathLst>
              <a:path w="154" h="1069">
                <a:moveTo>
                  <a:pt x="0" y="0"/>
                </a:moveTo>
                <a:lnTo>
                  <a:pt x="154" y="0"/>
                </a:lnTo>
                <a:lnTo>
                  <a:pt x="154" y="1069"/>
                </a:lnTo>
                <a:lnTo>
                  <a:pt x="0" y="1069"/>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123" name="TextBox 122"/>
          <p:cNvSpPr txBox="1"/>
          <p:nvPr/>
        </p:nvSpPr>
        <p:spPr>
          <a:xfrm>
            <a:off x="5010120" y="3090600"/>
            <a:ext cx="778680" cy="416520"/>
          </a:xfrm>
          <a:prstGeom prst="rect">
            <a:avLst/>
          </a:prstGeom>
          <a:noFill/>
          <a:ln w="0">
            <a:noFill/>
          </a:ln>
        </p:spPr>
        <p:txBody>
          <a:bodyPr lIns="90000" tIns="45000" rIns="90000" bIns="45000" anchor="t">
            <a:noAutofit/>
          </a:bodyPr>
          <a:lstStyle/>
          <a:p>
            <a:r>
              <a:rPr lang="en-US" sz="1100" b="1" strike="noStrike" spc="-1">
                <a:solidFill>
                  <a:srgbClr val="2361EB"/>
                </a:solidFill>
                <a:latin typeface="Calibri-Bold"/>
                <a:ea typeface="Calibri-Bold"/>
              </a:rPr>
              <a:t>Channel R</a:t>
            </a:r>
            <a:endParaRPr lang="en-US" sz="1100" b="0" strike="noStrike" spc="-1">
              <a:solidFill>
                <a:srgbClr val="000000"/>
              </a:solidFill>
              <a:latin typeface="Arial"/>
            </a:endParaRPr>
          </a:p>
        </p:txBody>
      </p:sp>
      <p:sp>
        <p:nvSpPr>
          <p:cNvPr id="124" name="TextBox 123"/>
          <p:cNvSpPr txBox="1"/>
          <p:nvPr/>
        </p:nvSpPr>
        <p:spPr>
          <a:xfrm>
            <a:off x="5988600" y="3090600"/>
            <a:ext cx="100728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Mean: 0.478</a:t>
            </a:r>
            <a:endParaRPr lang="en-US" sz="1000" b="0" strike="noStrike" spc="-1">
              <a:solidFill>
                <a:srgbClr val="000000"/>
              </a:solidFill>
              <a:latin typeface="Arial"/>
            </a:endParaRPr>
          </a:p>
        </p:txBody>
      </p:sp>
      <p:sp>
        <p:nvSpPr>
          <p:cNvPr id="125" name="TextBox 124"/>
          <p:cNvSpPr txBox="1"/>
          <p:nvPr/>
        </p:nvSpPr>
        <p:spPr>
          <a:xfrm>
            <a:off x="7268760" y="3090600"/>
            <a:ext cx="109872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Std: 0.263</a:t>
            </a:r>
            <a:endParaRPr lang="en-US" sz="1000" b="0" strike="noStrike" spc="-1">
              <a:solidFill>
                <a:srgbClr val="000000"/>
              </a:solidFill>
              <a:latin typeface="Arial"/>
            </a:endParaRPr>
          </a:p>
        </p:txBody>
      </p:sp>
      <p:sp>
        <p:nvSpPr>
          <p:cNvPr id="126" name="Freeform 125"/>
          <p:cNvSpPr/>
          <p:nvPr/>
        </p:nvSpPr>
        <p:spPr>
          <a:xfrm>
            <a:off x="4846320" y="3493080"/>
            <a:ext cx="3795480" cy="384840"/>
          </a:xfrm>
          <a:custGeom>
            <a:avLst/>
            <a:gdLst/>
            <a:ahLst/>
            <a:cxnLst/>
            <a:rect l="0" t="0" r="r" b="b"/>
            <a:pathLst>
              <a:path w="10543" h="1069">
                <a:moveTo>
                  <a:pt x="0" y="0"/>
                </a:moveTo>
                <a:lnTo>
                  <a:pt x="10543" y="0"/>
                </a:lnTo>
                <a:lnTo>
                  <a:pt x="10543" y="1069"/>
                </a:lnTo>
                <a:lnTo>
                  <a:pt x="0" y="1069"/>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127" name="Freeform 126"/>
          <p:cNvSpPr/>
          <p:nvPr/>
        </p:nvSpPr>
        <p:spPr>
          <a:xfrm>
            <a:off x="4846320" y="3493080"/>
            <a:ext cx="55440" cy="384840"/>
          </a:xfrm>
          <a:custGeom>
            <a:avLst/>
            <a:gdLst/>
            <a:ahLst/>
            <a:cxnLst/>
            <a:rect l="0" t="0" r="r" b="b"/>
            <a:pathLst>
              <a:path w="154" h="1069">
                <a:moveTo>
                  <a:pt x="0" y="0"/>
                </a:moveTo>
                <a:lnTo>
                  <a:pt x="154" y="0"/>
                </a:lnTo>
                <a:lnTo>
                  <a:pt x="154" y="1069"/>
                </a:lnTo>
                <a:lnTo>
                  <a:pt x="0" y="1069"/>
                </a:lnTo>
                <a:lnTo>
                  <a:pt x="0" y="0"/>
                </a:lnTo>
                <a:close/>
              </a:path>
            </a:pathLst>
          </a:custGeom>
          <a:solidFill>
            <a:srgbClr val="039667"/>
          </a:solidFill>
          <a:ln w="12600">
            <a:solidFill>
              <a:srgbClr val="039667"/>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128" name="TextBox 127"/>
          <p:cNvSpPr txBox="1"/>
          <p:nvPr/>
        </p:nvSpPr>
        <p:spPr>
          <a:xfrm>
            <a:off x="5010120" y="3566160"/>
            <a:ext cx="778680" cy="416520"/>
          </a:xfrm>
          <a:prstGeom prst="rect">
            <a:avLst/>
          </a:prstGeom>
          <a:noFill/>
          <a:ln w="0">
            <a:noFill/>
          </a:ln>
        </p:spPr>
        <p:txBody>
          <a:bodyPr lIns="90000" tIns="45000" rIns="90000" bIns="45000" anchor="t">
            <a:noAutofit/>
          </a:bodyPr>
          <a:lstStyle/>
          <a:p>
            <a:r>
              <a:rPr lang="en-US" sz="1100" b="1" strike="noStrike" spc="-1">
                <a:solidFill>
                  <a:srgbClr val="039667"/>
                </a:solidFill>
                <a:latin typeface="Calibri-Bold"/>
                <a:ea typeface="Calibri-Bold"/>
              </a:rPr>
              <a:t>Channel G</a:t>
            </a:r>
            <a:endParaRPr lang="en-US" sz="1100" b="0" strike="noStrike" spc="-1">
              <a:solidFill>
                <a:srgbClr val="000000"/>
              </a:solidFill>
              <a:latin typeface="Arial"/>
            </a:endParaRPr>
          </a:p>
        </p:txBody>
      </p:sp>
      <p:sp>
        <p:nvSpPr>
          <p:cNvPr id="129" name="TextBox 128"/>
          <p:cNvSpPr txBox="1"/>
          <p:nvPr/>
        </p:nvSpPr>
        <p:spPr>
          <a:xfrm>
            <a:off x="5988600" y="3566160"/>
            <a:ext cx="100728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Mean: 0.446</a:t>
            </a:r>
            <a:endParaRPr lang="en-US" sz="1000" b="0" strike="noStrike" spc="-1">
              <a:solidFill>
                <a:srgbClr val="000000"/>
              </a:solidFill>
              <a:latin typeface="Arial"/>
            </a:endParaRPr>
          </a:p>
        </p:txBody>
      </p:sp>
      <p:sp>
        <p:nvSpPr>
          <p:cNvPr id="130" name="TextBox 129"/>
          <p:cNvSpPr txBox="1"/>
          <p:nvPr/>
        </p:nvSpPr>
        <p:spPr>
          <a:xfrm>
            <a:off x="7268760" y="3566160"/>
            <a:ext cx="109872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Std: 0.258</a:t>
            </a:r>
            <a:endParaRPr lang="en-US" sz="1000" b="0" strike="noStrike" spc="-1">
              <a:solidFill>
                <a:srgbClr val="000000"/>
              </a:solidFill>
              <a:latin typeface="Arial"/>
            </a:endParaRPr>
          </a:p>
        </p:txBody>
      </p:sp>
      <p:sp>
        <p:nvSpPr>
          <p:cNvPr id="131" name="Freeform 130"/>
          <p:cNvSpPr/>
          <p:nvPr/>
        </p:nvSpPr>
        <p:spPr>
          <a:xfrm>
            <a:off x="4846320" y="3968640"/>
            <a:ext cx="3795480" cy="384840"/>
          </a:xfrm>
          <a:custGeom>
            <a:avLst/>
            <a:gdLst/>
            <a:ahLst/>
            <a:cxnLst/>
            <a:rect l="0" t="0" r="r" b="b"/>
            <a:pathLst>
              <a:path w="10543" h="1069">
                <a:moveTo>
                  <a:pt x="0" y="0"/>
                </a:moveTo>
                <a:lnTo>
                  <a:pt x="10543" y="0"/>
                </a:lnTo>
                <a:lnTo>
                  <a:pt x="10543" y="1069"/>
                </a:lnTo>
                <a:lnTo>
                  <a:pt x="0" y="1069"/>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132" name="Freeform 131"/>
          <p:cNvSpPr/>
          <p:nvPr/>
        </p:nvSpPr>
        <p:spPr>
          <a:xfrm>
            <a:off x="4846320" y="3968640"/>
            <a:ext cx="55440" cy="384840"/>
          </a:xfrm>
          <a:custGeom>
            <a:avLst/>
            <a:gdLst/>
            <a:ahLst/>
            <a:cxnLst/>
            <a:rect l="0" t="0" r="r" b="b"/>
            <a:pathLst>
              <a:path w="154" h="1069">
                <a:moveTo>
                  <a:pt x="0" y="0"/>
                </a:moveTo>
                <a:lnTo>
                  <a:pt x="154" y="0"/>
                </a:lnTo>
                <a:lnTo>
                  <a:pt x="154" y="1069"/>
                </a:lnTo>
                <a:lnTo>
                  <a:pt x="0" y="1069"/>
                </a:lnTo>
                <a:lnTo>
                  <a:pt x="0" y="0"/>
                </a:lnTo>
                <a:close/>
              </a:path>
            </a:pathLst>
          </a:custGeom>
          <a:solidFill>
            <a:srgbClr val="7A38ED"/>
          </a:solidFill>
          <a:ln w="12600">
            <a:solidFill>
              <a:srgbClr val="7A38ED"/>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133" name="TextBox 132"/>
          <p:cNvSpPr txBox="1"/>
          <p:nvPr/>
        </p:nvSpPr>
        <p:spPr>
          <a:xfrm>
            <a:off x="5010120" y="4041720"/>
            <a:ext cx="778680" cy="416520"/>
          </a:xfrm>
          <a:prstGeom prst="rect">
            <a:avLst/>
          </a:prstGeom>
          <a:noFill/>
          <a:ln w="0">
            <a:noFill/>
          </a:ln>
        </p:spPr>
        <p:txBody>
          <a:bodyPr lIns="90000" tIns="45000" rIns="90000" bIns="45000" anchor="t">
            <a:noAutofit/>
          </a:bodyPr>
          <a:lstStyle/>
          <a:p>
            <a:r>
              <a:rPr lang="en-US" sz="1100" b="1" strike="noStrike" spc="-1">
                <a:solidFill>
                  <a:srgbClr val="7A38ED"/>
                </a:solidFill>
                <a:latin typeface="Calibri-Bold"/>
                <a:ea typeface="Calibri-Bold"/>
              </a:rPr>
              <a:t>Channel B</a:t>
            </a:r>
            <a:endParaRPr lang="en-US" sz="1100" b="0" strike="noStrike" spc="-1">
              <a:solidFill>
                <a:srgbClr val="000000"/>
              </a:solidFill>
              <a:latin typeface="Arial"/>
            </a:endParaRPr>
          </a:p>
        </p:txBody>
      </p:sp>
      <p:sp>
        <p:nvSpPr>
          <p:cNvPr id="134" name="TextBox 133"/>
          <p:cNvSpPr txBox="1"/>
          <p:nvPr/>
        </p:nvSpPr>
        <p:spPr>
          <a:xfrm>
            <a:off x="5988600" y="4041720"/>
            <a:ext cx="100728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Mean: 0.396</a:t>
            </a:r>
            <a:endParaRPr lang="en-US" sz="1000" b="0" strike="noStrike" spc="-1">
              <a:solidFill>
                <a:srgbClr val="000000"/>
              </a:solidFill>
              <a:latin typeface="Arial"/>
            </a:endParaRPr>
          </a:p>
        </p:txBody>
      </p:sp>
      <p:sp>
        <p:nvSpPr>
          <p:cNvPr id="135" name="TextBox 134"/>
          <p:cNvSpPr txBox="1"/>
          <p:nvPr/>
        </p:nvSpPr>
        <p:spPr>
          <a:xfrm>
            <a:off x="7268760" y="4041720"/>
            <a:ext cx="109872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Std: 0.265</a:t>
            </a:r>
            <a:endParaRPr lang="en-US" sz="1000" b="0" strike="noStrike" spc="-1">
              <a:solidFill>
                <a:srgbClr val="000000"/>
              </a:solidFill>
              <a:latin typeface="Arial"/>
            </a:endParaRPr>
          </a:p>
        </p:txBody>
      </p:sp>
      <p:sp>
        <p:nvSpPr>
          <p:cNvPr id="136" name="Freeform 135"/>
          <p:cNvSpPr/>
          <p:nvPr/>
        </p:nvSpPr>
        <p:spPr>
          <a:xfrm>
            <a:off x="4846320" y="4462200"/>
            <a:ext cx="3795480" cy="256680"/>
          </a:xfrm>
          <a:custGeom>
            <a:avLst/>
            <a:gdLst/>
            <a:ahLst/>
            <a:cxnLst/>
            <a:rect l="0" t="0" r="r" b="b"/>
            <a:pathLst>
              <a:path w="10543" h="713">
                <a:moveTo>
                  <a:pt x="0" y="0"/>
                </a:moveTo>
                <a:lnTo>
                  <a:pt x="10543" y="0"/>
                </a:lnTo>
                <a:lnTo>
                  <a:pt x="10543" y="713"/>
                </a:lnTo>
                <a:lnTo>
                  <a:pt x="0" y="713"/>
                </a:lnTo>
                <a:lnTo>
                  <a:pt x="0" y="0"/>
                </a:lnTo>
                <a:close/>
              </a:path>
            </a:pathLst>
          </a:custGeom>
          <a:solidFill>
            <a:srgbClr val="E0F2FE"/>
          </a:solidFill>
          <a:ln w="12600">
            <a:solidFill>
              <a:srgbClr val="0691B2"/>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137" name="TextBox 136"/>
          <p:cNvSpPr txBox="1"/>
          <p:nvPr/>
        </p:nvSpPr>
        <p:spPr>
          <a:xfrm>
            <a:off x="4982760" y="4462200"/>
            <a:ext cx="3521880" cy="255960"/>
          </a:xfrm>
          <a:prstGeom prst="rect">
            <a:avLst/>
          </a:prstGeom>
          <a:noFill/>
          <a:ln w="0">
            <a:noFill/>
          </a:ln>
        </p:spPr>
        <p:txBody>
          <a:bodyPr lIns="90000" tIns="45000" rIns="90000" bIns="45000" anchor="t">
            <a:noAutofit/>
          </a:bodyPr>
          <a:lstStyle/>
          <a:p>
            <a:r>
              <a:rPr lang="en-US" sz="1000" b="0" i="1" strike="noStrike" spc="-1">
                <a:solidFill>
                  <a:srgbClr val="0691B2"/>
                </a:solidFill>
                <a:latin typeface="Calibri-Italic"/>
                <a:ea typeface="Calibri-Italic"/>
              </a:rPr>
              <a:t>Applied consistently to train, val, and test</a:t>
            </a:r>
            <a:endParaRPr lang="en-US" sz="1000" b="0" strike="noStrike" spc="-1">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Freeform 137"/>
          <p:cNvSpPr/>
          <p:nvPr/>
        </p:nvSpPr>
        <p:spPr>
          <a:xfrm>
            <a:off x="0" y="0"/>
            <a:ext cx="9144720" cy="55440"/>
          </a:xfrm>
          <a:custGeom>
            <a:avLst/>
            <a:gdLst/>
            <a:ahLst/>
            <a:cxnLst/>
            <a:rect l="0" t="0" r="r" b="b"/>
            <a:pathLst>
              <a:path w="25402" h="154">
                <a:moveTo>
                  <a:pt x="0" y="0"/>
                </a:moveTo>
                <a:lnTo>
                  <a:pt x="25402" y="0"/>
                </a:lnTo>
                <a:lnTo>
                  <a:pt x="25402" y="154"/>
                </a:lnTo>
                <a:lnTo>
                  <a:pt x="0" y="154"/>
                </a:lnTo>
                <a:lnTo>
                  <a:pt x="0" y="0"/>
                </a:lnTo>
                <a:close/>
              </a:path>
            </a:pathLst>
          </a:custGeom>
          <a:solidFill>
            <a:srgbClr val="2361EB"/>
          </a:solidFill>
          <a:ln w="12600">
            <a:solidFill>
              <a:srgbClr val="2361EB"/>
            </a:solidFill>
            <a:round/>
          </a:ln>
        </p:spPr>
        <p:txBody>
          <a:bodyPr lIns="96120" tIns="4320" rIns="96120" bIns="4320" anchor="t">
            <a:noAutofit/>
          </a:bodyPr>
          <a:lstStyle/>
          <a:p>
            <a:endParaRPr lang="en-US" sz="1800" b="0" strike="noStrike" spc="-1">
              <a:solidFill>
                <a:srgbClr val="FFFFFF"/>
              </a:solidFill>
              <a:latin typeface="Arial"/>
            </a:endParaRPr>
          </a:p>
        </p:txBody>
      </p:sp>
      <p:sp>
        <p:nvSpPr>
          <p:cNvPr id="139" name="TextBox 138"/>
          <p:cNvSpPr txBox="1"/>
          <p:nvPr/>
        </p:nvSpPr>
        <p:spPr>
          <a:xfrm>
            <a:off x="502200" y="164520"/>
            <a:ext cx="8139600" cy="502920"/>
          </a:xfrm>
          <a:prstGeom prst="rect">
            <a:avLst/>
          </a:prstGeom>
          <a:noFill/>
          <a:ln w="0">
            <a:noFill/>
          </a:ln>
        </p:spPr>
        <p:txBody>
          <a:bodyPr lIns="90000" tIns="45000" rIns="90000" bIns="45000" anchor="t">
            <a:noAutofit/>
          </a:bodyPr>
          <a:lstStyle/>
          <a:p>
            <a:r>
              <a:rPr lang="en-US" sz="2600" b="1" strike="noStrike" spc="-1">
                <a:solidFill>
                  <a:srgbClr val="182C48"/>
                </a:solidFill>
                <a:latin typeface="Calibri-Bold"/>
                <a:ea typeface="Calibri-Bold"/>
              </a:rPr>
              <a:t>CNN Baseline — Architecture</a:t>
            </a:r>
            <a:endParaRPr lang="en-US" sz="2600" b="0" strike="noStrike" spc="-1">
              <a:solidFill>
                <a:srgbClr val="000000"/>
              </a:solidFill>
              <a:latin typeface="Arial"/>
            </a:endParaRPr>
          </a:p>
        </p:txBody>
      </p:sp>
      <p:sp>
        <p:nvSpPr>
          <p:cNvPr id="140" name="TextBox 139"/>
          <p:cNvSpPr txBox="1"/>
          <p:nvPr/>
        </p:nvSpPr>
        <p:spPr>
          <a:xfrm>
            <a:off x="502200" y="658440"/>
            <a:ext cx="8139600" cy="292680"/>
          </a:xfrm>
          <a:prstGeom prst="rect">
            <a:avLst/>
          </a:prstGeom>
          <a:noFill/>
          <a:ln w="0">
            <a:noFill/>
          </a:ln>
        </p:spPr>
        <p:txBody>
          <a:bodyPr lIns="90000" tIns="45000" rIns="90000" bIns="45000" anchor="t">
            <a:noAutofit/>
          </a:bodyPr>
          <a:lstStyle/>
          <a:p>
            <a:r>
              <a:rPr lang="en-US" sz="1200" b="0" i="1" strike="noStrike" spc="-1">
                <a:solidFill>
                  <a:srgbClr val="62728B"/>
                </a:solidFill>
                <a:latin typeface="Calibri-Italic"/>
                <a:ea typeface="Calibri-Italic"/>
              </a:rPr>
              <a:t>Convolutional network trained from scratch</a:t>
            </a:r>
            <a:endParaRPr lang="en-US" sz="1200" b="0" strike="noStrike" spc="-1">
              <a:solidFill>
                <a:srgbClr val="000000"/>
              </a:solidFill>
              <a:latin typeface="Arial"/>
            </a:endParaRPr>
          </a:p>
        </p:txBody>
      </p:sp>
      <p:sp>
        <p:nvSpPr>
          <p:cNvPr id="141" name="Straight Connector 140"/>
          <p:cNvSpPr/>
          <p:nvPr/>
        </p:nvSpPr>
        <p:spPr>
          <a:xfrm>
            <a:off x="457200" y="960120"/>
            <a:ext cx="8229600" cy="0"/>
          </a:xfrm>
          <a:prstGeom prst="line">
            <a:avLst/>
          </a:prstGeom>
          <a:ln w="12600">
            <a:solidFill>
              <a:srgbClr val="E2E8F0"/>
            </a:solidFill>
            <a:round/>
          </a:ln>
        </p:spPr>
        <p:style>
          <a:lnRef idx="0">
            <a:scrgbClr r="0" g="0" b="0"/>
          </a:lnRef>
          <a:fillRef idx="0">
            <a:scrgbClr r="0" g="0" b="0"/>
          </a:fillRef>
          <a:effectRef idx="0">
            <a:scrgbClr r="0" g="0" b="0"/>
          </a:effectRef>
          <a:fontRef idx="minor"/>
        </p:style>
        <p:txBody>
          <a:bodyPr lIns="96120" tIns="-51120" rIns="96120" bIns="-51120" anchor="t">
            <a:noAutofit/>
          </a:bodyPr>
          <a:lstStyle/>
          <a:p>
            <a:endParaRPr lang="en-US" sz="1800" b="0" strike="noStrike" spc="-1">
              <a:solidFill>
                <a:srgbClr val="000000"/>
              </a:solidFill>
              <a:latin typeface="Arial"/>
            </a:endParaRPr>
          </a:p>
        </p:txBody>
      </p:sp>
      <p:sp>
        <p:nvSpPr>
          <p:cNvPr id="142" name="Freeform 141"/>
          <p:cNvSpPr/>
          <p:nvPr/>
        </p:nvSpPr>
        <p:spPr>
          <a:xfrm>
            <a:off x="274320" y="1097280"/>
            <a:ext cx="1063748" cy="823680"/>
          </a:xfrm>
          <a:custGeom>
            <a:avLst/>
            <a:gdLst/>
            <a:ahLst/>
            <a:cxnLst/>
            <a:rect l="0" t="0" r="r" b="b"/>
            <a:pathLst>
              <a:path w="3558" h="2288">
                <a:moveTo>
                  <a:pt x="0" y="0"/>
                </a:moveTo>
                <a:lnTo>
                  <a:pt x="3558" y="0"/>
                </a:lnTo>
                <a:lnTo>
                  <a:pt x="3558" y="2288"/>
                </a:lnTo>
                <a:lnTo>
                  <a:pt x="0" y="2288"/>
                </a:lnTo>
                <a:lnTo>
                  <a:pt x="0" y="0"/>
                </a:lnTo>
                <a:close/>
              </a:path>
            </a:pathLst>
          </a:custGeom>
          <a:solidFill>
            <a:srgbClr val="62728B"/>
          </a:solidFill>
          <a:ln w="12600">
            <a:solidFill>
              <a:srgbClr val="62728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143" name="TextBox 142"/>
          <p:cNvSpPr txBox="1"/>
          <p:nvPr/>
        </p:nvSpPr>
        <p:spPr>
          <a:xfrm>
            <a:off x="356040" y="1097280"/>
            <a:ext cx="917508" cy="822960"/>
          </a:xfrm>
          <a:prstGeom prst="rect">
            <a:avLst/>
          </a:prstGeom>
          <a:noFill/>
          <a:ln w="0">
            <a:noFill/>
          </a:ln>
        </p:spPr>
        <p:txBody>
          <a:bodyPr lIns="90000" tIns="45000" rIns="90000" bIns="45000" anchor="t">
            <a:noAutofit/>
          </a:bodyPr>
          <a:lstStyle/>
          <a:p>
            <a:pPr algn="ctr"/>
            <a:r>
              <a:rPr lang="en-US" sz="900" b="1" strike="noStrike" spc="-1">
                <a:solidFill>
                  <a:srgbClr val="FFFFFF"/>
                </a:solidFill>
                <a:latin typeface="Calibri-Bold"/>
                <a:ea typeface="Calibri-Bold"/>
              </a:rPr>
              <a:t>Input</a:t>
            </a:r>
            <a:endParaRPr lang="en-US" sz="900" b="0" strike="noStrike" spc="-1">
              <a:solidFill>
                <a:srgbClr val="000000"/>
              </a:solidFill>
              <a:latin typeface="Arial"/>
            </a:endParaRPr>
          </a:p>
          <a:p>
            <a:pPr algn="ctr"/>
            <a:r>
              <a:rPr lang="en-US" sz="900" b="1" strike="noStrike" spc="-1">
                <a:solidFill>
                  <a:srgbClr val="FFFFFF"/>
                </a:solidFill>
                <a:latin typeface="Calibri-Bold"/>
                <a:ea typeface="Calibri-Bold"/>
              </a:rPr>
              <a:t>160×160</a:t>
            </a:r>
            <a:endParaRPr lang="en-US" sz="900" b="0" strike="noStrike" spc="-1">
              <a:solidFill>
                <a:srgbClr val="000000"/>
              </a:solidFill>
              <a:latin typeface="Arial"/>
            </a:endParaRPr>
          </a:p>
        </p:txBody>
      </p:sp>
      <p:sp>
        <p:nvSpPr>
          <p:cNvPr id="144" name="Straight Connector 143"/>
          <p:cNvSpPr/>
          <p:nvPr/>
        </p:nvSpPr>
        <p:spPr>
          <a:xfrm>
            <a:off x="1673388" y="1508760"/>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145" name="Freeform 144"/>
          <p:cNvSpPr/>
          <p:nvPr/>
        </p:nvSpPr>
        <p:spPr>
          <a:xfrm>
            <a:off x="1492788" y="1097280"/>
            <a:ext cx="1063748" cy="823680"/>
          </a:xfrm>
          <a:custGeom>
            <a:avLst/>
            <a:gdLst/>
            <a:ahLst/>
            <a:cxnLst/>
            <a:rect l="0" t="0" r="r" b="b"/>
            <a:pathLst>
              <a:path w="3558" h="2288">
                <a:moveTo>
                  <a:pt x="0" y="0"/>
                </a:moveTo>
                <a:lnTo>
                  <a:pt x="3558" y="0"/>
                </a:lnTo>
                <a:lnTo>
                  <a:pt x="3558" y="2288"/>
                </a:lnTo>
                <a:lnTo>
                  <a:pt x="0" y="2288"/>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146" name="TextBox 145"/>
          <p:cNvSpPr txBox="1"/>
          <p:nvPr/>
        </p:nvSpPr>
        <p:spPr>
          <a:xfrm>
            <a:off x="1574508" y="1097280"/>
            <a:ext cx="917508" cy="822960"/>
          </a:xfrm>
          <a:prstGeom prst="rect">
            <a:avLst/>
          </a:prstGeom>
          <a:noFill/>
          <a:ln w="0">
            <a:noFill/>
          </a:ln>
        </p:spPr>
        <p:txBody>
          <a:bodyPr lIns="90000" tIns="45000" rIns="90000" bIns="45000" anchor="t">
            <a:noAutofit/>
          </a:bodyPr>
          <a:lstStyle/>
          <a:p>
            <a:pPr algn="ctr"/>
            <a:r>
              <a:rPr lang="en-US" sz="900" b="1" strike="noStrike" spc="-1">
                <a:solidFill>
                  <a:srgbClr val="FFFFFF"/>
                </a:solidFill>
                <a:latin typeface="Calibri-Bold"/>
                <a:ea typeface="Calibri-Bold"/>
              </a:rPr>
              <a:t>Conv Block 1</a:t>
            </a:r>
            <a:endParaRPr lang="en-US" sz="900" b="0" strike="noStrike" spc="-1">
              <a:solidFill>
                <a:srgbClr val="000000"/>
              </a:solidFill>
              <a:latin typeface="Arial"/>
            </a:endParaRPr>
          </a:p>
          <a:p>
            <a:pPr algn="ctr"/>
            <a:r>
              <a:rPr lang="en-US" sz="900" b="1" strike="noStrike" spc="-1">
                <a:solidFill>
                  <a:srgbClr val="FFFFFF"/>
                </a:solidFill>
                <a:latin typeface="Calibri-Bold"/>
                <a:ea typeface="Calibri-Bold"/>
              </a:rPr>
              <a:t>+BN+ReLU+Pool</a:t>
            </a:r>
            <a:endParaRPr lang="en-US" sz="900" b="0" strike="noStrike" spc="-1">
              <a:solidFill>
                <a:srgbClr val="000000"/>
              </a:solidFill>
              <a:latin typeface="Arial"/>
            </a:endParaRPr>
          </a:p>
        </p:txBody>
      </p:sp>
      <p:sp>
        <p:nvSpPr>
          <p:cNvPr id="147" name="Straight Connector 146"/>
          <p:cNvSpPr/>
          <p:nvPr/>
        </p:nvSpPr>
        <p:spPr>
          <a:xfrm>
            <a:off x="2773388" y="1508760"/>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148" name="Freeform 147"/>
          <p:cNvSpPr/>
          <p:nvPr/>
        </p:nvSpPr>
        <p:spPr>
          <a:xfrm>
            <a:off x="2711696" y="1097280"/>
            <a:ext cx="1063748" cy="823680"/>
          </a:xfrm>
          <a:custGeom>
            <a:avLst/>
            <a:gdLst/>
            <a:ahLst/>
            <a:cxnLst/>
            <a:rect l="0" t="0" r="r" b="b"/>
            <a:pathLst>
              <a:path w="3558" h="2288">
                <a:moveTo>
                  <a:pt x="0" y="0"/>
                </a:moveTo>
                <a:lnTo>
                  <a:pt x="3558" y="0"/>
                </a:lnTo>
                <a:lnTo>
                  <a:pt x="3558" y="2288"/>
                </a:lnTo>
                <a:lnTo>
                  <a:pt x="0" y="2288"/>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149" name="TextBox 148"/>
          <p:cNvSpPr txBox="1"/>
          <p:nvPr/>
        </p:nvSpPr>
        <p:spPr>
          <a:xfrm>
            <a:off x="2793416" y="1097280"/>
            <a:ext cx="917508" cy="822960"/>
          </a:xfrm>
          <a:prstGeom prst="rect">
            <a:avLst/>
          </a:prstGeom>
          <a:noFill/>
          <a:ln w="0">
            <a:noFill/>
          </a:ln>
        </p:spPr>
        <p:txBody>
          <a:bodyPr lIns="90000" tIns="45000" rIns="90000" bIns="45000" anchor="t">
            <a:noAutofit/>
          </a:bodyPr>
          <a:lstStyle/>
          <a:p>
            <a:pPr algn="ctr"/>
            <a:r>
              <a:rPr lang="en-US" sz="900" b="1" strike="noStrike" spc="-1">
                <a:solidFill>
                  <a:srgbClr val="FFFFFF"/>
                </a:solidFill>
                <a:latin typeface="Calibri-Bold"/>
                <a:ea typeface="Calibri-Bold"/>
              </a:rPr>
              <a:t>Conv Block 2</a:t>
            </a:r>
            <a:endParaRPr lang="en-US" sz="900" b="0" strike="noStrike" spc="-1">
              <a:solidFill>
                <a:srgbClr val="000000"/>
              </a:solidFill>
              <a:latin typeface="Arial"/>
            </a:endParaRPr>
          </a:p>
          <a:p>
            <a:pPr algn="ctr"/>
            <a:r>
              <a:rPr lang="en-US" sz="900" b="1" strike="noStrike" spc="-1">
                <a:solidFill>
                  <a:srgbClr val="FFFFFF"/>
                </a:solidFill>
                <a:latin typeface="Calibri-Bold"/>
                <a:ea typeface="Calibri-Bold"/>
              </a:rPr>
              <a:t>+BN+ReLU+Pool</a:t>
            </a:r>
            <a:endParaRPr lang="en-US" sz="900" b="0" strike="noStrike" spc="-1">
              <a:solidFill>
                <a:srgbClr val="000000"/>
              </a:solidFill>
              <a:latin typeface="Arial"/>
            </a:endParaRPr>
          </a:p>
        </p:txBody>
      </p:sp>
      <p:sp>
        <p:nvSpPr>
          <p:cNvPr id="150" name="Straight Connector 149"/>
          <p:cNvSpPr/>
          <p:nvPr/>
        </p:nvSpPr>
        <p:spPr>
          <a:xfrm>
            <a:off x="3992296" y="1508760"/>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151" name="Freeform 150"/>
          <p:cNvSpPr/>
          <p:nvPr/>
        </p:nvSpPr>
        <p:spPr>
          <a:xfrm>
            <a:off x="3930604" y="1097280"/>
            <a:ext cx="1063748" cy="823680"/>
          </a:xfrm>
          <a:custGeom>
            <a:avLst/>
            <a:gdLst/>
            <a:ahLst/>
            <a:cxnLst/>
            <a:rect l="0" t="0" r="r" b="b"/>
            <a:pathLst>
              <a:path w="3558" h="2288">
                <a:moveTo>
                  <a:pt x="0" y="0"/>
                </a:moveTo>
                <a:lnTo>
                  <a:pt x="3558" y="0"/>
                </a:lnTo>
                <a:lnTo>
                  <a:pt x="3558" y="2288"/>
                </a:lnTo>
                <a:lnTo>
                  <a:pt x="0" y="2288"/>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152" name="TextBox 151"/>
          <p:cNvSpPr txBox="1"/>
          <p:nvPr/>
        </p:nvSpPr>
        <p:spPr>
          <a:xfrm>
            <a:off x="4012324" y="1097280"/>
            <a:ext cx="917508" cy="822960"/>
          </a:xfrm>
          <a:prstGeom prst="rect">
            <a:avLst/>
          </a:prstGeom>
          <a:noFill/>
          <a:ln w="0">
            <a:noFill/>
          </a:ln>
        </p:spPr>
        <p:txBody>
          <a:bodyPr lIns="90000" tIns="45000" rIns="90000" bIns="45000" anchor="t">
            <a:noAutofit/>
          </a:bodyPr>
          <a:lstStyle/>
          <a:p>
            <a:pPr algn="ctr"/>
            <a:r>
              <a:rPr lang="en-US" sz="900" b="1" strike="noStrike" spc="-1">
                <a:solidFill>
                  <a:srgbClr val="FFFFFF"/>
                </a:solidFill>
                <a:latin typeface="Calibri-Bold"/>
                <a:ea typeface="Calibri-Bold"/>
              </a:rPr>
              <a:t>Conv Block 3</a:t>
            </a:r>
            <a:endParaRPr lang="en-US" sz="900" b="0" strike="noStrike" spc="-1">
              <a:solidFill>
                <a:srgbClr val="000000"/>
              </a:solidFill>
              <a:latin typeface="Arial"/>
            </a:endParaRPr>
          </a:p>
          <a:p>
            <a:pPr algn="ctr"/>
            <a:r>
              <a:rPr lang="en-US" sz="900" b="1" strike="noStrike" spc="-1">
                <a:solidFill>
                  <a:srgbClr val="FFFFFF"/>
                </a:solidFill>
                <a:latin typeface="Calibri-Bold"/>
                <a:ea typeface="Calibri-Bold"/>
              </a:rPr>
              <a:t>+BN+ReLU+Pool</a:t>
            </a:r>
            <a:endParaRPr lang="en-US" sz="900" b="0" strike="noStrike" spc="-1">
              <a:solidFill>
                <a:srgbClr val="000000"/>
              </a:solidFill>
              <a:latin typeface="Arial"/>
            </a:endParaRPr>
          </a:p>
        </p:txBody>
      </p:sp>
      <p:sp>
        <p:nvSpPr>
          <p:cNvPr id="153" name="Straight Connector 152"/>
          <p:cNvSpPr/>
          <p:nvPr/>
        </p:nvSpPr>
        <p:spPr>
          <a:xfrm>
            <a:off x="5211204" y="1508760"/>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301" name="Freeform 300"/>
          <p:cNvSpPr/>
          <p:nvPr/>
        </p:nvSpPr>
        <p:spPr>
          <a:xfrm>
            <a:off x="5149512" y="1097280"/>
            <a:ext cx="1063748" cy="823680"/>
          </a:xfrm>
          <a:custGeom>
            <a:avLst/>
            <a:gdLst/>
            <a:ahLst/>
            <a:cxnLst/>
            <a:rect l="0" t="0" r="r" b="b"/>
            <a:pathLst>
              <a:path w="3558" h="2288">
                <a:moveTo>
                  <a:pt x="0" y="0"/>
                </a:moveTo>
                <a:lnTo>
                  <a:pt x="3558" y="0"/>
                </a:lnTo>
                <a:lnTo>
                  <a:pt x="3558" y="2288"/>
                </a:lnTo>
                <a:lnTo>
                  <a:pt x="0" y="2288"/>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302" name="TextBox 301"/>
          <p:cNvSpPr txBox="1"/>
          <p:nvPr/>
        </p:nvSpPr>
        <p:spPr>
          <a:xfrm>
            <a:off x="5231232" y="1097280"/>
            <a:ext cx="917508" cy="822960"/>
          </a:xfrm>
          <a:prstGeom prst="rect">
            <a:avLst/>
          </a:prstGeom>
          <a:noFill/>
          <a:ln w="0">
            <a:noFill/>
          </a:ln>
        </p:spPr>
        <p:txBody>
          <a:bodyPr lIns="90000" tIns="45000" rIns="90000" bIns="45000" anchor="t">
            <a:noAutofit/>
          </a:bodyPr>
          <a:lstStyle/>
          <a:p>
            <a:pPr algn="ctr"/>
            <a:r>
              <a:rPr lang="en-US" sz="900" b="1" strike="noStrike" spc="-1">
                <a:solidFill>
                  <a:srgbClr val="FFFFFF"/>
                </a:solidFill>
                <a:latin typeface="Calibri-Bold"/>
                <a:ea typeface="Calibri-Bold"/>
              </a:rPr>
              <a:t>Conv Block 4</a:t>
            </a:r>
            <a:endParaRPr lang="en-US" sz="900" b="0" strike="noStrike" spc="-1">
              <a:solidFill>
                <a:srgbClr val="000000"/>
              </a:solidFill>
              <a:latin typeface="Arial"/>
            </a:endParaRPr>
          </a:p>
          <a:p>
            <a:pPr algn="ctr"/>
            <a:r>
              <a:rPr lang="en-US" sz="900" b="1" strike="noStrike" spc="-1">
                <a:solidFill>
                  <a:srgbClr val="FFFFFF"/>
                </a:solidFill>
                <a:latin typeface="Calibri-Bold"/>
                <a:ea typeface="Calibri-Bold"/>
              </a:rPr>
              <a:t>+BN+ReLU+Pool</a:t>
            </a:r>
            <a:endParaRPr lang="en-US" sz="900" b="0" strike="noStrike" spc="-1">
              <a:solidFill>
                <a:srgbClr val="000000"/>
              </a:solidFill>
              <a:latin typeface="Arial"/>
            </a:endParaRPr>
          </a:p>
        </p:txBody>
      </p:sp>
      <p:sp>
        <p:nvSpPr>
          <p:cNvPr id="303" name="Straight Connector 302"/>
          <p:cNvSpPr/>
          <p:nvPr/>
        </p:nvSpPr>
        <p:spPr>
          <a:xfrm>
            <a:off x="6430112" y="1508760"/>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154" name="Freeform 153"/>
          <p:cNvSpPr/>
          <p:nvPr/>
        </p:nvSpPr>
        <p:spPr>
          <a:xfrm>
            <a:off x="6368420" y="1097280"/>
            <a:ext cx="1063748" cy="823680"/>
          </a:xfrm>
          <a:custGeom>
            <a:avLst/>
            <a:gdLst/>
            <a:ahLst/>
            <a:cxnLst/>
            <a:rect l="0" t="0" r="r" b="b"/>
            <a:pathLst>
              <a:path w="3558" h="2288">
                <a:moveTo>
                  <a:pt x="0" y="0"/>
                </a:moveTo>
                <a:lnTo>
                  <a:pt x="3558" y="0"/>
                </a:lnTo>
                <a:lnTo>
                  <a:pt x="3558" y="2288"/>
                </a:lnTo>
                <a:lnTo>
                  <a:pt x="0" y="2288"/>
                </a:lnTo>
                <a:lnTo>
                  <a:pt x="0" y="0"/>
                </a:lnTo>
                <a:close/>
              </a:path>
            </a:pathLst>
          </a:custGeom>
          <a:solidFill>
            <a:srgbClr val="0691B2"/>
          </a:solidFill>
          <a:ln w="12600">
            <a:solidFill>
              <a:srgbClr val="0691B2"/>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155" name="TextBox 154"/>
          <p:cNvSpPr txBox="1"/>
          <p:nvPr/>
        </p:nvSpPr>
        <p:spPr>
          <a:xfrm>
            <a:off x="6450140" y="1097280"/>
            <a:ext cx="917508" cy="822960"/>
          </a:xfrm>
          <a:prstGeom prst="rect">
            <a:avLst/>
          </a:prstGeom>
          <a:noFill/>
          <a:ln w="0">
            <a:noFill/>
          </a:ln>
        </p:spPr>
        <p:txBody>
          <a:bodyPr lIns="90000" tIns="45000" rIns="90000" bIns="45000" anchor="t">
            <a:noAutofit/>
          </a:bodyPr>
          <a:lstStyle/>
          <a:p>
            <a:pPr algn="ctr"/>
            <a:r>
              <a:rPr lang="en-US" sz="900" b="1" strike="noStrike" spc="-1">
                <a:solidFill>
                  <a:srgbClr val="FFFFFF"/>
                </a:solidFill>
                <a:latin typeface="Calibri-Bold"/>
                <a:ea typeface="Calibri-Bold"/>
              </a:rPr>
              <a:t>GAP</a:t>
            </a:r>
            <a:endParaRPr lang="en-US" sz="900" b="0" strike="noStrike" spc="-1">
              <a:solidFill>
                <a:srgbClr val="000000"/>
              </a:solidFill>
              <a:latin typeface="Arial"/>
            </a:endParaRPr>
          </a:p>
          <a:p>
            <a:pPr algn="ctr"/>
            <a:r>
              <a:rPr lang="en-US" sz="900" b="1" strike="noStrike" spc="-1">
                <a:solidFill>
                  <a:srgbClr val="FFFFFF"/>
                </a:solidFill>
                <a:latin typeface="Calibri-Bold"/>
                <a:ea typeface="Calibri-Bold"/>
              </a:rPr>
              <a:t>+Dropout 0.4</a:t>
            </a:r>
            <a:endParaRPr lang="en-US" sz="900" b="0" strike="noStrike" spc="-1">
              <a:solidFill>
                <a:srgbClr val="000000"/>
              </a:solidFill>
              <a:latin typeface="Arial"/>
            </a:endParaRPr>
          </a:p>
        </p:txBody>
      </p:sp>
      <p:sp>
        <p:nvSpPr>
          <p:cNvPr id="156" name="Straight Connector 155"/>
          <p:cNvSpPr/>
          <p:nvPr/>
        </p:nvSpPr>
        <p:spPr>
          <a:xfrm>
            <a:off x="7649020" y="1508760"/>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157" name="Freeform 156"/>
          <p:cNvSpPr/>
          <p:nvPr/>
        </p:nvSpPr>
        <p:spPr>
          <a:xfrm>
            <a:off x="7587328" y="1097280"/>
            <a:ext cx="1063748" cy="823680"/>
          </a:xfrm>
          <a:custGeom>
            <a:avLst/>
            <a:gdLst/>
            <a:ahLst/>
            <a:cxnLst/>
            <a:rect l="0" t="0" r="r" b="b"/>
            <a:pathLst>
              <a:path w="3558" h="2288">
                <a:moveTo>
                  <a:pt x="0" y="0"/>
                </a:moveTo>
                <a:lnTo>
                  <a:pt x="3558" y="0"/>
                </a:lnTo>
                <a:lnTo>
                  <a:pt x="3558" y="2288"/>
                </a:lnTo>
                <a:lnTo>
                  <a:pt x="0" y="2288"/>
                </a:lnTo>
                <a:lnTo>
                  <a:pt x="0" y="0"/>
                </a:lnTo>
                <a:close/>
              </a:path>
            </a:pathLst>
          </a:custGeom>
          <a:solidFill>
            <a:srgbClr val="039667"/>
          </a:solidFill>
          <a:ln w="12600">
            <a:solidFill>
              <a:srgbClr val="039667"/>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158" name="TextBox 157"/>
          <p:cNvSpPr txBox="1"/>
          <p:nvPr/>
        </p:nvSpPr>
        <p:spPr>
          <a:xfrm>
            <a:off x="7669048" y="1097280"/>
            <a:ext cx="917508" cy="822960"/>
          </a:xfrm>
          <a:prstGeom prst="rect">
            <a:avLst/>
          </a:prstGeom>
          <a:noFill/>
          <a:ln w="0">
            <a:noFill/>
          </a:ln>
        </p:spPr>
        <p:txBody>
          <a:bodyPr lIns="90000" tIns="45000" rIns="90000" bIns="45000" anchor="t">
            <a:noAutofit/>
          </a:bodyPr>
          <a:lstStyle/>
          <a:p>
            <a:pPr algn="ctr"/>
            <a:r>
              <a:rPr lang="en-US" sz="900" b="1" strike="noStrike" spc="-1">
                <a:solidFill>
                  <a:srgbClr val="FFFFFF"/>
                </a:solidFill>
                <a:latin typeface="Calibri-Bold"/>
                <a:ea typeface="Calibri-Bold"/>
              </a:rPr>
              <a:t>FC</a:t>
            </a:r>
            <a:endParaRPr lang="en-US" sz="900" b="0" strike="noStrike" spc="-1">
              <a:solidFill>
                <a:srgbClr val="000000"/>
              </a:solidFill>
              <a:latin typeface="Arial"/>
            </a:endParaRPr>
          </a:p>
          <a:p>
            <a:pPr algn="ctr"/>
            <a:r>
              <a:rPr lang="en-US" sz="900" b="1" strike="noStrike" spc="-1">
                <a:solidFill>
                  <a:srgbClr val="FFFFFF"/>
                </a:solidFill>
                <a:latin typeface="Calibri-Bold"/>
                <a:ea typeface="Calibri-Bold"/>
              </a:rPr>
              <a:t>37 classes</a:t>
            </a:r>
            <a:endParaRPr lang="en-US" sz="900" b="0" strike="noStrike" spc="-1">
              <a:solidFill>
                <a:srgbClr val="000000"/>
              </a:solidFill>
              <a:latin typeface="Arial"/>
            </a:endParaRPr>
          </a:p>
        </p:txBody>
      </p:sp>
      <p:sp>
        <p:nvSpPr>
          <p:cNvPr id="159" name="Freeform 158"/>
          <p:cNvSpPr/>
          <p:nvPr/>
        </p:nvSpPr>
        <p:spPr>
          <a:xfrm>
            <a:off x="365760" y="2103120"/>
            <a:ext cx="4161240" cy="2698200"/>
          </a:xfrm>
          <a:custGeom>
            <a:avLst/>
            <a:gdLst/>
            <a:ahLst/>
            <a:cxnLst/>
            <a:rect l="0" t="0" r="r" b="b"/>
            <a:pathLst>
              <a:path w="11559" h="7495">
                <a:moveTo>
                  <a:pt x="0" y="0"/>
                </a:moveTo>
                <a:lnTo>
                  <a:pt x="11559" y="0"/>
                </a:lnTo>
                <a:lnTo>
                  <a:pt x="11559" y="7495"/>
                </a:lnTo>
                <a:lnTo>
                  <a:pt x="0" y="7495"/>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160" name="Freeform 159"/>
          <p:cNvSpPr/>
          <p:nvPr/>
        </p:nvSpPr>
        <p:spPr>
          <a:xfrm>
            <a:off x="365760" y="2103120"/>
            <a:ext cx="64800" cy="2698200"/>
          </a:xfrm>
          <a:custGeom>
            <a:avLst/>
            <a:gdLst/>
            <a:ahLst/>
            <a:cxnLst/>
            <a:rect l="0" t="0" r="r" b="b"/>
            <a:pathLst>
              <a:path w="180" h="7495">
                <a:moveTo>
                  <a:pt x="0" y="0"/>
                </a:moveTo>
                <a:lnTo>
                  <a:pt x="180" y="0"/>
                </a:lnTo>
                <a:lnTo>
                  <a:pt x="180" y="7495"/>
                </a:lnTo>
                <a:lnTo>
                  <a:pt x="0" y="7495"/>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161" name="TextBox 160"/>
          <p:cNvSpPr txBox="1"/>
          <p:nvPr/>
        </p:nvSpPr>
        <p:spPr>
          <a:xfrm>
            <a:off x="593640" y="2212920"/>
            <a:ext cx="3750480" cy="301680"/>
          </a:xfrm>
          <a:prstGeom prst="rect">
            <a:avLst/>
          </a:prstGeom>
          <a:noFill/>
          <a:ln w="0">
            <a:noFill/>
          </a:ln>
        </p:spPr>
        <p:txBody>
          <a:bodyPr lIns="90000" tIns="45000" rIns="90000" bIns="45000" anchor="t">
            <a:noAutofit/>
          </a:bodyPr>
          <a:lstStyle/>
          <a:p>
            <a:r>
              <a:rPr lang="en-US" sz="1300" b="1" strike="noStrike" spc="-1">
                <a:solidFill>
                  <a:srgbClr val="182C48"/>
                </a:solidFill>
                <a:latin typeface="Calibri-Bold"/>
                <a:ea typeface="Calibri-Bold"/>
              </a:rPr>
              <a:t>Training Configuration</a:t>
            </a:r>
            <a:endParaRPr lang="en-US" sz="1300" b="0" strike="noStrike" spc="-1">
              <a:solidFill>
                <a:srgbClr val="000000"/>
              </a:solidFill>
              <a:latin typeface="Arial"/>
            </a:endParaRPr>
          </a:p>
        </p:txBody>
      </p:sp>
      <p:sp>
        <p:nvSpPr>
          <p:cNvPr id="162" name="Freeform 161"/>
          <p:cNvSpPr/>
          <p:nvPr/>
        </p:nvSpPr>
        <p:spPr>
          <a:xfrm>
            <a:off x="502920" y="2624400"/>
            <a:ext cx="3886920" cy="302400"/>
          </a:xfrm>
          <a:custGeom>
            <a:avLst/>
            <a:gdLst/>
            <a:ahLst/>
            <a:cxnLst/>
            <a:rect l="0" t="0" r="r" b="b"/>
            <a:pathLst>
              <a:path w="10797" h="840">
                <a:moveTo>
                  <a:pt x="0" y="0"/>
                </a:moveTo>
                <a:lnTo>
                  <a:pt x="10797" y="0"/>
                </a:lnTo>
                <a:lnTo>
                  <a:pt x="10797"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163" name="TextBox 162"/>
          <p:cNvSpPr txBox="1"/>
          <p:nvPr/>
        </p:nvSpPr>
        <p:spPr>
          <a:xfrm>
            <a:off x="639360" y="2670120"/>
            <a:ext cx="1007280" cy="238320"/>
          </a:xfrm>
          <a:prstGeom prst="rect">
            <a:avLst/>
          </a:prstGeom>
          <a:noFill/>
          <a:ln w="0">
            <a:noFill/>
          </a:ln>
        </p:spPr>
        <p:txBody>
          <a:bodyPr lIns="90000" tIns="45000" rIns="90000" bIns="45000" anchor="t">
            <a:noAutofit/>
          </a:bodyPr>
          <a:lstStyle/>
          <a:p>
            <a:r>
              <a:rPr lang="en-US" sz="1000" b="1" strike="noStrike" spc="-1">
                <a:solidFill>
                  <a:srgbClr val="2361EB"/>
                </a:solidFill>
                <a:latin typeface="Calibri-Bold"/>
                <a:ea typeface="Calibri-Bold"/>
              </a:rPr>
              <a:t>Optimizer</a:t>
            </a:r>
            <a:endParaRPr lang="en-US" sz="1000" b="0" strike="noStrike" spc="-1">
              <a:solidFill>
                <a:srgbClr val="000000"/>
              </a:solidFill>
              <a:latin typeface="Arial"/>
            </a:endParaRPr>
          </a:p>
        </p:txBody>
      </p:sp>
      <p:sp>
        <p:nvSpPr>
          <p:cNvPr id="164" name="TextBox 163"/>
          <p:cNvSpPr txBox="1"/>
          <p:nvPr/>
        </p:nvSpPr>
        <p:spPr>
          <a:xfrm>
            <a:off x="1828080" y="2670120"/>
            <a:ext cx="242460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AdamW  (lr=0.001, weight_decay=5e-4)</a:t>
            </a:r>
            <a:endParaRPr lang="en-US" sz="1000" b="0" strike="noStrike" spc="-1">
              <a:solidFill>
                <a:srgbClr val="000000"/>
              </a:solidFill>
              <a:latin typeface="Arial"/>
            </a:endParaRPr>
          </a:p>
        </p:txBody>
      </p:sp>
      <p:sp>
        <p:nvSpPr>
          <p:cNvPr id="165" name="Freeform 164"/>
          <p:cNvSpPr/>
          <p:nvPr/>
        </p:nvSpPr>
        <p:spPr>
          <a:xfrm>
            <a:off x="502920" y="2962800"/>
            <a:ext cx="3886920" cy="302400"/>
          </a:xfrm>
          <a:custGeom>
            <a:avLst/>
            <a:gdLst/>
            <a:ahLst/>
            <a:cxnLst/>
            <a:rect l="0" t="0" r="r" b="b"/>
            <a:pathLst>
              <a:path w="10797" h="840">
                <a:moveTo>
                  <a:pt x="0" y="0"/>
                </a:moveTo>
                <a:lnTo>
                  <a:pt x="10797" y="0"/>
                </a:lnTo>
                <a:lnTo>
                  <a:pt x="10797"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166" name="TextBox 165"/>
          <p:cNvSpPr txBox="1"/>
          <p:nvPr/>
        </p:nvSpPr>
        <p:spPr>
          <a:xfrm>
            <a:off x="639360" y="3008520"/>
            <a:ext cx="1007280" cy="238320"/>
          </a:xfrm>
          <a:prstGeom prst="rect">
            <a:avLst/>
          </a:prstGeom>
          <a:noFill/>
          <a:ln w="0">
            <a:noFill/>
          </a:ln>
        </p:spPr>
        <p:txBody>
          <a:bodyPr lIns="90000" tIns="45000" rIns="90000" bIns="45000" anchor="t">
            <a:noAutofit/>
          </a:bodyPr>
          <a:lstStyle/>
          <a:p>
            <a:r>
              <a:rPr lang="en-US" sz="1000" b="1" strike="noStrike" spc="-1">
                <a:solidFill>
                  <a:srgbClr val="2361EB"/>
                </a:solidFill>
                <a:latin typeface="Calibri-Bold"/>
                <a:ea typeface="Calibri-Bold"/>
              </a:rPr>
              <a:t>Schedule</a:t>
            </a:r>
            <a:endParaRPr lang="en-US" sz="1000" b="0" strike="noStrike" spc="-1">
              <a:solidFill>
                <a:srgbClr val="000000"/>
              </a:solidFill>
              <a:latin typeface="Arial"/>
            </a:endParaRPr>
          </a:p>
        </p:txBody>
      </p:sp>
      <p:sp>
        <p:nvSpPr>
          <p:cNvPr id="167" name="TextBox 166"/>
          <p:cNvSpPr txBox="1"/>
          <p:nvPr/>
        </p:nvSpPr>
        <p:spPr>
          <a:xfrm>
            <a:off x="1828080" y="3008520"/>
            <a:ext cx="242460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Warmup 5ep + Cosine Annealing LR</a:t>
            </a:r>
            <a:endParaRPr lang="en-US" sz="1000" b="0" strike="noStrike" spc="-1">
              <a:solidFill>
                <a:srgbClr val="000000"/>
              </a:solidFill>
              <a:latin typeface="Arial"/>
            </a:endParaRPr>
          </a:p>
        </p:txBody>
      </p:sp>
      <p:sp>
        <p:nvSpPr>
          <p:cNvPr id="168" name="Freeform 167"/>
          <p:cNvSpPr/>
          <p:nvPr/>
        </p:nvSpPr>
        <p:spPr>
          <a:xfrm>
            <a:off x="502920" y="3300840"/>
            <a:ext cx="3886920" cy="302400"/>
          </a:xfrm>
          <a:custGeom>
            <a:avLst/>
            <a:gdLst/>
            <a:ahLst/>
            <a:cxnLst/>
            <a:rect l="0" t="0" r="r" b="b"/>
            <a:pathLst>
              <a:path w="10797" h="840">
                <a:moveTo>
                  <a:pt x="0" y="0"/>
                </a:moveTo>
                <a:lnTo>
                  <a:pt x="10797" y="0"/>
                </a:lnTo>
                <a:lnTo>
                  <a:pt x="10797"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169" name="TextBox 168"/>
          <p:cNvSpPr txBox="1"/>
          <p:nvPr/>
        </p:nvSpPr>
        <p:spPr>
          <a:xfrm>
            <a:off x="639360" y="3346560"/>
            <a:ext cx="1007280" cy="238320"/>
          </a:xfrm>
          <a:prstGeom prst="rect">
            <a:avLst/>
          </a:prstGeom>
          <a:noFill/>
          <a:ln w="0">
            <a:noFill/>
          </a:ln>
        </p:spPr>
        <p:txBody>
          <a:bodyPr lIns="90000" tIns="45000" rIns="90000" bIns="45000" anchor="t">
            <a:noAutofit/>
          </a:bodyPr>
          <a:lstStyle/>
          <a:p>
            <a:r>
              <a:rPr lang="en-US" sz="1000" b="1" strike="noStrike" spc="-1">
                <a:solidFill>
                  <a:srgbClr val="2361EB"/>
                </a:solidFill>
                <a:latin typeface="Calibri-Bold"/>
                <a:ea typeface="Calibri-Bold"/>
              </a:rPr>
              <a:t>Epochs</a:t>
            </a:r>
            <a:endParaRPr lang="en-US" sz="1000" b="0" strike="noStrike" spc="-1">
              <a:solidFill>
                <a:srgbClr val="000000"/>
              </a:solidFill>
              <a:latin typeface="Arial"/>
            </a:endParaRPr>
          </a:p>
        </p:txBody>
      </p:sp>
      <p:sp>
        <p:nvSpPr>
          <p:cNvPr id="170" name="TextBox 169"/>
          <p:cNvSpPr txBox="1"/>
          <p:nvPr/>
        </p:nvSpPr>
        <p:spPr>
          <a:xfrm>
            <a:off x="1828080" y="3346560"/>
            <a:ext cx="242460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100</a:t>
            </a:r>
            <a:endParaRPr lang="en-US" sz="1000" b="0" strike="noStrike" spc="-1">
              <a:solidFill>
                <a:srgbClr val="000000"/>
              </a:solidFill>
              <a:latin typeface="Arial"/>
            </a:endParaRPr>
          </a:p>
        </p:txBody>
      </p:sp>
      <p:sp>
        <p:nvSpPr>
          <p:cNvPr id="171" name="Freeform 170"/>
          <p:cNvSpPr/>
          <p:nvPr/>
        </p:nvSpPr>
        <p:spPr>
          <a:xfrm>
            <a:off x="502920" y="3639240"/>
            <a:ext cx="3886920" cy="302400"/>
          </a:xfrm>
          <a:custGeom>
            <a:avLst/>
            <a:gdLst/>
            <a:ahLst/>
            <a:cxnLst/>
            <a:rect l="0" t="0" r="r" b="b"/>
            <a:pathLst>
              <a:path w="10797" h="840">
                <a:moveTo>
                  <a:pt x="0" y="0"/>
                </a:moveTo>
                <a:lnTo>
                  <a:pt x="10797" y="0"/>
                </a:lnTo>
                <a:lnTo>
                  <a:pt x="10797"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172" name="TextBox 171"/>
          <p:cNvSpPr txBox="1"/>
          <p:nvPr/>
        </p:nvSpPr>
        <p:spPr>
          <a:xfrm>
            <a:off x="639360" y="3684960"/>
            <a:ext cx="1007280" cy="238320"/>
          </a:xfrm>
          <a:prstGeom prst="rect">
            <a:avLst/>
          </a:prstGeom>
          <a:noFill/>
          <a:ln w="0">
            <a:noFill/>
          </a:ln>
        </p:spPr>
        <p:txBody>
          <a:bodyPr lIns="90000" tIns="45000" rIns="90000" bIns="45000" anchor="t">
            <a:noAutofit/>
          </a:bodyPr>
          <a:lstStyle/>
          <a:p>
            <a:r>
              <a:rPr lang="en-US" sz="1000" b="1" strike="noStrike" spc="-1">
                <a:solidFill>
                  <a:srgbClr val="2361EB"/>
                </a:solidFill>
                <a:latin typeface="Calibri-Bold"/>
                <a:ea typeface="Calibri-Bold"/>
              </a:rPr>
              <a:t>Batch size</a:t>
            </a:r>
            <a:endParaRPr lang="en-US" sz="1000" b="0" strike="noStrike" spc="-1">
              <a:solidFill>
                <a:srgbClr val="000000"/>
              </a:solidFill>
              <a:latin typeface="Arial"/>
            </a:endParaRPr>
          </a:p>
        </p:txBody>
      </p:sp>
      <p:sp>
        <p:nvSpPr>
          <p:cNvPr id="173" name="TextBox 172"/>
          <p:cNvSpPr txBox="1"/>
          <p:nvPr/>
        </p:nvSpPr>
        <p:spPr>
          <a:xfrm>
            <a:off x="1828080" y="3684960"/>
            <a:ext cx="242460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32</a:t>
            </a:r>
            <a:endParaRPr lang="en-US" sz="1000" b="0" strike="noStrike" spc="-1">
              <a:solidFill>
                <a:srgbClr val="000000"/>
              </a:solidFill>
              <a:latin typeface="Arial"/>
            </a:endParaRPr>
          </a:p>
        </p:txBody>
      </p:sp>
      <p:sp>
        <p:nvSpPr>
          <p:cNvPr id="174" name="Freeform 173"/>
          <p:cNvSpPr/>
          <p:nvPr/>
        </p:nvSpPr>
        <p:spPr>
          <a:xfrm>
            <a:off x="502920" y="3977640"/>
            <a:ext cx="3886920" cy="302400"/>
          </a:xfrm>
          <a:custGeom>
            <a:avLst/>
            <a:gdLst/>
            <a:ahLst/>
            <a:cxnLst/>
            <a:rect l="0" t="0" r="r" b="b"/>
            <a:pathLst>
              <a:path w="10797" h="840">
                <a:moveTo>
                  <a:pt x="0" y="0"/>
                </a:moveTo>
                <a:lnTo>
                  <a:pt x="10797" y="0"/>
                </a:lnTo>
                <a:lnTo>
                  <a:pt x="10797"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175" name="TextBox 174"/>
          <p:cNvSpPr txBox="1"/>
          <p:nvPr/>
        </p:nvSpPr>
        <p:spPr>
          <a:xfrm>
            <a:off x="639360" y="4023360"/>
            <a:ext cx="1007280" cy="238320"/>
          </a:xfrm>
          <a:prstGeom prst="rect">
            <a:avLst/>
          </a:prstGeom>
          <a:noFill/>
          <a:ln w="0">
            <a:noFill/>
          </a:ln>
        </p:spPr>
        <p:txBody>
          <a:bodyPr lIns="90000" tIns="45000" rIns="90000" bIns="45000" anchor="t">
            <a:noAutofit/>
          </a:bodyPr>
          <a:lstStyle/>
          <a:p>
            <a:r>
              <a:rPr lang="en-US" sz="1000" b="1" strike="noStrike" spc="-1">
                <a:solidFill>
                  <a:srgbClr val="2361EB"/>
                </a:solidFill>
                <a:latin typeface="Calibri-Bold"/>
                <a:ea typeface="Calibri-Bold"/>
              </a:rPr>
              <a:t>Loss</a:t>
            </a:r>
            <a:endParaRPr lang="en-US" sz="1000" b="0" strike="noStrike" spc="-1">
              <a:solidFill>
                <a:srgbClr val="000000"/>
              </a:solidFill>
              <a:latin typeface="Arial"/>
            </a:endParaRPr>
          </a:p>
        </p:txBody>
      </p:sp>
      <p:sp>
        <p:nvSpPr>
          <p:cNvPr id="176" name="TextBox 175"/>
          <p:cNvSpPr txBox="1"/>
          <p:nvPr/>
        </p:nvSpPr>
        <p:spPr>
          <a:xfrm>
            <a:off x="1828080" y="4023360"/>
            <a:ext cx="242460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CrossEntropy</a:t>
            </a:r>
            <a:endParaRPr lang="en-US" sz="1000" b="0" strike="noStrike" spc="-1">
              <a:solidFill>
                <a:srgbClr val="000000"/>
              </a:solidFill>
              <a:latin typeface="Arial"/>
            </a:endParaRPr>
          </a:p>
        </p:txBody>
      </p:sp>
      <p:sp>
        <p:nvSpPr>
          <p:cNvPr id="177" name="Freeform 176"/>
          <p:cNvSpPr/>
          <p:nvPr/>
        </p:nvSpPr>
        <p:spPr>
          <a:xfrm>
            <a:off x="502920" y="4316040"/>
            <a:ext cx="3886920" cy="302400"/>
          </a:xfrm>
          <a:custGeom>
            <a:avLst/>
            <a:gdLst/>
            <a:ahLst/>
            <a:cxnLst/>
            <a:rect l="0" t="0" r="r" b="b"/>
            <a:pathLst>
              <a:path w="10797" h="840">
                <a:moveTo>
                  <a:pt x="0" y="0"/>
                </a:moveTo>
                <a:lnTo>
                  <a:pt x="10797" y="0"/>
                </a:lnTo>
                <a:lnTo>
                  <a:pt x="10797"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178" name="TextBox 177"/>
          <p:cNvSpPr txBox="1"/>
          <p:nvPr/>
        </p:nvSpPr>
        <p:spPr>
          <a:xfrm>
            <a:off x="639360" y="4361760"/>
            <a:ext cx="1007280" cy="238320"/>
          </a:xfrm>
          <a:prstGeom prst="rect">
            <a:avLst/>
          </a:prstGeom>
          <a:noFill/>
          <a:ln w="0">
            <a:noFill/>
          </a:ln>
        </p:spPr>
        <p:txBody>
          <a:bodyPr lIns="90000" tIns="45000" rIns="90000" bIns="45000" anchor="t">
            <a:noAutofit/>
          </a:bodyPr>
          <a:lstStyle/>
          <a:p>
            <a:r>
              <a:rPr lang="en-US" sz="1000" b="1" strike="noStrike" spc="-1">
                <a:solidFill>
                  <a:srgbClr val="2361EB"/>
                </a:solidFill>
                <a:latin typeface="Calibri-Bold"/>
                <a:ea typeface="Calibri-Bold"/>
              </a:rPr>
              <a:t>Regulariz.</a:t>
            </a:r>
            <a:endParaRPr lang="en-US" sz="1000" b="0" strike="noStrike" spc="-1">
              <a:solidFill>
                <a:srgbClr val="000000"/>
              </a:solidFill>
              <a:latin typeface="Arial"/>
            </a:endParaRPr>
          </a:p>
        </p:txBody>
      </p:sp>
      <p:sp>
        <p:nvSpPr>
          <p:cNvPr id="179" name="TextBox 178"/>
          <p:cNvSpPr txBox="1"/>
          <p:nvPr/>
        </p:nvSpPr>
        <p:spPr>
          <a:xfrm>
            <a:off x="1828080" y="4361760"/>
            <a:ext cx="242460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Dropout p=0.4 + BatchNorm</a:t>
            </a:r>
            <a:endParaRPr lang="en-US" sz="1000" b="0" strike="noStrike" spc="-1">
              <a:solidFill>
                <a:srgbClr val="000000"/>
              </a:solidFill>
              <a:latin typeface="Arial"/>
            </a:endParaRPr>
          </a:p>
        </p:txBody>
      </p:sp>
      <p:sp>
        <p:nvSpPr>
          <p:cNvPr id="180" name="Freeform 179"/>
          <p:cNvSpPr/>
          <p:nvPr/>
        </p:nvSpPr>
        <p:spPr>
          <a:xfrm>
            <a:off x="4709160" y="2103120"/>
            <a:ext cx="4069800" cy="2698200"/>
          </a:xfrm>
          <a:custGeom>
            <a:avLst/>
            <a:gdLst/>
            <a:ahLst/>
            <a:cxnLst/>
            <a:rect l="0" t="0" r="r" b="b"/>
            <a:pathLst>
              <a:path w="11305" h="7495">
                <a:moveTo>
                  <a:pt x="0" y="0"/>
                </a:moveTo>
                <a:lnTo>
                  <a:pt x="11305" y="0"/>
                </a:lnTo>
                <a:lnTo>
                  <a:pt x="11305" y="7495"/>
                </a:lnTo>
                <a:lnTo>
                  <a:pt x="0" y="7495"/>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181" name="Freeform 180"/>
          <p:cNvSpPr/>
          <p:nvPr/>
        </p:nvSpPr>
        <p:spPr>
          <a:xfrm>
            <a:off x="4709160" y="2103120"/>
            <a:ext cx="64800" cy="2698200"/>
          </a:xfrm>
          <a:custGeom>
            <a:avLst/>
            <a:gdLst/>
            <a:ahLst/>
            <a:cxnLst/>
            <a:rect l="0" t="0" r="r" b="b"/>
            <a:pathLst>
              <a:path w="180" h="7495">
                <a:moveTo>
                  <a:pt x="0" y="0"/>
                </a:moveTo>
                <a:lnTo>
                  <a:pt x="180" y="0"/>
                </a:lnTo>
                <a:lnTo>
                  <a:pt x="180" y="7495"/>
                </a:lnTo>
                <a:lnTo>
                  <a:pt x="0" y="7495"/>
                </a:lnTo>
                <a:lnTo>
                  <a:pt x="0" y="0"/>
                </a:lnTo>
                <a:close/>
              </a:path>
            </a:pathLst>
          </a:custGeom>
          <a:solidFill>
            <a:srgbClr val="0691B2"/>
          </a:solidFill>
          <a:ln w="12600">
            <a:solidFill>
              <a:srgbClr val="0691B2"/>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182" name="TextBox 181"/>
          <p:cNvSpPr txBox="1"/>
          <p:nvPr/>
        </p:nvSpPr>
        <p:spPr>
          <a:xfrm>
            <a:off x="4937040" y="2212920"/>
            <a:ext cx="3659040" cy="301680"/>
          </a:xfrm>
          <a:prstGeom prst="rect">
            <a:avLst/>
          </a:prstGeom>
          <a:noFill/>
          <a:ln w="0">
            <a:noFill/>
          </a:ln>
        </p:spPr>
        <p:txBody>
          <a:bodyPr lIns="90000" tIns="45000" rIns="90000" bIns="45000" anchor="t">
            <a:noAutofit/>
          </a:bodyPr>
          <a:lstStyle/>
          <a:p>
            <a:r>
              <a:rPr lang="en-US" sz="1300" b="1" strike="noStrike" spc="-1">
                <a:solidFill>
                  <a:srgbClr val="182C48"/>
                </a:solidFill>
                <a:latin typeface="Calibri-Bold"/>
                <a:ea typeface="Calibri-Bold"/>
              </a:rPr>
              <a:t>Architecture Detail</a:t>
            </a:r>
            <a:endParaRPr lang="en-US" sz="1300" b="0" strike="noStrike" spc="-1">
              <a:solidFill>
                <a:srgbClr val="000000"/>
              </a:solidFill>
              <a:latin typeface="Arial"/>
            </a:endParaRPr>
          </a:p>
        </p:txBody>
      </p:sp>
      <p:sp>
        <p:nvSpPr>
          <p:cNvPr id="183" name="Freeform 182"/>
          <p:cNvSpPr/>
          <p:nvPr/>
        </p:nvSpPr>
        <p:spPr>
          <a:xfrm>
            <a:off x="4846320" y="2624400"/>
            <a:ext cx="3795480" cy="302400"/>
          </a:xfrm>
          <a:custGeom>
            <a:avLst/>
            <a:gdLst/>
            <a:ahLst/>
            <a:cxnLst/>
            <a:rect l="0" t="0" r="r" b="b"/>
            <a:pathLst>
              <a:path w="10543" h="840">
                <a:moveTo>
                  <a:pt x="0" y="0"/>
                </a:moveTo>
                <a:lnTo>
                  <a:pt x="10543" y="0"/>
                </a:lnTo>
                <a:lnTo>
                  <a:pt x="10543"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184" name="TextBox 183"/>
          <p:cNvSpPr txBox="1"/>
          <p:nvPr/>
        </p:nvSpPr>
        <p:spPr>
          <a:xfrm>
            <a:off x="4982760" y="2670120"/>
            <a:ext cx="915840" cy="386280"/>
          </a:xfrm>
          <a:prstGeom prst="rect">
            <a:avLst/>
          </a:prstGeom>
          <a:noFill/>
          <a:ln w="0">
            <a:noFill/>
          </a:ln>
        </p:spPr>
        <p:txBody>
          <a:bodyPr lIns="90000" tIns="45000" rIns="90000" bIns="45000" anchor="t">
            <a:noAutofit/>
          </a:bodyPr>
          <a:lstStyle/>
          <a:p>
            <a:r>
              <a:rPr lang="en-US" sz="1000" b="1" strike="noStrike" spc="-1">
                <a:solidFill>
                  <a:srgbClr val="0691B2"/>
                </a:solidFill>
                <a:latin typeface="Calibri-Bold"/>
                <a:ea typeface="Calibri-Bold"/>
              </a:rPr>
              <a:t>Conv Block</a:t>
            </a:r>
            <a:endParaRPr lang="en-US" sz="1000" b="0" strike="noStrike" spc="-1">
              <a:solidFill>
                <a:srgbClr val="000000"/>
              </a:solidFill>
              <a:latin typeface="Arial"/>
            </a:endParaRPr>
          </a:p>
        </p:txBody>
      </p:sp>
      <p:sp>
        <p:nvSpPr>
          <p:cNvPr id="185" name="TextBox 184"/>
          <p:cNvSpPr txBox="1"/>
          <p:nvPr/>
        </p:nvSpPr>
        <p:spPr>
          <a:xfrm>
            <a:off x="6080040" y="2670120"/>
            <a:ext cx="2424600" cy="244440"/>
          </a:xfrm>
          <a:prstGeom prst="rect">
            <a:avLst/>
          </a:prstGeom>
          <a:noFill/>
          <a:ln w="0">
            <a:noFill/>
          </a:ln>
        </p:spPr>
        <p:txBody>
          <a:bodyPr lIns="90000" tIns="45000" rIns="90000" bIns="45000" anchor="t">
            <a:noAutofit/>
          </a:bodyPr>
          <a:lstStyle/>
          <a:p>
            <a:r>
              <a:rPr lang="en-US" sz="800" b="0" strike="noStrike" spc="-1" dirty="0">
                <a:solidFill>
                  <a:srgbClr val="1C2739"/>
                </a:solidFill>
                <a:latin typeface="Calibri"/>
                <a:ea typeface="Calibri"/>
              </a:rPr>
              <a:t>Conv2d→BN→ReLU→Conv2d→BN→ReLU→MaxPool</a:t>
            </a:r>
            <a:endParaRPr lang="en-US" sz="800" b="0" strike="noStrike" spc="-1" dirty="0">
              <a:solidFill>
                <a:srgbClr val="000000"/>
              </a:solidFill>
              <a:latin typeface="Arial"/>
            </a:endParaRPr>
          </a:p>
        </p:txBody>
      </p:sp>
      <p:sp>
        <p:nvSpPr>
          <p:cNvPr id="186" name="Freeform 185"/>
          <p:cNvSpPr/>
          <p:nvPr/>
        </p:nvSpPr>
        <p:spPr>
          <a:xfrm>
            <a:off x="4846320" y="2962800"/>
            <a:ext cx="3795480" cy="302400"/>
          </a:xfrm>
          <a:custGeom>
            <a:avLst/>
            <a:gdLst/>
            <a:ahLst/>
            <a:cxnLst/>
            <a:rect l="0" t="0" r="r" b="b"/>
            <a:pathLst>
              <a:path w="10543" h="840">
                <a:moveTo>
                  <a:pt x="0" y="0"/>
                </a:moveTo>
                <a:lnTo>
                  <a:pt x="10543" y="0"/>
                </a:lnTo>
                <a:lnTo>
                  <a:pt x="10543"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187" name="TextBox 186"/>
          <p:cNvSpPr txBox="1"/>
          <p:nvPr/>
        </p:nvSpPr>
        <p:spPr>
          <a:xfrm>
            <a:off x="4982760" y="3008520"/>
            <a:ext cx="915840" cy="238320"/>
          </a:xfrm>
          <a:prstGeom prst="rect">
            <a:avLst/>
          </a:prstGeom>
          <a:noFill/>
          <a:ln w="0">
            <a:noFill/>
          </a:ln>
        </p:spPr>
        <p:txBody>
          <a:bodyPr lIns="90000" tIns="45000" rIns="90000" bIns="45000" anchor="t">
            <a:noAutofit/>
          </a:bodyPr>
          <a:lstStyle/>
          <a:p>
            <a:r>
              <a:rPr lang="en-US" sz="1000" b="1" strike="noStrike" spc="-1">
                <a:solidFill>
                  <a:srgbClr val="0691B2"/>
                </a:solidFill>
                <a:latin typeface="Calibri-Bold"/>
                <a:ea typeface="Calibri-Bold"/>
              </a:rPr>
              <a:t>4× blocks</a:t>
            </a:r>
            <a:endParaRPr lang="en-US" sz="1000" b="0" strike="noStrike" spc="-1">
              <a:solidFill>
                <a:srgbClr val="000000"/>
              </a:solidFill>
              <a:latin typeface="Arial"/>
            </a:endParaRPr>
          </a:p>
        </p:txBody>
      </p:sp>
      <p:sp>
        <p:nvSpPr>
          <p:cNvPr id="188" name="TextBox 187"/>
          <p:cNvSpPr txBox="1"/>
          <p:nvPr/>
        </p:nvSpPr>
        <p:spPr>
          <a:xfrm>
            <a:off x="6080040" y="3008520"/>
            <a:ext cx="242460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Growing channels per block</a:t>
            </a:r>
            <a:endParaRPr lang="en-US" sz="1000" b="0" strike="noStrike" spc="-1">
              <a:solidFill>
                <a:srgbClr val="000000"/>
              </a:solidFill>
              <a:latin typeface="Arial"/>
            </a:endParaRPr>
          </a:p>
        </p:txBody>
      </p:sp>
      <p:sp>
        <p:nvSpPr>
          <p:cNvPr id="189" name="Freeform 188"/>
          <p:cNvSpPr/>
          <p:nvPr/>
        </p:nvSpPr>
        <p:spPr>
          <a:xfrm>
            <a:off x="4846320" y="3300840"/>
            <a:ext cx="3795480" cy="302400"/>
          </a:xfrm>
          <a:custGeom>
            <a:avLst/>
            <a:gdLst/>
            <a:ahLst/>
            <a:cxnLst/>
            <a:rect l="0" t="0" r="r" b="b"/>
            <a:pathLst>
              <a:path w="10543" h="840">
                <a:moveTo>
                  <a:pt x="0" y="0"/>
                </a:moveTo>
                <a:lnTo>
                  <a:pt x="10543" y="0"/>
                </a:lnTo>
                <a:lnTo>
                  <a:pt x="10543"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190" name="TextBox 189"/>
          <p:cNvSpPr txBox="1"/>
          <p:nvPr/>
        </p:nvSpPr>
        <p:spPr>
          <a:xfrm>
            <a:off x="4982760" y="3346560"/>
            <a:ext cx="915840" cy="238320"/>
          </a:xfrm>
          <a:prstGeom prst="rect">
            <a:avLst/>
          </a:prstGeom>
          <a:noFill/>
          <a:ln w="0">
            <a:noFill/>
          </a:ln>
        </p:spPr>
        <p:txBody>
          <a:bodyPr lIns="90000" tIns="45000" rIns="90000" bIns="45000" anchor="t">
            <a:noAutofit/>
          </a:bodyPr>
          <a:lstStyle/>
          <a:p>
            <a:r>
              <a:rPr lang="en-US" sz="1000" b="1" strike="noStrike" spc="-1">
                <a:solidFill>
                  <a:srgbClr val="0691B2"/>
                </a:solidFill>
                <a:latin typeface="Calibri-Bold"/>
                <a:ea typeface="Calibri-Bold"/>
              </a:rPr>
              <a:t>GAP</a:t>
            </a:r>
            <a:endParaRPr lang="en-US" sz="1000" b="0" strike="noStrike" spc="-1">
              <a:solidFill>
                <a:srgbClr val="000000"/>
              </a:solidFill>
              <a:latin typeface="Arial"/>
            </a:endParaRPr>
          </a:p>
        </p:txBody>
      </p:sp>
      <p:sp>
        <p:nvSpPr>
          <p:cNvPr id="191" name="TextBox 190"/>
          <p:cNvSpPr txBox="1"/>
          <p:nvPr/>
        </p:nvSpPr>
        <p:spPr>
          <a:xfrm>
            <a:off x="6080040" y="3346560"/>
            <a:ext cx="242460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Global Average Pooling (anti-overfit)</a:t>
            </a:r>
            <a:endParaRPr lang="en-US" sz="1000" b="0" strike="noStrike" spc="-1">
              <a:solidFill>
                <a:srgbClr val="000000"/>
              </a:solidFill>
              <a:latin typeface="Arial"/>
            </a:endParaRPr>
          </a:p>
        </p:txBody>
      </p:sp>
      <p:sp>
        <p:nvSpPr>
          <p:cNvPr id="192" name="Freeform 191"/>
          <p:cNvSpPr/>
          <p:nvPr/>
        </p:nvSpPr>
        <p:spPr>
          <a:xfrm>
            <a:off x="4846320" y="3639240"/>
            <a:ext cx="3795480" cy="302400"/>
          </a:xfrm>
          <a:custGeom>
            <a:avLst/>
            <a:gdLst/>
            <a:ahLst/>
            <a:cxnLst/>
            <a:rect l="0" t="0" r="r" b="b"/>
            <a:pathLst>
              <a:path w="10543" h="840">
                <a:moveTo>
                  <a:pt x="0" y="0"/>
                </a:moveTo>
                <a:lnTo>
                  <a:pt x="10543" y="0"/>
                </a:lnTo>
                <a:lnTo>
                  <a:pt x="10543"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193" name="TextBox 192"/>
          <p:cNvSpPr txBox="1"/>
          <p:nvPr/>
        </p:nvSpPr>
        <p:spPr>
          <a:xfrm>
            <a:off x="4982760" y="3684960"/>
            <a:ext cx="915840" cy="238320"/>
          </a:xfrm>
          <a:prstGeom prst="rect">
            <a:avLst/>
          </a:prstGeom>
          <a:noFill/>
          <a:ln w="0">
            <a:noFill/>
          </a:ln>
        </p:spPr>
        <p:txBody>
          <a:bodyPr lIns="90000" tIns="45000" rIns="90000" bIns="45000" anchor="t">
            <a:noAutofit/>
          </a:bodyPr>
          <a:lstStyle/>
          <a:p>
            <a:r>
              <a:rPr lang="en-US" sz="1000" b="1" strike="noStrike" spc="-1">
                <a:solidFill>
                  <a:srgbClr val="0691B2"/>
                </a:solidFill>
                <a:latin typeface="Calibri-Bold"/>
                <a:ea typeface="Calibri-Bold"/>
              </a:rPr>
              <a:t>Dropout</a:t>
            </a:r>
            <a:endParaRPr lang="en-US" sz="1000" b="0" strike="noStrike" spc="-1">
              <a:solidFill>
                <a:srgbClr val="000000"/>
              </a:solidFill>
              <a:latin typeface="Arial"/>
            </a:endParaRPr>
          </a:p>
        </p:txBody>
      </p:sp>
      <p:sp>
        <p:nvSpPr>
          <p:cNvPr id="194" name="TextBox 193"/>
          <p:cNvSpPr txBox="1"/>
          <p:nvPr/>
        </p:nvSpPr>
        <p:spPr>
          <a:xfrm>
            <a:off x="6080040" y="3684960"/>
            <a:ext cx="242460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p=0.4 before the final layer</a:t>
            </a:r>
            <a:endParaRPr lang="en-US" sz="1000" b="0" strike="noStrike" spc="-1">
              <a:solidFill>
                <a:srgbClr val="000000"/>
              </a:solidFill>
              <a:latin typeface="Arial"/>
            </a:endParaRPr>
          </a:p>
        </p:txBody>
      </p:sp>
      <p:sp>
        <p:nvSpPr>
          <p:cNvPr id="195" name="Freeform 194"/>
          <p:cNvSpPr/>
          <p:nvPr/>
        </p:nvSpPr>
        <p:spPr>
          <a:xfrm>
            <a:off x="4846320" y="3977640"/>
            <a:ext cx="3795480" cy="302400"/>
          </a:xfrm>
          <a:custGeom>
            <a:avLst/>
            <a:gdLst/>
            <a:ahLst/>
            <a:cxnLst/>
            <a:rect l="0" t="0" r="r" b="b"/>
            <a:pathLst>
              <a:path w="10543" h="840">
                <a:moveTo>
                  <a:pt x="0" y="0"/>
                </a:moveTo>
                <a:lnTo>
                  <a:pt x="10543" y="0"/>
                </a:lnTo>
                <a:lnTo>
                  <a:pt x="10543"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196" name="TextBox 195"/>
          <p:cNvSpPr txBox="1"/>
          <p:nvPr/>
        </p:nvSpPr>
        <p:spPr>
          <a:xfrm>
            <a:off x="4982760" y="4023360"/>
            <a:ext cx="915840" cy="238320"/>
          </a:xfrm>
          <a:prstGeom prst="rect">
            <a:avLst/>
          </a:prstGeom>
          <a:noFill/>
          <a:ln w="0">
            <a:noFill/>
          </a:ln>
        </p:spPr>
        <p:txBody>
          <a:bodyPr lIns="90000" tIns="45000" rIns="90000" bIns="45000" anchor="t">
            <a:noAutofit/>
          </a:bodyPr>
          <a:lstStyle/>
          <a:p>
            <a:r>
              <a:rPr lang="en-US" sz="1000" b="1" strike="noStrike" spc="-1">
                <a:solidFill>
                  <a:srgbClr val="0691B2"/>
                </a:solidFill>
                <a:latin typeface="Calibri-Bold"/>
                <a:ea typeface="Calibri-Bold"/>
              </a:rPr>
              <a:t>Output</a:t>
            </a:r>
            <a:endParaRPr lang="en-US" sz="1000" b="0" strike="noStrike" spc="-1">
              <a:solidFill>
                <a:srgbClr val="000000"/>
              </a:solidFill>
              <a:latin typeface="Arial"/>
            </a:endParaRPr>
          </a:p>
        </p:txBody>
      </p:sp>
      <p:sp>
        <p:nvSpPr>
          <p:cNvPr id="197" name="TextBox 196"/>
          <p:cNvSpPr txBox="1"/>
          <p:nvPr/>
        </p:nvSpPr>
        <p:spPr>
          <a:xfrm>
            <a:off x="6080040" y="4023360"/>
            <a:ext cx="242460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FC Linear → 37 classes</a:t>
            </a:r>
            <a:endParaRPr lang="en-US" sz="1000" b="0" strike="noStrike" spc="-1">
              <a:solidFill>
                <a:srgbClr val="000000"/>
              </a:solidFill>
              <a:latin typeface="Arial"/>
            </a:endParaRPr>
          </a:p>
        </p:txBody>
      </p:sp>
      <p:sp>
        <p:nvSpPr>
          <p:cNvPr id="198" name="Freeform 197"/>
          <p:cNvSpPr/>
          <p:nvPr/>
        </p:nvSpPr>
        <p:spPr>
          <a:xfrm>
            <a:off x="4846320" y="4316040"/>
            <a:ext cx="3795480" cy="302400"/>
          </a:xfrm>
          <a:custGeom>
            <a:avLst/>
            <a:gdLst/>
            <a:ahLst/>
            <a:cxnLst/>
            <a:rect l="0" t="0" r="r" b="b"/>
            <a:pathLst>
              <a:path w="10543" h="840">
                <a:moveTo>
                  <a:pt x="0" y="0"/>
                </a:moveTo>
                <a:lnTo>
                  <a:pt x="10543" y="0"/>
                </a:lnTo>
                <a:lnTo>
                  <a:pt x="10543"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199" name="TextBox 198"/>
          <p:cNvSpPr txBox="1"/>
          <p:nvPr/>
        </p:nvSpPr>
        <p:spPr>
          <a:xfrm>
            <a:off x="4982760" y="4361760"/>
            <a:ext cx="915840" cy="238320"/>
          </a:xfrm>
          <a:prstGeom prst="rect">
            <a:avLst/>
          </a:prstGeom>
          <a:noFill/>
          <a:ln w="0">
            <a:noFill/>
          </a:ln>
        </p:spPr>
        <p:txBody>
          <a:bodyPr lIns="90000" tIns="45000" rIns="90000" bIns="45000" anchor="t">
            <a:noAutofit/>
          </a:bodyPr>
          <a:lstStyle/>
          <a:p>
            <a:r>
              <a:rPr lang="en-US" sz="1000" b="1" strike="noStrike" spc="-1">
                <a:solidFill>
                  <a:srgbClr val="0691B2"/>
                </a:solidFill>
                <a:latin typeface="Calibri-Bold"/>
                <a:ea typeface="Calibri-Bold"/>
              </a:rPr>
              <a:t>Params</a:t>
            </a:r>
            <a:endParaRPr lang="en-US" sz="1000" b="0" strike="noStrike" spc="-1">
              <a:solidFill>
                <a:srgbClr val="000000"/>
              </a:solidFill>
              <a:latin typeface="Arial"/>
            </a:endParaRPr>
          </a:p>
        </p:txBody>
      </p:sp>
      <p:sp>
        <p:nvSpPr>
          <p:cNvPr id="200" name="TextBox 199"/>
          <p:cNvSpPr txBox="1"/>
          <p:nvPr/>
        </p:nvSpPr>
        <p:spPr>
          <a:xfrm>
            <a:off x="6080040" y="4361760"/>
            <a:ext cx="242460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~0.5M trainable parameters</a:t>
            </a:r>
            <a:endParaRPr lang="en-US" sz="1000" b="0" strike="noStrike" spc="-1">
              <a:solidFill>
                <a:srgbClr val="000000"/>
              </a:solidFill>
              <a:latin typeface="Arial"/>
            </a:endParaRPr>
          </a:p>
        </p:txBody>
      </p:sp>
      <p:sp>
        <p:nvSpPr>
          <p:cNvPr id="2" name="Straight Connector 1">
            <a:extLst>
              <a:ext uri="{FF2B5EF4-FFF2-40B4-BE49-F238E27FC236}">
                <a16:creationId xmlns:a16="http://schemas.microsoft.com/office/drawing/2014/main" id="{B6595C9D-BD42-F06B-997C-1FC3E7D3E51F}"/>
              </a:ext>
            </a:extLst>
          </p:cNvPr>
          <p:cNvSpPr/>
          <p:nvPr/>
        </p:nvSpPr>
        <p:spPr>
          <a:xfrm>
            <a:off x="1335540" y="1508760"/>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3" name="Straight Connector 2">
            <a:extLst>
              <a:ext uri="{FF2B5EF4-FFF2-40B4-BE49-F238E27FC236}">
                <a16:creationId xmlns:a16="http://schemas.microsoft.com/office/drawing/2014/main" id="{B5A30ACA-0B33-82E0-DB9A-C5189AED9525}"/>
              </a:ext>
            </a:extLst>
          </p:cNvPr>
          <p:cNvSpPr/>
          <p:nvPr/>
        </p:nvSpPr>
        <p:spPr>
          <a:xfrm>
            <a:off x="2552586" y="1508760"/>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4" name="Straight Connector 3">
            <a:extLst>
              <a:ext uri="{FF2B5EF4-FFF2-40B4-BE49-F238E27FC236}">
                <a16:creationId xmlns:a16="http://schemas.microsoft.com/office/drawing/2014/main" id="{9C42EF20-CF25-2A41-AA0D-88C08EEAF3BD}"/>
              </a:ext>
            </a:extLst>
          </p:cNvPr>
          <p:cNvSpPr/>
          <p:nvPr/>
        </p:nvSpPr>
        <p:spPr>
          <a:xfrm>
            <a:off x="3776073" y="1508760"/>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5" name="Straight Connector 4">
            <a:extLst>
              <a:ext uri="{FF2B5EF4-FFF2-40B4-BE49-F238E27FC236}">
                <a16:creationId xmlns:a16="http://schemas.microsoft.com/office/drawing/2014/main" id="{874F5578-35D9-14DF-6EC0-15D82F84A40D}"/>
              </a:ext>
            </a:extLst>
          </p:cNvPr>
          <p:cNvSpPr/>
          <p:nvPr/>
        </p:nvSpPr>
        <p:spPr>
          <a:xfrm>
            <a:off x="4997412" y="1513055"/>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6" name="Straight Connector 5">
            <a:extLst>
              <a:ext uri="{FF2B5EF4-FFF2-40B4-BE49-F238E27FC236}">
                <a16:creationId xmlns:a16="http://schemas.microsoft.com/office/drawing/2014/main" id="{21A88569-6E05-3B9F-336C-D645CFF70022}"/>
              </a:ext>
            </a:extLst>
          </p:cNvPr>
          <p:cNvSpPr/>
          <p:nvPr/>
        </p:nvSpPr>
        <p:spPr>
          <a:xfrm>
            <a:off x="6212310" y="1517350"/>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7" name="Straight Connector 6">
            <a:extLst>
              <a:ext uri="{FF2B5EF4-FFF2-40B4-BE49-F238E27FC236}">
                <a16:creationId xmlns:a16="http://schemas.microsoft.com/office/drawing/2014/main" id="{A83A77D2-8D5F-2CA4-F6D3-A9414B9380BA}"/>
              </a:ext>
            </a:extLst>
          </p:cNvPr>
          <p:cNvSpPr/>
          <p:nvPr/>
        </p:nvSpPr>
        <p:spPr>
          <a:xfrm>
            <a:off x="7433651" y="1502327"/>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720" cy="55440"/>
          </a:xfrm>
          <a:prstGeom prst="rect">
            <a:avLst/>
          </a:prstGeom>
          <a:solidFill>
            <a:srgbClr val="2361EB"/>
          </a:solidFill>
        </p:spPr>
        <p:txBody>
          <a:bodyPr/>
          <a:lstStyle/>
          <a:p>
            <a:endParaRPr/>
          </a:p>
        </p:txBody>
      </p:sp>
      <p:sp>
        <p:nvSpPr>
          <p:cNvPr id="3" name="TextBox 2"/>
          <p:cNvSpPr txBox="1"/>
          <p:nvPr/>
        </p:nvSpPr>
        <p:spPr>
          <a:xfrm>
            <a:off x="502200" y="164520"/>
            <a:ext cx="8139600" cy="480000"/>
          </a:xfrm>
          <a:prstGeom prst="rect">
            <a:avLst/>
          </a:prstGeom>
          <a:noFill/>
          <a:ln w="0">
            <a:noFill/>
          </a:ln>
        </p:spPr>
        <p:txBody>
          <a:bodyPr lIns="90000" tIns="45000" rIns="90000" bIns="45000" anchor="t">
            <a:noAutofit/>
          </a:bodyPr>
          <a:lstStyle/>
          <a:p>
            <a:r>
              <a:rPr lang="en-US" sz="2600" b="1" strike="noStrike" spc="-1">
                <a:solidFill>
                  <a:srgbClr val="182C48"/>
                </a:solidFill>
                <a:latin typeface="Calibri-Bold"/>
              </a:rPr>
              <a:t>CNN Baseline — Training Curves</a:t>
            </a:r>
          </a:p>
        </p:txBody>
      </p:sp>
      <p:sp>
        <p:nvSpPr>
          <p:cNvPr id="4" name="TextBox 3"/>
          <p:cNvSpPr txBox="1"/>
          <p:nvPr/>
        </p:nvSpPr>
        <p:spPr>
          <a:xfrm>
            <a:off x="502200" y="630000"/>
            <a:ext cx="8139600" cy="280000"/>
          </a:xfrm>
          <a:prstGeom prst="rect">
            <a:avLst/>
          </a:prstGeom>
          <a:noFill/>
          <a:ln w="0">
            <a:noFill/>
          </a:ln>
        </p:spPr>
        <p:txBody>
          <a:bodyPr lIns="90000" tIns="45000" rIns="90000" bIns="45000" anchor="t">
            <a:noAutofit/>
          </a:bodyPr>
          <a:lstStyle/>
          <a:p>
            <a:r>
              <a:rPr lang="en-US" sz="1200" b="0" i="1" strike="noStrike" spc="-1">
                <a:solidFill>
                  <a:srgbClr val="62728B"/>
                </a:solidFill>
                <a:latin typeface="Calibri-Italic"/>
              </a:rPr>
              <a:t>100 epochs · trained from scratch · IMG_SIZE 160</a:t>
            </a:r>
          </a:p>
        </p:txBody>
      </p:sp>
      <p:sp>
        <p:nvSpPr>
          <p:cNvPr id="5" name="Straight Connector 4"/>
          <p:cNvSpPr/>
          <p:nvPr/>
        </p:nvSpPr>
        <p:spPr>
          <a:xfrm>
            <a:off x="457200" y="940000"/>
            <a:ext cx="8229600" cy="0"/>
          </a:xfrm>
          <a:prstGeom prst="line">
            <a:avLst/>
          </a:prstGeom>
          <a:ln w="12600">
            <a:solidFill>
              <a:srgbClr val="E2E8F0"/>
            </a:solidFill>
            <a:round/>
          </a:ln>
        </p:spPr>
        <p:txBody>
          <a:bodyPr/>
          <a:lstStyle/>
          <a:p>
            <a:endParaRPr/>
          </a:p>
        </p:txBody>
      </p:sp>
      <p:pic>
        <p:nvPicPr>
          <p:cNvPr id="6" name="acc_chart"/>
          <p:cNvPicPr>
            <a:picLocks noChangeAspect="1"/>
          </p:cNvPicPr>
          <p:nvPr/>
        </p:nvPicPr>
        <p:blipFill>
          <a:blip r:embed="rId2"/>
          <a:stretch>
            <a:fillRect/>
          </a:stretch>
        </p:blipFill>
        <p:spPr>
          <a:xfrm>
            <a:off x="274320" y="990000"/>
            <a:ext cx="4297680" cy="3890000"/>
          </a:xfrm>
          <a:prstGeom prst="rect">
            <a:avLst/>
          </a:prstGeom>
        </p:spPr>
      </p:pic>
      <p:pic>
        <p:nvPicPr>
          <p:cNvPr id="7" name="loss_chart"/>
          <p:cNvPicPr>
            <a:picLocks noChangeAspect="1"/>
          </p:cNvPicPr>
          <p:nvPr/>
        </p:nvPicPr>
        <p:blipFill>
          <a:blip r:embed="rId3"/>
          <a:stretch>
            <a:fillRect/>
          </a:stretch>
        </p:blipFill>
        <p:spPr>
          <a:xfrm>
            <a:off x="4572720" y="990000"/>
            <a:ext cx="4297680" cy="389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01" name="Freeform 200"/>
          <p:cNvSpPr/>
          <p:nvPr/>
        </p:nvSpPr>
        <p:spPr>
          <a:xfrm>
            <a:off x="0" y="0"/>
            <a:ext cx="9144720" cy="55440"/>
          </a:xfrm>
          <a:custGeom>
            <a:avLst/>
            <a:gdLst/>
            <a:ahLst/>
            <a:cxnLst/>
            <a:rect l="0" t="0" r="r" b="b"/>
            <a:pathLst>
              <a:path w="25402" h="154">
                <a:moveTo>
                  <a:pt x="0" y="0"/>
                </a:moveTo>
                <a:lnTo>
                  <a:pt x="25402" y="0"/>
                </a:lnTo>
                <a:lnTo>
                  <a:pt x="25402" y="154"/>
                </a:lnTo>
                <a:lnTo>
                  <a:pt x="0" y="154"/>
                </a:lnTo>
                <a:lnTo>
                  <a:pt x="0" y="0"/>
                </a:lnTo>
                <a:close/>
              </a:path>
            </a:pathLst>
          </a:custGeom>
          <a:solidFill>
            <a:srgbClr val="2361EB"/>
          </a:solidFill>
          <a:ln w="12600">
            <a:solidFill>
              <a:srgbClr val="2361EB"/>
            </a:solidFill>
            <a:round/>
          </a:ln>
        </p:spPr>
        <p:txBody>
          <a:bodyPr lIns="96120" tIns="4320" rIns="96120" bIns="4320" anchor="t">
            <a:noAutofit/>
          </a:bodyPr>
          <a:lstStyle/>
          <a:p>
            <a:endParaRPr lang="en-US" sz="1800" b="0" strike="noStrike" spc="-1">
              <a:solidFill>
                <a:srgbClr val="FFFFFF"/>
              </a:solidFill>
              <a:latin typeface="Arial"/>
            </a:endParaRPr>
          </a:p>
        </p:txBody>
      </p:sp>
      <p:sp>
        <p:nvSpPr>
          <p:cNvPr id="202" name="TextBox 201"/>
          <p:cNvSpPr txBox="1"/>
          <p:nvPr/>
        </p:nvSpPr>
        <p:spPr>
          <a:xfrm>
            <a:off x="502200" y="164520"/>
            <a:ext cx="8139600" cy="502920"/>
          </a:xfrm>
          <a:prstGeom prst="rect">
            <a:avLst/>
          </a:prstGeom>
          <a:noFill/>
          <a:ln w="0">
            <a:noFill/>
          </a:ln>
        </p:spPr>
        <p:txBody>
          <a:bodyPr lIns="90000" tIns="45000" rIns="90000" bIns="45000" anchor="t">
            <a:noAutofit/>
          </a:bodyPr>
          <a:lstStyle/>
          <a:p>
            <a:r>
              <a:rPr lang="en-US" sz="2600" b="1" strike="noStrike" spc="-1">
                <a:solidFill>
                  <a:srgbClr val="182C48"/>
                </a:solidFill>
                <a:latin typeface="Calibri-Bold"/>
                <a:ea typeface="Calibri-Bold"/>
              </a:rPr>
              <a:t>CNN Baseline — Results</a:t>
            </a:r>
            <a:endParaRPr lang="en-US" sz="2600" b="0" strike="noStrike" spc="-1">
              <a:solidFill>
                <a:srgbClr val="000000"/>
              </a:solidFill>
              <a:latin typeface="Arial"/>
            </a:endParaRPr>
          </a:p>
        </p:txBody>
      </p:sp>
      <p:sp>
        <p:nvSpPr>
          <p:cNvPr id="203" name="TextBox 202"/>
          <p:cNvSpPr txBox="1"/>
          <p:nvPr/>
        </p:nvSpPr>
        <p:spPr>
          <a:xfrm>
            <a:off x="502200" y="658440"/>
            <a:ext cx="8139600" cy="292680"/>
          </a:xfrm>
          <a:prstGeom prst="rect">
            <a:avLst/>
          </a:prstGeom>
          <a:noFill/>
          <a:ln w="0">
            <a:noFill/>
          </a:ln>
        </p:spPr>
        <p:txBody>
          <a:bodyPr lIns="90000" tIns="45000" rIns="90000" bIns="45000" anchor="t">
            <a:noAutofit/>
          </a:bodyPr>
          <a:lstStyle/>
          <a:p>
            <a:r>
              <a:rPr lang="en-US" sz="1200" b="0" i="1" strike="noStrike" spc="-1">
                <a:solidFill>
                  <a:srgbClr val="62728B"/>
                </a:solidFill>
                <a:latin typeface="Calibri-Italic"/>
                <a:ea typeface="Calibri-Italic"/>
              </a:rPr>
              <a:t>100 epochs · custom CNN from scratch</a:t>
            </a:r>
            <a:endParaRPr lang="en-US" sz="1200" b="0" strike="noStrike" spc="-1">
              <a:solidFill>
                <a:srgbClr val="000000"/>
              </a:solidFill>
              <a:latin typeface="Arial"/>
            </a:endParaRPr>
          </a:p>
        </p:txBody>
      </p:sp>
      <p:sp>
        <p:nvSpPr>
          <p:cNvPr id="204" name="Straight Connector 203"/>
          <p:cNvSpPr/>
          <p:nvPr/>
        </p:nvSpPr>
        <p:spPr>
          <a:xfrm>
            <a:off x="457200" y="960120"/>
            <a:ext cx="8229600" cy="0"/>
          </a:xfrm>
          <a:prstGeom prst="line">
            <a:avLst/>
          </a:prstGeom>
          <a:ln w="12600">
            <a:solidFill>
              <a:srgbClr val="E2E8F0"/>
            </a:solidFill>
            <a:round/>
          </a:ln>
        </p:spPr>
        <p:style>
          <a:lnRef idx="0">
            <a:scrgbClr r="0" g="0" b="0"/>
          </a:lnRef>
          <a:fillRef idx="0">
            <a:scrgbClr r="0" g="0" b="0"/>
          </a:fillRef>
          <a:effectRef idx="0">
            <a:scrgbClr r="0" g="0" b="0"/>
          </a:effectRef>
          <a:fontRef idx="minor"/>
        </p:style>
        <p:txBody>
          <a:bodyPr lIns="96120" tIns="-51120" rIns="96120" bIns="-51120" anchor="t">
            <a:noAutofit/>
          </a:bodyPr>
          <a:lstStyle/>
          <a:p>
            <a:endParaRPr lang="en-US" sz="1800" b="0" strike="noStrike" spc="-1">
              <a:solidFill>
                <a:srgbClr val="000000"/>
              </a:solidFill>
              <a:latin typeface="Arial"/>
            </a:endParaRPr>
          </a:p>
        </p:txBody>
      </p:sp>
      <p:sp>
        <p:nvSpPr>
          <p:cNvPr id="205" name="Freeform 204"/>
          <p:cNvSpPr/>
          <p:nvPr/>
        </p:nvSpPr>
        <p:spPr>
          <a:xfrm>
            <a:off x="365760" y="1097280"/>
            <a:ext cx="2698200" cy="960840"/>
          </a:xfrm>
          <a:custGeom>
            <a:avLst/>
            <a:gdLst/>
            <a:ahLst/>
            <a:cxnLst/>
            <a:rect l="0" t="0" r="r" b="b"/>
            <a:pathLst>
              <a:path w="7495" h="2669">
                <a:moveTo>
                  <a:pt x="0" y="0"/>
                </a:moveTo>
                <a:lnTo>
                  <a:pt x="7495" y="0"/>
                </a:lnTo>
                <a:lnTo>
                  <a:pt x="7495" y="2669"/>
                </a:lnTo>
                <a:lnTo>
                  <a:pt x="0" y="2669"/>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206" name="Freeform 205"/>
          <p:cNvSpPr/>
          <p:nvPr/>
        </p:nvSpPr>
        <p:spPr>
          <a:xfrm>
            <a:off x="365760" y="1097280"/>
            <a:ext cx="64800" cy="960840"/>
          </a:xfrm>
          <a:custGeom>
            <a:avLst/>
            <a:gdLst/>
            <a:ahLst/>
            <a:cxnLst/>
            <a:rect l="0" t="0" r="r" b="b"/>
            <a:pathLst>
              <a:path w="180" h="2669">
                <a:moveTo>
                  <a:pt x="0" y="0"/>
                </a:moveTo>
                <a:lnTo>
                  <a:pt x="180" y="0"/>
                </a:lnTo>
                <a:lnTo>
                  <a:pt x="180" y="2669"/>
                </a:lnTo>
                <a:lnTo>
                  <a:pt x="0" y="2669"/>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207" name="TextBox 206"/>
          <p:cNvSpPr txBox="1"/>
          <p:nvPr/>
        </p:nvSpPr>
        <p:spPr>
          <a:xfrm>
            <a:off x="538920" y="1188720"/>
            <a:ext cx="2424600" cy="537840"/>
          </a:xfrm>
          <a:prstGeom prst="rect">
            <a:avLst/>
          </a:prstGeom>
          <a:noFill/>
          <a:ln w="0">
            <a:noFill/>
          </a:ln>
        </p:spPr>
        <p:txBody>
          <a:bodyPr lIns="90000" tIns="45000" rIns="90000" bIns="45000" anchor="t">
            <a:noAutofit/>
          </a:bodyPr>
          <a:lstStyle/>
          <a:p>
            <a:r>
              <a:rPr lang="en-US" sz="2400" b="1" strike="noStrike" spc="-1">
                <a:solidFill>
                  <a:srgbClr val="2361EB"/>
                </a:solidFill>
                <a:latin typeface="Calibri-Bold"/>
                <a:ea typeface="Calibri-Bold"/>
              </a:rPr>
              <a:t>71.74%</a:t>
            </a:r>
            <a:endParaRPr lang="en-US" sz="2400" b="0" strike="noStrike" spc="-1">
              <a:solidFill>
                <a:srgbClr val="000000"/>
              </a:solidFill>
              <a:latin typeface="Arial"/>
            </a:endParaRPr>
          </a:p>
        </p:txBody>
      </p:sp>
      <p:sp>
        <p:nvSpPr>
          <p:cNvPr id="208" name="TextBox 207"/>
          <p:cNvSpPr txBox="1"/>
          <p:nvPr/>
        </p:nvSpPr>
        <p:spPr>
          <a:xfrm>
            <a:off x="538920" y="1711800"/>
            <a:ext cx="2424600" cy="398520"/>
          </a:xfrm>
          <a:prstGeom prst="rect">
            <a:avLst/>
          </a:prstGeom>
          <a:noFill/>
          <a:ln w="0">
            <a:noFill/>
          </a:ln>
        </p:spPr>
        <p:txBody>
          <a:bodyPr lIns="90000" tIns="45000" rIns="90000" bIns="45000" anchor="t">
            <a:noAutofit/>
          </a:bodyPr>
          <a:lstStyle/>
          <a:p>
            <a:r>
              <a:rPr lang="en-US" sz="1000" b="0" strike="noStrike" spc="-1">
                <a:solidFill>
                  <a:srgbClr val="62728B"/>
                </a:solidFill>
                <a:latin typeface="Calibri"/>
                <a:ea typeface="Calibri"/>
              </a:rPr>
              <a:t>Best Val Accuracy</a:t>
            </a:r>
            <a:endParaRPr lang="en-US" sz="1000" b="0" strike="noStrike" spc="-1">
              <a:solidFill>
                <a:srgbClr val="000000"/>
              </a:solidFill>
              <a:latin typeface="Arial"/>
            </a:endParaRPr>
          </a:p>
          <a:p>
            <a:r>
              <a:rPr lang="en-US" sz="1000" b="0" strike="noStrike" spc="-1">
                <a:solidFill>
                  <a:srgbClr val="62728B"/>
                </a:solidFill>
                <a:latin typeface="Calibri"/>
                <a:ea typeface="Calibri"/>
              </a:rPr>
              <a:t>(</a:t>
            </a:r>
            <a:r>
              <a:rPr lang="nl-NL" sz="1000" b="0" strike="noStrike" spc="-1">
                <a:solidFill>
                  <a:srgbClr val="62728B"/>
                </a:solidFill>
                <a:latin typeface="Calibri"/>
                <a:ea typeface="Calibri"/>
              </a:rPr>
              <a:t>Epoch</a:t>
            </a:r>
            <a:r>
              <a:rPr lang="en-US" sz="1000" b="0" strike="noStrike" spc="-1">
                <a:solidFill>
                  <a:srgbClr val="62728B"/>
                </a:solidFill>
                <a:latin typeface="Calibri"/>
                <a:ea typeface="Calibri"/>
              </a:rPr>
              <a:t> </a:t>
            </a:r>
            <a:r>
              <a:rPr lang="nl-NL" sz="1000" b="0" strike="noStrike" spc="-1">
                <a:solidFill>
                  <a:srgbClr val="62728B"/>
                </a:solidFill>
                <a:latin typeface="Calibri"/>
                <a:ea typeface="Calibri"/>
              </a:rPr>
              <a:t>100</a:t>
            </a:r>
            <a:r>
              <a:rPr lang="en-US" sz="1000" b="0" strike="noStrike" spc="-1">
                <a:solidFill>
                  <a:srgbClr val="62728B"/>
                </a:solidFill>
                <a:latin typeface="Calibri"/>
                <a:ea typeface="Calibri"/>
              </a:rPr>
              <a:t>)</a:t>
            </a:r>
            <a:endParaRPr lang="en-US" sz="1000" b="0" strike="noStrike" spc="-1">
              <a:solidFill>
                <a:srgbClr val="000000"/>
              </a:solidFill>
              <a:latin typeface="Arial"/>
            </a:endParaRPr>
          </a:p>
        </p:txBody>
      </p:sp>
      <p:sp>
        <p:nvSpPr>
          <p:cNvPr id="209" name="Freeform 208"/>
          <p:cNvSpPr/>
          <p:nvPr/>
        </p:nvSpPr>
        <p:spPr>
          <a:xfrm>
            <a:off x="3200400" y="1097280"/>
            <a:ext cx="2698200" cy="960840"/>
          </a:xfrm>
          <a:custGeom>
            <a:avLst/>
            <a:gdLst/>
            <a:ahLst/>
            <a:cxnLst/>
            <a:rect l="0" t="0" r="r" b="b"/>
            <a:pathLst>
              <a:path w="7495" h="2669">
                <a:moveTo>
                  <a:pt x="0" y="0"/>
                </a:moveTo>
                <a:lnTo>
                  <a:pt x="7495" y="0"/>
                </a:lnTo>
                <a:lnTo>
                  <a:pt x="7495" y="2669"/>
                </a:lnTo>
                <a:lnTo>
                  <a:pt x="0" y="2669"/>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210" name="Freeform 209"/>
          <p:cNvSpPr/>
          <p:nvPr/>
        </p:nvSpPr>
        <p:spPr>
          <a:xfrm>
            <a:off x="3200400" y="1097280"/>
            <a:ext cx="64800" cy="960840"/>
          </a:xfrm>
          <a:custGeom>
            <a:avLst/>
            <a:gdLst/>
            <a:ahLst/>
            <a:cxnLst/>
            <a:rect l="0" t="0" r="r" b="b"/>
            <a:pathLst>
              <a:path w="180" h="2669">
                <a:moveTo>
                  <a:pt x="0" y="0"/>
                </a:moveTo>
                <a:lnTo>
                  <a:pt x="180" y="0"/>
                </a:lnTo>
                <a:lnTo>
                  <a:pt x="180" y="2669"/>
                </a:lnTo>
                <a:lnTo>
                  <a:pt x="0" y="2669"/>
                </a:lnTo>
                <a:lnTo>
                  <a:pt x="0" y="0"/>
                </a:lnTo>
                <a:close/>
              </a:path>
            </a:pathLst>
          </a:custGeom>
          <a:solidFill>
            <a:srgbClr val="0691B2"/>
          </a:solidFill>
          <a:ln w="12600">
            <a:solidFill>
              <a:srgbClr val="0691B2"/>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211" name="TextBox 210"/>
          <p:cNvSpPr txBox="1"/>
          <p:nvPr/>
        </p:nvSpPr>
        <p:spPr>
          <a:xfrm>
            <a:off x="3373560" y="1188720"/>
            <a:ext cx="2424600" cy="537840"/>
          </a:xfrm>
          <a:prstGeom prst="rect">
            <a:avLst/>
          </a:prstGeom>
          <a:noFill/>
          <a:ln w="0">
            <a:noFill/>
          </a:ln>
        </p:spPr>
        <p:txBody>
          <a:bodyPr lIns="90000" tIns="45000" rIns="90000" bIns="45000" anchor="t">
            <a:noAutofit/>
          </a:bodyPr>
          <a:lstStyle/>
          <a:p>
            <a:r>
              <a:rPr lang="nl-NL" sz="2400" b="1" strike="noStrike" spc="-1">
                <a:solidFill>
                  <a:srgbClr val="0691B2"/>
                </a:solidFill>
                <a:latin typeface="Calibri-Bold"/>
                <a:ea typeface="Calibri-Bold"/>
              </a:rPr>
              <a:t>62.25</a:t>
            </a:r>
            <a:r>
              <a:rPr lang="en-US" sz="2400" b="1" strike="noStrike" spc="-1">
                <a:solidFill>
                  <a:srgbClr val="0691B2"/>
                </a:solidFill>
                <a:latin typeface="Calibri-Bold"/>
                <a:ea typeface="Calibri-Bold"/>
              </a:rPr>
              <a:t>%</a:t>
            </a:r>
            <a:endParaRPr lang="en-US" sz="2400" b="0" strike="noStrike" spc="-1">
              <a:solidFill>
                <a:srgbClr val="000000"/>
              </a:solidFill>
              <a:latin typeface="Arial"/>
            </a:endParaRPr>
          </a:p>
        </p:txBody>
      </p:sp>
      <p:sp>
        <p:nvSpPr>
          <p:cNvPr id="212" name="TextBox 211"/>
          <p:cNvSpPr txBox="1"/>
          <p:nvPr/>
        </p:nvSpPr>
        <p:spPr>
          <a:xfrm>
            <a:off x="3373560" y="1711800"/>
            <a:ext cx="2424600" cy="316800"/>
          </a:xfrm>
          <a:prstGeom prst="rect">
            <a:avLst/>
          </a:prstGeom>
          <a:noFill/>
          <a:ln w="0">
            <a:noFill/>
          </a:ln>
        </p:spPr>
        <p:txBody>
          <a:bodyPr lIns="90000" tIns="45000" rIns="90000" bIns="45000" anchor="t">
            <a:noAutofit/>
          </a:bodyPr>
          <a:lstStyle/>
          <a:p>
            <a:r>
              <a:rPr lang="en-US" sz="1000" b="0" strike="noStrike" spc="-1">
                <a:solidFill>
                  <a:srgbClr val="62728B"/>
                </a:solidFill>
                <a:latin typeface="Calibri"/>
                <a:ea typeface="Calibri"/>
              </a:rPr>
              <a:t>Test Accuracy</a:t>
            </a:r>
            <a:endParaRPr lang="en-US" sz="1000" b="0" strike="noStrike" spc="-1">
              <a:solidFill>
                <a:srgbClr val="000000"/>
              </a:solidFill>
              <a:latin typeface="Arial"/>
            </a:endParaRPr>
          </a:p>
        </p:txBody>
      </p:sp>
      <p:sp>
        <p:nvSpPr>
          <p:cNvPr id="213" name="Freeform 212"/>
          <p:cNvSpPr/>
          <p:nvPr/>
        </p:nvSpPr>
        <p:spPr>
          <a:xfrm>
            <a:off x="6035040" y="1097280"/>
            <a:ext cx="2698200" cy="960840"/>
          </a:xfrm>
          <a:custGeom>
            <a:avLst/>
            <a:gdLst/>
            <a:ahLst/>
            <a:cxnLst/>
            <a:rect l="0" t="0" r="r" b="b"/>
            <a:pathLst>
              <a:path w="7495" h="2669">
                <a:moveTo>
                  <a:pt x="0" y="0"/>
                </a:moveTo>
                <a:lnTo>
                  <a:pt x="7495" y="0"/>
                </a:lnTo>
                <a:lnTo>
                  <a:pt x="7495" y="2669"/>
                </a:lnTo>
                <a:lnTo>
                  <a:pt x="0" y="2669"/>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214" name="Freeform 213"/>
          <p:cNvSpPr/>
          <p:nvPr/>
        </p:nvSpPr>
        <p:spPr>
          <a:xfrm>
            <a:off x="6035040" y="1097280"/>
            <a:ext cx="64800" cy="960840"/>
          </a:xfrm>
          <a:custGeom>
            <a:avLst/>
            <a:gdLst/>
            <a:ahLst/>
            <a:cxnLst/>
            <a:rect l="0" t="0" r="r" b="b"/>
            <a:pathLst>
              <a:path w="180" h="2669">
                <a:moveTo>
                  <a:pt x="0" y="0"/>
                </a:moveTo>
                <a:lnTo>
                  <a:pt x="180" y="0"/>
                </a:lnTo>
                <a:lnTo>
                  <a:pt x="180" y="2669"/>
                </a:lnTo>
                <a:lnTo>
                  <a:pt x="0" y="2669"/>
                </a:lnTo>
                <a:lnTo>
                  <a:pt x="0" y="0"/>
                </a:lnTo>
                <a:close/>
              </a:path>
            </a:pathLst>
          </a:custGeom>
          <a:solidFill>
            <a:srgbClr val="D97504"/>
          </a:solidFill>
          <a:ln w="12600">
            <a:solidFill>
              <a:srgbClr val="D97504"/>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215" name="TextBox 214"/>
          <p:cNvSpPr txBox="1"/>
          <p:nvPr/>
        </p:nvSpPr>
        <p:spPr>
          <a:xfrm>
            <a:off x="6208200" y="1188720"/>
            <a:ext cx="2424600" cy="537840"/>
          </a:xfrm>
          <a:prstGeom prst="rect">
            <a:avLst/>
          </a:prstGeom>
          <a:noFill/>
          <a:ln w="0">
            <a:noFill/>
          </a:ln>
        </p:spPr>
        <p:txBody>
          <a:bodyPr lIns="90000" tIns="45000" rIns="90000" bIns="45000" anchor="t">
            <a:noAutofit/>
          </a:bodyPr>
          <a:lstStyle/>
          <a:p>
            <a:r>
              <a:rPr lang="nl-NL" sz="2400" b="1" strike="noStrike" spc="-1">
                <a:solidFill>
                  <a:srgbClr val="D97504"/>
                </a:solidFill>
                <a:latin typeface="Calibri-Bold"/>
                <a:ea typeface="Calibri-Bold"/>
              </a:rPr>
              <a:t>9.49 pp</a:t>
            </a:r>
            <a:endParaRPr lang="en-US" sz="2400" b="0" strike="noStrike" spc="-1">
              <a:solidFill>
                <a:srgbClr val="000000"/>
              </a:solidFill>
              <a:latin typeface="Arial"/>
            </a:endParaRPr>
          </a:p>
        </p:txBody>
      </p:sp>
      <p:sp>
        <p:nvSpPr>
          <p:cNvPr id="216" name="TextBox 215"/>
          <p:cNvSpPr txBox="1"/>
          <p:nvPr/>
        </p:nvSpPr>
        <p:spPr>
          <a:xfrm>
            <a:off x="6208200" y="1711800"/>
            <a:ext cx="2424600" cy="398520"/>
          </a:xfrm>
          <a:prstGeom prst="rect">
            <a:avLst/>
          </a:prstGeom>
          <a:noFill/>
          <a:ln w="0">
            <a:noFill/>
          </a:ln>
        </p:spPr>
        <p:txBody>
          <a:bodyPr lIns="90000" tIns="45000" rIns="90000" bIns="45000" anchor="t">
            <a:noAutofit/>
          </a:bodyPr>
          <a:lstStyle/>
          <a:p>
            <a:r>
              <a:rPr lang="en-US" sz="1000" b="0" strike="noStrike" spc="-1">
                <a:solidFill>
                  <a:srgbClr val="62728B"/>
                </a:solidFill>
                <a:latin typeface="Calibri"/>
                <a:ea typeface="Calibri"/>
              </a:rPr>
              <a:t>Generalization Gap</a:t>
            </a:r>
            <a:endParaRPr lang="en-US" sz="1000" b="0" strike="noStrike" spc="-1">
              <a:solidFill>
                <a:srgbClr val="000000"/>
              </a:solidFill>
              <a:latin typeface="Arial"/>
            </a:endParaRPr>
          </a:p>
          <a:p>
            <a:r>
              <a:rPr lang="en-US" sz="1000" b="0" strike="noStrike" spc="-1">
                <a:solidFill>
                  <a:srgbClr val="62728B"/>
                </a:solidFill>
                <a:latin typeface="Calibri"/>
                <a:ea typeface="Calibri"/>
              </a:rPr>
              <a:t>(overfit)</a:t>
            </a:r>
            <a:endParaRPr lang="en-US" sz="1000" b="0" strike="noStrike" spc="-1">
              <a:solidFill>
                <a:srgbClr val="000000"/>
              </a:solidFill>
              <a:latin typeface="Arial"/>
            </a:endParaRPr>
          </a:p>
        </p:txBody>
      </p:sp>
      <p:sp>
        <p:nvSpPr>
          <p:cNvPr id="217" name="Freeform 216"/>
          <p:cNvSpPr/>
          <p:nvPr/>
        </p:nvSpPr>
        <p:spPr>
          <a:xfrm>
            <a:off x="365760" y="2212920"/>
            <a:ext cx="4115520" cy="2561040"/>
          </a:xfrm>
          <a:custGeom>
            <a:avLst/>
            <a:gdLst/>
            <a:ahLst/>
            <a:cxnLst/>
            <a:rect l="0" t="0" r="r" b="b"/>
            <a:pathLst>
              <a:path w="11432" h="7114">
                <a:moveTo>
                  <a:pt x="0" y="0"/>
                </a:moveTo>
                <a:lnTo>
                  <a:pt x="11432" y="0"/>
                </a:lnTo>
                <a:lnTo>
                  <a:pt x="11432" y="7114"/>
                </a:lnTo>
                <a:lnTo>
                  <a:pt x="0" y="7114"/>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218" name="Freeform 217"/>
          <p:cNvSpPr/>
          <p:nvPr/>
        </p:nvSpPr>
        <p:spPr>
          <a:xfrm>
            <a:off x="365760" y="2212920"/>
            <a:ext cx="64800" cy="2561040"/>
          </a:xfrm>
          <a:custGeom>
            <a:avLst/>
            <a:gdLst/>
            <a:ahLst/>
            <a:cxnLst/>
            <a:rect l="0" t="0" r="r" b="b"/>
            <a:pathLst>
              <a:path w="180" h="7114">
                <a:moveTo>
                  <a:pt x="0" y="0"/>
                </a:moveTo>
                <a:lnTo>
                  <a:pt x="180" y="0"/>
                </a:lnTo>
                <a:lnTo>
                  <a:pt x="180" y="7114"/>
                </a:lnTo>
                <a:lnTo>
                  <a:pt x="0" y="7114"/>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219" name="TextBox 218"/>
          <p:cNvSpPr txBox="1"/>
          <p:nvPr/>
        </p:nvSpPr>
        <p:spPr>
          <a:xfrm>
            <a:off x="593640" y="2304360"/>
            <a:ext cx="3704760" cy="301680"/>
          </a:xfrm>
          <a:prstGeom prst="rect">
            <a:avLst/>
          </a:prstGeom>
          <a:noFill/>
          <a:ln w="0">
            <a:noFill/>
          </a:ln>
        </p:spPr>
        <p:txBody>
          <a:bodyPr lIns="90000" tIns="45000" rIns="90000" bIns="45000" anchor="t">
            <a:noAutofit/>
          </a:bodyPr>
          <a:lstStyle/>
          <a:p>
            <a:r>
              <a:rPr lang="en-US" sz="1200" b="1" strike="noStrike" spc="-1">
                <a:solidFill>
                  <a:srgbClr val="182C48"/>
                </a:solidFill>
                <a:latin typeface="Calibri-Bold"/>
                <a:ea typeface="Calibri-Bold"/>
              </a:rPr>
              <a:t>Training Curves — Observations</a:t>
            </a:r>
            <a:endParaRPr lang="en-US" sz="1200" b="0" strike="noStrike" spc="-1">
              <a:solidFill>
                <a:srgbClr val="000000"/>
              </a:solidFill>
              <a:latin typeface="Arial"/>
            </a:endParaRPr>
          </a:p>
        </p:txBody>
      </p:sp>
      <p:sp>
        <p:nvSpPr>
          <p:cNvPr id="220" name="TextBox 219"/>
          <p:cNvSpPr txBox="1"/>
          <p:nvPr/>
        </p:nvSpPr>
        <p:spPr>
          <a:xfrm>
            <a:off x="685080" y="2679120"/>
            <a:ext cx="3567600" cy="2011680"/>
          </a:xfrm>
          <a:prstGeom prst="rect">
            <a:avLst/>
          </a:prstGeom>
          <a:noFill/>
          <a:ln w="0">
            <a:noFill/>
          </a:ln>
        </p:spPr>
        <p:txBody>
          <a:bodyPr lIns="90000" tIns="45000" rIns="90000" bIns="45000" anchor="t">
            <a:noAutofit/>
          </a:bodyPr>
          <a:lstStyle/>
          <a:p>
            <a:r>
              <a:rPr lang="en-US" sz="1100" b="0" strike="noStrike" spc="-1">
                <a:solidFill>
                  <a:srgbClr val="1C2739"/>
                </a:solidFill>
                <a:latin typeface="Calibri"/>
                <a:ea typeface="Calibri"/>
              </a:rPr>
              <a:t>Val accuracy rises consistently until epoch 83</a:t>
            </a:r>
            <a:endParaRPr lang="en-US" sz="1100" b="0" strike="noStrike" spc="-1">
              <a:solidFill>
                <a:srgbClr val="000000"/>
              </a:solidFill>
              <a:latin typeface="Arial"/>
            </a:endParaRPr>
          </a:p>
          <a:p>
            <a:r>
              <a:rPr lang="en-US" sz="1100" b="0" strike="noStrike" spc="-1">
                <a:solidFill>
                  <a:srgbClr val="1C2739"/>
                </a:solidFill>
                <a:latin typeface="Calibri"/>
                <a:ea typeface="Calibri"/>
              </a:rPr>
              <a:t>After that, overfitting begins — train rises, val stagnates</a:t>
            </a:r>
            <a:endParaRPr lang="en-US" sz="1100" b="0" strike="noStrike" spc="-1">
              <a:solidFill>
                <a:srgbClr val="000000"/>
              </a:solidFill>
              <a:latin typeface="Arial"/>
            </a:endParaRPr>
          </a:p>
          <a:p>
            <a:r>
              <a:rPr lang="en-US" sz="1100" b="0" strike="noStrike" spc="-1">
                <a:solidFill>
                  <a:srgbClr val="1C2739"/>
                </a:solidFill>
                <a:latin typeface="Calibri"/>
                <a:ea typeface="Calibri"/>
              </a:rPr>
              <a:t>Train/val gap of </a:t>
            </a:r>
            <a:r>
              <a:rPr lang="nl-NL" sz="1100" b="0" strike="noStrike" spc="-1">
                <a:solidFill>
                  <a:srgbClr val="1C2739"/>
                </a:solidFill>
                <a:latin typeface="Calibri"/>
                <a:ea typeface="Calibri"/>
              </a:rPr>
              <a:t>9.49 pp </a:t>
            </a:r>
            <a:r>
              <a:rPr lang="en-US" sz="1100" b="0" strike="noStrike" spc="-1">
                <a:solidFill>
                  <a:srgbClr val="1C2739"/>
                </a:solidFill>
                <a:latin typeface="Calibri"/>
                <a:ea typeface="Calibri"/>
              </a:rPr>
              <a:t>confirms moderate overfitting</a:t>
            </a:r>
            <a:endParaRPr lang="en-US" sz="1100" b="0" strike="noStrike" spc="-1">
              <a:solidFill>
                <a:srgbClr val="000000"/>
              </a:solidFill>
              <a:latin typeface="Arial"/>
            </a:endParaRPr>
          </a:p>
          <a:p>
            <a:r>
              <a:rPr lang="en-US" sz="1100" b="0" strike="noStrike" spc="-1">
                <a:solidFill>
                  <a:srgbClr val="1C2739"/>
                </a:solidFill>
                <a:latin typeface="Calibri"/>
                <a:ea typeface="Calibri"/>
              </a:rPr>
              <a:t>Training loss converges but val loss diverges slightly</a:t>
            </a:r>
            <a:endParaRPr lang="en-US" sz="1100" b="0" strike="noStrike" spc="-1">
              <a:solidFill>
                <a:srgbClr val="000000"/>
              </a:solidFill>
              <a:latin typeface="Arial"/>
            </a:endParaRPr>
          </a:p>
          <a:p>
            <a:r>
              <a:rPr lang="en-US" sz="1100" b="0" strike="noStrike" spc="-1">
                <a:solidFill>
                  <a:srgbClr val="1C2739"/>
                </a:solidFill>
                <a:latin typeface="Calibri"/>
                <a:ea typeface="Calibri"/>
              </a:rPr>
              <a:t>Expected for a CNN from scratch with ~200 imgs/class</a:t>
            </a:r>
            <a:endParaRPr lang="en-US" sz="1100" b="0" strike="noStrike" spc="-1">
              <a:solidFill>
                <a:srgbClr val="000000"/>
              </a:solidFill>
              <a:latin typeface="Arial"/>
            </a:endParaRPr>
          </a:p>
        </p:txBody>
      </p:sp>
      <p:sp>
        <p:nvSpPr>
          <p:cNvPr id="221" name="Freeform 220"/>
          <p:cNvSpPr/>
          <p:nvPr/>
        </p:nvSpPr>
        <p:spPr>
          <a:xfrm>
            <a:off x="4663440" y="2212920"/>
            <a:ext cx="4115520" cy="2561040"/>
          </a:xfrm>
          <a:custGeom>
            <a:avLst/>
            <a:gdLst/>
            <a:ahLst/>
            <a:cxnLst/>
            <a:rect l="0" t="0" r="r" b="b"/>
            <a:pathLst>
              <a:path w="11432" h="7114">
                <a:moveTo>
                  <a:pt x="0" y="0"/>
                </a:moveTo>
                <a:lnTo>
                  <a:pt x="11432" y="0"/>
                </a:lnTo>
                <a:lnTo>
                  <a:pt x="11432" y="7114"/>
                </a:lnTo>
                <a:lnTo>
                  <a:pt x="0" y="7114"/>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222" name="Freeform 221"/>
          <p:cNvSpPr/>
          <p:nvPr/>
        </p:nvSpPr>
        <p:spPr>
          <a:xfrm>
            <a:off x="4663440" y="2212920"/>
            <a:ext cx="64800" cy="2561040"/>
          </a:xfrm>
          <a:custGeom>
            <a:avLst/>
            <a:gdLst/>
            <a:ahLst/>
            <a:cxnLst/>
            <a:rect l="0" t="0" r="r" b="b"/>
            <a:pathLst>
              <a:path w="180" h="7114">
                <a:moveTo>
                  <a:pt x="0" y="0"/>
                </a:moveTo>
                <a:lnTo>
                  <a:pt x="180" y="0"/>
                </a:lnTo>
                <a:lnTo>
                  <a:pt x="180" y="7114"/>
                </a:lnTo>
                <a:lnTo>
                  <a:pt x="0" y="7114"/>
                </a:lnTo>
                <a:lnTo>
                  <a:pt x="0" y="0"/>
                </a:lnTo>
                <a:close/>
              </a:path>
            </a:pathLst>
          </a:custGeom>
          <a:solidFill>
            <a:srgbClr val="7A38ED"/>
          </a:solidFill>
          <a:ln w="12600">
            <a:solidFill>
              <a:srgbClr val="7A38ED"/>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223" name="TextBox 222"/>
          <p:cNvSpPr txBox="1"/>
          <p:nvPr/>
        </p:nvSpPr>
        <p:spPr>
          <a:xfrm>
            <a:off x="4891320" y="2304360"/>
            <a:ext cx="3659040" cy="301680"/>
          </a:xfrm>
          <a:prstGeom prst="rect">
            <a:avLst/>
          </a:prstGeom>
          <a:noFill/>
          <a:ln w="0">
            <a:noFill/>
          </a:ln>
        </p:spPr>
        <p:txBody>
          <a:bodyPr lIns="90000" tIns="45000" rIns="90000" bIns="45000" anchor="t">
            <a:noAutofit/>
          </a:bodyPr>
          <a:lstStyle/>
          <a:p>
            <a:r>
              <a:rPr lang="en-US" sz="1200" b="1" strike="noStrike" spc="-1">
                <a:solidFill>
                  <a:srgbClr val="182C48"/>
                </a:solidFill>
                <a:latin typeface="Calibri-Bold"/>
                <a:ea typeface="Calibri-Bold"/>
              </a:rPr>
              <a:t>Ablation Experiments</a:t>
            </a:r>
            <a:endParaRPr lang="en-US" sz="1200" b="0" strike="noStrike" spc="-1">
              <a:solidFill>
                <a:srgbClr val="000000"/>
              </a:solidFill>
              <a:latin typeface="Arial"/>
            </a:endParaRPr>
          </a:p>
        </p:txBody>
      </p:sp>
      <p:sp>
        <p:nvSpPr>
          <p:cNvPr id="224" name="Freeform 223"/>
          <p:cNvSpPr/>
          <p:nvPr/>
        </p:nvSpPr>
        <p:spPr>
          <a:xfrm>
            <a:off x="4827960" y="2679120"/>
            <a:ext cx="3786480" cy="275040"/>
          </a:xfrm>
          <a:custGeom>
            <a:avLst/>
            <a:gdLst/>
            <a:ahLst/>
            <a:cxnLst/>
            <a:rect l="0" t="0" r="r" b="b"/>
            <a:pathLst>
              <a:path w="10518" h="764">
                <a:moveTo>
                  <a:pt x="0" y="0"/>
                </a:moveTo>
                <a:lnTo>
                  <a:pt x="10518" y="0"/>
                </a:lnTo>
                <a:lnTo>
                  <a:pt x="10518" y="764"/>
                </a:lnTo>
                <a:lnTo>
                  <a:pt x="0" y="764"/>
                </a:lnTo>
                <a:lnTo>
                  <a:pt x="0" y="0"/>
                </a:lnTo>
                <a:close/>
              </a:path>
            </a:pathLst>
          </a:custGeom>
          <a:solidFill>
            <a:srgbClr val="182C48"/>
          </a:solidFill>
          <a:ln w="12600">
            <a:solidFill>
              <a:srgbClr val="182C48"/>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225" name="TextBox 224"/>
          <p:cNvSpPr txBox="1"/>
          <p:nvPr/>
        </p:nvSpPr>
        <p:spPr>
          <a:xfrm>
            <a:off x="4937040" y="2679120"/>
            <a:ext cx="1738800" cy="274320"/>
          </a:xfrm>
          <a:prstGeom prst="rect">
            <a:avLst/>
          </a:prstGeom>
          <a:noFill/>
          <a:ln w="0">
            <a:noFill/>
          </a:ln>
        </p:spPr>
        <p:txBody>
          <a:bodyPr lIns="90000" tIns="45000" rIns="90000" bIns="45000" anchor="t">
            <a:noAutofit/>
          </a:bodyPr>
          <a:lstStyle/>
          <a:p>
            <a:r>
              <a:rPr lang="en-US" sz="900" b="1" strike="noStrike" spc="-1">
                <a:solidFill>
                  <a:srgbClr val="FFFFFF"/>
                </a:solidFill>
                <a:latin typeface="Calibri-Bold"/>
                <a:ea typeface="Calibri-Bold"/>
              </a:rPr>
              <a:t>Configuration</a:t>
            </a:r>
            <a:endParaRPr lang="en-US" sz="900" b="0" strike="noStrike" spc="-1">
              <a:solidFill>
                <a:srgbClr val="000000"/>
              </a:solidFill>
              <a:latin typeface="Arial"/>
            </a:endParaRPr>
          </a:p>
        </p:txBody>
      </p:sp>
      <p:sp>
        <p:nvSpPr>
          <p:cNvPr id="226" name="TextBox 225"/>
          <p:cNvSpPr txBox="1"/>
          <p:nvPr/>
        </p:nvSpPr>
        <p:spPr>
          <a:xfrm>
            <a:off x="6811560" y="2679120"/>
            <a:ext cx="732960" cy="274320"/>
          </a:xfrm>
          <a:prstGeom prst="rect">
            <a:avLst/>
          </a:prstGeom>
          <a:noFill/>
          <a:ln w="0">
            <a:noFill/>
          </a:ln>
        </p:spPr>
        <p:txBody>
          <a:bodyPr lIns="90000" tIns="45000" rIns="90000" bIns="45000" anchor="t">
            <a:noAutofit/>
          </a:bodyPr>
          <a:lstStyle/>
          <a:p>
            <a:r>
              <a:rPr lang="en-US" sz="900" b="1" strike="noStrike" spc="-1">
                <a:solidFill>
                  <a:srgbClr val="FFFFFF"/>
                </a:solidFill>
                <a:latin typeface="Calibri-Bold"/>
                <a:ea typeface="Calibri-Bold"/>
              </a:rPr>
              <a:t>Test Acc</a:t>
            </a:r>
            <a:endParaRPr lang="en-US" sz="900" b="0" strike="noStrike" spc="-1">
              <a:solidFill>
                <a:srgbClr val="000000"/>
              </a:solidFill>
              <a:latin typeface="Arial"/>
            </a:endParaRPr>
          </a:p>
        </p:txBody>
      </p:sp>
      <p:sp>
        <p:nvSpPr>
          <p:cNvPr id="227" name="TextBox 226"/>
          <p:cNvSpPr txBox="1"/>
          <p:nvPr/>
        </p:nvSpPr>
        <p:spPr>
          <a:xfrm>
            <a:off x="7680240" y="2679120"/>
            <a:ext cx="732960" cy="274320"/>
          </a:xfrm>
          <a:prstGeom prst="rect">
            <a:avLst/>
          </a:prstGeom>
          <a:noFill/>
          <a:ln w="0">
            <a:noFill/>
          </a:ln>
        </p:spPr>
        <p:txBody>
          <a:bodyPr lIns="90000" tIns="45000" rIns="90000" bIns="45000" anchor="t">
            <a:noAutofit/>
          </a:bodyPr>
          <a:lstStyle/>
          <a:p>
            <a:r>
              <a:rPr lang="en-US" sz="900" b="1" strike="noStrike" spc="-1">
                <a:solidFill>
                  <a:srgbClr val="FFFFFF"/>
                </a:solidFill>
                <a:latin typeface="Calibri-Bold"/>
                <a:ea typeface="Calibri-Bold"/>
              </a:rPr>
              <a:t>Note</a:t>
            </a:r>
            <a:endParaRPr lang="en-US" sz="900" b="0" strike="noStrike" spc="-1">
              <a:solidFill>
                <a:srgbClr val="000000"/>
              </a:solidFill>
              <a:latin typeface="Arial"/>
            </a:endParaRPr>
          </a:p>
        </p:txBody>
      </p:sp>
      <p:sp>
        <p:nvSpPr>
          <p:cNvPr id="228" name="Freeform 227"/>
          <p:cNvSpPr/>
          <p:nvPr/>
        </p:nvSpPr>
        <p:spPr>
          <a:xfrm>
            <a:off x="4827960" y="2990160"/>
            <a:ext cx="3786480" cy="302400"/>
          </a:xfrm>
          <a:custGeom>
            <a:avLst/>
            <a:gdLst/>
            <a:ahLst/>
            <a:cxnLst/>
            <a:rect l="0" t="0" r="r" b="b"/>
            <a:pathLst>
              <a:path w="10518" h="840">
                <a:moveTo>
                  <a:pt x="0" y="0"/>
                </a:moveTo>
                <a:lnTo>
                  <a:pt x="10518" y="0"/>
                </a:lnTo>
                <a:lnTo>
                  <a:pt x="10518"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229" name="TextBox 228"/>
          <p:cNvSpPr txBox="1"/>
          <p:nvPr/>
        </p:nvSpPr>
        <p:spPr>
          <a:xfrm>
            <a:off x="4937040" y="3035880"/>
            <a:ext cx="1693080" cy="229320"/>
          </a:xfrm>
          <a:prstGeom prst="rect">
            <a:avLst/>
          </a:prstGeom>
          <a:noFill/>
          <a:ln w="0">
            <a:noFill/>
          </a:ln>
        </p:spPr>
        <p:txBody>
          <a:bodyPr lIns="90000" tIns="45000" rIns="90000" bIns="45000" anchor="t">
            <a:noAutofit/>
          </a:bodyPr>
          <a:lstStyle/>
          <a:p>
            <a:r>
              <a:rPr lang="en-US" sz="900" b="0" strike="noStrike" spc="-1">
                <a:solidFill>
                  <a:srgbClr val="1C2739"/>
                </a:solidFill>
                <a:latin typeface="Calibri"/>
                <a:ea typeface="Calibri"/>
              </a:rPr>
              <a:t>Baseline (100 ep.)</a:t>
            </a:r>
            <a:endParaRPr lang="en-US" sz="900" b="0" strike="noStrike" spc="-1">
              <a:solidFill>
                <a:srgbClr val="000000"/>
              </a:solidFill>
              <a:latin typeface="Arial"/>
            </a:endParaRPr>
          </a:p>
        </p:txBody>
      </p:sp>
      <p:sp>
        <p:nvSpPr>
          <p:cNvPr id="230" name="TextBox 229"/>
          <p:cNvSpPr txBox="1"/>
          <p:nvPr/>
        </p:nvSpPr>
        <p:spPr>
          <a:xfrm>
            <a:off x="6811560" y="3035880"/>
            <a:ext cx="732960" cy="224640"/>
          </a:xfrm>
          <a:prstGeom prst="rect">
            <a:avLst/>
          </a:prstGeom>
          <a:noFill/>
          <a:ln w="0">
            <a:noFill/>
          </a:ln>
        </p:spPr>
        <p:txBody>
          <a:bodyPr lIns="90000" tIns="45000" rIns="90000" bIns="45000" anchor="t">
            <a:noAutofit/>
          </a:bodyPr>
          <a:lstStyle/>
          <a:p>
            <a:r>
              <a:rPr lang="nl-NL" sz="900" b="1" strike="noStrike" spc="-1">
                <a:solidFill>
                  <a:srgbClr val="039667"/>
                </a:solidFill>
                <a:latin typeface="Calibri-Bold"/>
                <a:ea typeface="Calibri-Bold"/>
              </a:rPr>
              <a:t>62</a:t>
            </a:r>
            <a:r>
              <a:rPr lang="en-US" sz="900" b="1" strike="noStrike" spc="-1">
                <a:solidFill>
                  <a:srgbClr val="039667"/>
                </a:solidFill>
                <a:latin typeface="Calibri-Bold"/>
                <a:ea typeface="Calibri-Bold"/>
              </a:rPr>
              <a:t>.</a:t>
            </a:r>
            <a:r>
              <a:rPr lang="nl-NL" sz="900" b="1" strike="noStrike" spc="-1">
                <a:solidFill>
                  <a:srgbClr val="039667"/>
                </a:solidFill>
                <a:latin typeface="Calibri-Bold"/>
                <a:ea typeface="Calibri-Bold"/>
              </a:rPr>
              <a:t>25</a:t>
            </a:r>
            <a:r>
              <a:rPr lang="en-US" sz="900" b="1" strike="noStrike" spc="-1">
                <a:solidFill>
                  <a:srgbClr val="039667"/>
                </a:solidFill>
                <a:latin typeface="Calibri-Bold"/>
                <a:ea typeface="Calibri-Bold"/>
              </a:rPr>
              <a:t>%</a:t>
            </a:r>
            <a:endParaRPr lang="en-US" sz="900" b="0" strike="noStrike" spc="-1">
              <a:solidFill>
                <a:srgbClr val="000000"/>
              </a:solidFill>
              <a:latin typeface="Arial"/>
            </a:endParaRPr>
          </a:p>
        </p:txBody>
      </p:sp>
      <p:sp>
        <p:nvSpPr>
          <p:cNvPr id="231" name="TextBox 230"/>
          <p:cNvSpPr txBox="1"/>
          <p:nvPr/>
        </p:nvSpPr>
        <p:spPr>
          <a:xfrm>
            <a:off x="7680240" y="3035880"/>
            <a:ext cx="732960" cy="229320"/>
          </a:xfrm>
          <a:prstGeom prst="rect">
            <a:avLst/>
          </a:prstGeom>
          <a:noFill/>
          <a:ln w="0">
            <a:noFill/>
          </a:ln>
        </p:spPr>
        <p:txBody>
          <a:bodyPr lIns="90000" tIns="45000" rIns="90000" bIns="45000" anchor="t">
            <a:noAutofit/>
          </a:bodyPr>
          <a:lstStyle/>
          <a:p>
            <a:r>
              <a:rPr lang="en-US" sz="900" b="0" strike="noStrike" spc="-1">
                <a:solidFill>
                  <a:srgbClr val="62728B"/>
                </a:solidFill>
                <a:latin typeface="Calibri"/>
                <a:ea typeface="Calibri"/>
              </a:rPr>
              <a:t>✅ Best</a:t>
            </a:r>
            <a:endParaRPr lang="en-US" sz="900" b="0" strike="noStrike" spc="-1">
              <a:solidFill>
                <a:srgbClr val="000000"/>
              </a:solidFill>
              <a:latin typeface="Arial"/>
            </a:endParaRPr>
          </a:p>
        </p:txBody>
      </p:sp>
      <p:sp>
        <p:nvSpPr>
          <p:cNvPr id="232" name="Freeform 231"/>
          <p:cNvSpPr/>
          <p:nvPr/>
        </p:nvSpPr>
        <p:spPr>
          <a:xfrm>
            <a:off x="4827960" y="3328560"/>
            <a:ext cx="3786480" cy="302400"/>
          </a:xfrm>
          <a:custGeom>
            <a:avLst/>
            <a:gdLst/>
            <a:ahLst/>
            <a:cxnLst/>
            <a:rect l="0" t="0" r="r" b="b"/>
            <a:pathLst>
              <a:path w="10518" h="840">
                <a:moveTo>
                  <a:pt x="0" y="0"/>
                </a:moveTo>
                <a:lnTo>
                  <a:pt x="10518" y="0"/>
                </a:lnTo>
                <a:lnTo>
                  <a:pt x="10518"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233" name="TextBox 232"/>
          <p:cNvSpPr txBox="1"/>
          <p:nvPr/>
        </p:nvSpPr>
        <p:spPr>
          <a:xfrm>
            <a:off x="4937040" y="3374280"/>
            <a:ext cx="1693080" cy="229320"/>
          </a:xfrm>
          <a:prstGeom prst="rect">
            <a:avLst/>
          </a:prstGeom>
          <a:noFill/>
          <a:ln w="0">
            <a:noFill/>
          </a:ln>
        </p:spPr>
        <p:txBody>
          <a:bodyPr lIns="90000" tIns="45000" rIns="90000" bIns="45000" anchor="t">
            <a:noAutofit/>
          </a:bodyPr>
          <a:lstStyle/>
          <a:p>
            <a:r>
              <a:rPr lang="en-US" sz="900" b="0" strike="noStrike" spc="-1">
                <a:solidFill>
                  <a:srgbClr val="1C2739"/>
                </a:solidFill>
                <a:latin typeface="Calibri"/>
                <a:ea typeface="Calibri"/>
              </a:rPr>
              <a:t>EXP1 — ref 30 ep.</a:t>
            </a:r>
            <a:endParaRPr lang="en-US" sz="900" b="0" strike="noStrike" spc="-1">
              <a:solidFill>
                <a:srgbClr val="000000"/>
              </a:solidFill>
              <a:latin typeface="Arial"/>
            </a:endParaRPr>
          </a:p>
        </p:txBody>
      </p:sp>
      <p:sp>
        <p:nvSpPr>
          <p:cNvPr id="234" name="TextBox 233"/>
          <p:cNvSpPr txBox="1"/>
          <p:nvPr/>
        </p:nvSpPr>
        <p:spPr>
          <a:xfrm>
            <a:off x="6811560" y="3374280"/>
            <a:ext cx="732960" cy="224640"/>
          </a:xfrm>
          <a:prstGeom prst="rect">
            <a:avLst/>
          </a:prstGeom>
          <a:noFill/>
          <a:ln w="0">
            <a:noFill/>
          </a:ln>
        </p:spPr>
        <p:txBody>
          <a:bodyPr lIns="90000" tIns="45000" rIns="90000" bIns="45000" anchor="t">
            <a:noAutofit/>
          </a:bodyPr>
          <a:lstStyle/>
          <a:p>
            <a:r>
              <a:rPr lang="en-US" sz="900" b="1" strike="noStrike" spc="-1">
                <a:solidFill>
                  <a:srgbClr val="62728B"/>
                </a:solidFill>
                <a:latin typeface="Calibri-Bold"/>
                <a:ea typeface="Calibri-Bold"/>
              </a:rPr>
              <a:t>35.70%</a:t>
            </a:r>
            <a:endParaRPr lang="en-US" sz="900" b="0" strike="noStrike" spc="-1">
              <a:solidFill>
                <a:srgbClr val="000000"/>
              </a:solidFill>
              <a:latin typeface="Arial"/>
            </a:endParaRPr>
          </a:p>
        </p:txBody>
      </p:sp>
      <p:sp>
        <p:nvSpPr>
          <p:cNvPr id="235" name="TextBox 234"/>
          <p:cNvSpPr txBox="1"/>
          <p:nvPr/>
        </p:nvSpPr>
        <p:spPr>
          <a:xfrm>
            <a:off x="7680240" y="3374280"/>
            <a:ext cx="732960" cy="229320"/>
          </a:xfrm>
          <a:prstGeom prst="rect">
            <a:avLst/>
          </a:prstGeom>
          <a:noFill/>
          <a:ln w="0">
            <a:noFill/>
          </a:ln>
        </p:spPr>
        <p:txBody>
          <a:bodyPr lIns="90000" tIns="45000" rIns="90000" bIns="45000" anchor="t">
            <a:noAutofit/>
          </a:bodyPr>
          <a:lstStyle/>
          <a:p>
            <a:r>
              <a:rPr lang="en-US" sz="900" b="0" strike="noStrike" spc="-1">
                <a:solidFill>
                  <a:srgbClr val="62728B"/>
                </a:solidFill>
                <a:latin typeface="Calibri"/>
                <a:ea typeface="Calibri"/>
              </a:rPr>
              <a:t>Base ref</a:t>
            </a:r>
            <a:endParaRPr lang="en-US" sz="900" b="0" strike="noStrike" spc="-1">
              <a:solidFill>
                <a:srgbClr val="000000"/>
              </a:solidFill>
              <a:latin typeface="Arial"/>
            </a:endParaRPr>
          </a:p>
        </p:txBody>
      </p:sp>
      <p:sp>
        <p:nvSpPr>
          <p:cNvPr id="236" name="Freeform 235"/>
          <p:cNvSpPr/>
          <p:nvPr/>
        </p:nvSpPr>
        <p:spPr>
          <a:xfrm>
            <a:off x="4827960" y="3666600"/>
            <a:ext cx="3786480" cy="302400"/>
          </a:xfrm>
          <a:custGeom>
            <a:avLst/>
            <a:gdLst/>
            <a:ahLst/>
            <a:cxnLst/>
            <a:rect l="0" t="0" r="r" b="b"/>
            <a:pathLst>
              <a:path w="10518" h="840">
                <a:moveTo>
                  <a:pt x="0" y="0"/>
                </a:moveTo>
                <a:lnTo>
                  <a:pt x="10518" y="0"/>
                </a:lnTo>
                <a:lnTo>
                  <a:pt x="10518"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237" name="TextBox 236"/>
          <p:cNvSpPr txBox="1"/>
          <p:nvPr/>
        </p:nvSpPr>
        <p:spPr>
          <a:xfrm>
            <a:off x="4937040" y="3712320"/>
            <a:ext cx="1693080" cy="229320"/>
          </a:xfrm>
          <a:prstGeom prst="rect">
            <a:avLst/>
          </a:prstGeom>
          <a:noFill/>
          <a:ln w="0">
            <a:noFill/>
          </a:ln>
        </p:spPr>
        <p:txBody>
          <a:bodyPr lIns="90000" tIns="45000" rIns="90000" bIns="45000" anchor="t">
            <a:noAutofit/>
          </a:bodyPr>
          <a:lstStyle/>
          <a:p>
            <a:r>
              <a:rPr lang="en-US" sz="900" b="0" strike="noStrike" spc="-1">
                <a:solidFill>
                  <a:srgbClr val="1C2739"/>
                </a:solidFill>
                <a:latin typeface="Calibri"/>
                <a:ea typeface="Calibri"/>
              </a:rPr>
              <a:t>EXP2 — lr=0.0001</a:t>
            </a:r>
            <a:endParaRPr lang="en-US" sz="900" b="0" strike="noStrike" spc="-1">
              <a:solidFill>
                <a:srgbClr val="000000"/>
              </a:solidFill>
              <a:latin typeface="Arial"/>
            </a:endParaRPr>
          </a:p>
        </p:txBody>
      </p:sp>
      <p:sp>
        <p:nvSpPr>
          <p:cNvPr id="238" name="TextBox 237"/>
          <p:cNvSpPr txBox="1"/>
          <p:nvPr/>
        </p:nvSpPr>
        <p:spPr>
          <a:xfrm>
            <a:off x="6811560" y="3712320"/>
            <a:ext cx="732960" cy="224640"/>
          </a:xfrm>
          <a:prstGeom prst="rect">
            <a:avLst/>
          </a:prstGeom>
          <a:noFill/>
          <a:ln w="0">
            <a:noFill/>
          </a:ln>
        </p:spPr>
        <p:txBody>
          <a:bodyPr lIns="90000" tIns="45000" rIns="90000" bIns="45000" anchor="t">
            <a:noAutofit/>
          </a:bodyPr>
          <a:lstStyle/>
          <a:p>
            <a:r>
              <a:rPr lang="en-US" sz="900" b="1" strike="noStrike" spc="-1">
                <a:solidFill>
                  <a:srgbClr val="62728B"/>
                </a:solidFill>
                <a:latin typeface="Calibri-Bold"/>
                <a:ea typeface="Calibri-Bold"/>
              </a:rPr>
              <a:t>24.83%</a:t>
            </a:r>
            <a:endParaRPr lang="en-US" sz="900" b="0" strike="noStrike" spc="-1">
              <a:solidFill>
                <a:srgbClr val="000000"/>
              </a:solidFill>
              <a:latin typeface="Arial"/>
            </a:endParaRPr>
          </a:p>
        </p:txBody>
      </p:sp>
      <p:sp>
        <p:nvSpPr>
          <p:cNvPr id="239" name="TextBox 238"/>
          <p:cNvSpPr txBox="1"/>
          <p:nvPr/>
        </p:nvSpPr>
        <p:spPr>
          <a:xfrm>
            <a:off x="7680240" y="3712320"/>
            <a:ext cx="732960" cy="229320"/>
          </a:xfrm>
          <a:prstGeom prst="rect">
            <a:avLst/>
          </a:prstGeom>
          <a:noFill/>
          <a:ln w="0">
            <a:noFill/>
          </a:ln>
        </p:spPr>
        <p:txBody>
          <a:bodyPr lIns="90000" tIns="45000" rIns="90000" bIns="45000" anchor="t">
            <a:noAutofit/>
          </a:bodyPr>
          <a:lstStyle/>
          <a:p>
            <a:r>
              <a:rPr lang="en-US" sz="900" b="0" strike="noStrike" spc="-1">
                <a:solidFill>
                  <a:srgbClr val="62728B"/>
                </a:solidFill>
                <a:latin typeface="Calibri"/>
                <a:ea typeface="Calibri"/>
              </a:rPr>
              <a:t>Slow</a:t>
            </a:r>
            <a:endParaRPr lang="en-US" sz="900" b="0" strike="noStrike" spc="-1">
              <a:solidFill>
                <a:srgbClr val="000000"/>
              </a:solidFill>
              <a:latin typeface="Arial"/>
            </a:endParaRPr>
          </a:p>
        </p:txBody>
      </p:sp>
      <p:sp>
        <p:nvSpPr>
          <p:cNvPr id="240" name="Freeform 239"/>
          <p:cNvSpPr/>
          <p:nvPr/>
        </p:nvSpPr>
        <p:spPr>
          <a:xfrm>
            <a:off x="4827960" y="4005000"/>
            <a:ext cx="3786480" cy="302400"/>
          </a:xfrm>
          <a:custGeom>
            <a:avLst/>
            <a:gdLst/>
            <a:ahLst/>
            <a:cxnLst/>
            <a:rect l="0" t="0" r="r" b="b"/>
            <a:pathLst>
              <a:path w="10518" h="840">
                <a:moveTo>
                  <a:pt x="0" y="0"/>
                </a:moveTo>
                <a:lnTo>
                  <a:pt x="10518" y="0"/>
                </a:lnTo>
                <a:lnTo>
                  <a:pt x="10518"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241" name="TextBox 240"/>
          <p:cNvSpPr txBox="1"/>
          <p:nvPr/>
        </p:nvSpPr>
        <p:spPr>
          <a:xfrm>
            <a:off x="4937040" y="4050720"/>
            <a:ext cx="1693080" cy="229320"/>
          </a:xfrm>
          <a:prstGeom prst="rect">
            <a:avLst/>
          </a:prstGeom>
          <a:noFill/>
          <a:ln w="0">
            <a:noFill/>
          </a:ln>
        </p:spPr>
        <p:txBody>
          <a:bodyPr lIns="90000" tIns="45000" rIns="90000" bIns="45000" anchor="t">
            <a:noAutofit/>
          </a:bodyPr>
          <a:lstStyle/>
          <a:p>
            <a:r>
              <a:rPr lang="en-US" sz="900" b="0" strike="noStrike" spc="-1">
                <a:solidFill>
                  <a:srgbClr val="1C2739"/>
                </a:solidFill>
                <a:latin typeface="Calibri"/>
                <a:ea typeface="Calibri"/>
              </a:rPr>
              <a:t>EXP5 — no BN</a:t>
            </a:r>
            <a:endParaRPr lang="en-US" sz="900" b="0" strike="noStrike" spc="-1">
              <a:solidFill>
                <a:srgbClr val="000000"/>
              </a:solidFill>
              <a:latin typeface="Arial"/>
            </a:endParaRPr>
          </a:p>
        </p:txBody>
      </p:sp>
      <p:sp>
        <p:nvSpPr>
          <p:cNvPr id="242" name="TextBox 241"/>
          <p:cNvSpPr txBox="1"/>
          <p:nvPr/>
        </p:nvSpPr>
        <p:spPr>
          <a:xfrm>
            <a:off x="6811560" y="4050720"/>
            <a:ext cx="732960" cy="224640"/>
          </a:xfrm>
          <a:prstGeom prst="rect">
            <a:avLst/>
          </a:prstGeom>
          <a:noFill/>
          <a:ln w="0">
            <a:noFill/>
          </a:ln>
        </p:spPr>
        <p:txBody>
          <a:bodyPr lIns="90000" tIns="45000" rIns="90000" bIns="45000" anchor="t">
            <a:noAutofit/>
          </a:bodyPr>
          <a:lstStyle/>
          <a:p>
            <a:r>
              <a:rPr lang="en-US" sz="900" b="1" strike="noStrike" spc="-1">
                <a:solidFill>
                  <a:srgbClr val="DC2424"/>
                </a:solidFill>
                <a:latin typeface="Calibri-Bold"/>
                <a:ea typeface="Calibri-Bold"/>
              </a:rPr>
              <a:t>2.73%</a:t>
            </a:r>
            <a:endParaRPr lang="en-US" sz="900" b="0" strike="noStrike" spc="-1">
              <a:solidFill>
                <a:srgbClr val="000000"/>
              </a:solidFill>
              <a:latin typeface="Arial"/>
            </a:endParaRPr>
          </a:p>
        </p:txBody>
      </p:sp>
      <p:sp>
        <p:nvSpPr>
          <p:cNvPr id="243" name="TextBox 242"/>
          <p:cNvSpPr txBox="1"/>
          <p:nvPr/>
        </p:nvSpPr>
        <p:spPr>
          <a:xfrm>
            <a:off x="7680240" y="4050720"/>
            <a:ext cx="732960" cy="368280"/>
          </a:xfrm>
          <a:prstGeom prst="rect">
            <a:avLst/>
          </a:prstGeom>
          <a:noFill/>
          <a:ln w="0">
            <a:noFill/>
          </a:ln>
        </p:spPr>
        <p:txBody>
          <a:bodyPr lIns="90000" tIns="45000" rIns="90000" bIns="45000" anchor="t">
            <a:noAutofit/>
          </a:bodyPr>
          <a:lstStyle/>
          <a:p>
            <a:r>
              <a:rPr lang="en-US" sz="900" b="0" strike="noStrike" spc="-1">
                <a:solidFill>
                  <a:srgbClr val="62728B"/>
                </a:solidFill>
                <a:latin typeface="Calibri"/>
                <a:ea typeface="Calibri"/>
              </a:rPr>
              <a:t>💀 Collapse</a:t>
            </a:r>
            <a:endParaRPr lang="en-US" sz="900" b="0" strike="noStrike" spc="-1">
              <a:solidFill>
                <a:srgbClr val="000000"/>
              </a:solidFill>
              <a:latin typeface="Arial"/>
            </a:endParaRPr>
          </a:p>
        </p:txBody>
      </p:sp>
      <p:sp>
        <p:nvSpPr>
          <p:cNvPr id="244" name="Freeform 243"/>
          <p:cNvSpPr/>
          <p:nvPr/>
        </p:nvSpPr>
        <p:spPr>
          <a:xfrm>
            <a:off x="4827960" y="4343400"/>
            <a:ext cx="3786480" cy="302400"/>
          </a:xfrm>
          <a:custGeom>
            <a:avLst/>
            <a:gdLst/>
            <a:ahLst/>
            <a:cxnLst/>
            <a:rect l="0" t="0" r="r" b="b"/>
            <a:pathLst>
              <a:path w="10518" h="840">
                <a:moveTo>
                  <a:pt x="0" y="0"/>
                </a:moveTo>
                <a:lnTo>
                  <a:pt x="10518" y="0"/>
                </a:lnTo>
                <a:lnTo>
                  <a:pt x="10518"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245" name="TextBox 244"/>
          <p:cNvSpPr txBox="1"/>
          <p:nvPr/>
        </p:nvSpPr>
        <p:spPr>
          <a:xfrm>
            <a:off x="4937040" y="4389120"/>
            <a:ext cx="1693080" cy="229320"/>
          </a:xfrm>
          <a:prstGeom prst="rect">
            <a:avLst/>
          </a:prstGeom>
          <a:noFill/>
          <a:ln w="0">
            <a:noFill/>
          </a:ln>
        </p:spPr>
        <p:txBody>
          <a:bodyPr lIns="90000" tIns="45000" rIns="90000" bIns="45000" anchor="t">
            <a:noAutofit/>
          </a:bodyPr>
          <a:lstStyle/>
          <a:p>
            <a:r>
              <a:rPr lang="en-US" sz="900" b="0" strike="noStrike" spc="-1">
                <a:solidFill>
                  <a:srgbClr val="1C2739"/>
                </a:solidFill>
                <a:latin typeface="Calibri"/>
                <a:ea typeface="Calibri"/>
              </a:rPr>
              <a:t>EXP6 — heavy aug</a:t>
            </a:r>
            <a:endParaRPr lang="en-US" sz="900" b="0" strike="noStrike" spc="-1">
              <a:solidFill>
                <a:srgbClr val="000000"/>
              </a:solidFill>
              <a:latin typeface="Arial"/>
            </a:endParaRPr>
          </a:p>
        </p:txBody>
      </p:sp>
      <p:sp>
        <p:nvSpPr>
          <p:cNvPr id="246" name="TextBox 245"/>
          <p:cNvSpPr txBox="1"/>
          <p:nvPr/>
        </p:nvSpPr>
        <p:spPr>
          <a:xfrm>
            <a:off x="6811560" y="4389120"/>
            <a:ext cx="732960" cy="224640"/>
          </a:xfrm>
          <a:prstGeom prst="rect">
            <a:avLst/>
          </a:prstGeom>
          <a:noFill/>
          <a:ln w="0">
            <a:noFill/>
          </a:ln>
        </p:spPr>
        <p:txBody>
          <a:bodyPr lIns="90000" tIns="45000" rIns="90000" bIns="45000" anchor="t">
            <a:noAutofit/>
          </a:bodyPr>
          <a:lstStyle/>
          <a:p>
            <a:r>
              <a:rPr lang="en-US" sz="900" b="1" strike="noStrike" spc="-1">
                <a:solidFill>
                  <a:srgbClr val="D97504"/>
                </a:solidFill>
                <a:latin typeface="Calibri-Bold"/>
                <a:ea typeface="Calibri-Bold"/>
              </a:rPr>
              <a:t>25.16%</a:t>
            </a:r>
            <a:endParaRPr lang="en-US" sz="900" b="0" strike="noStrike" spc="-1">
              <a:solidFill>
                <a:srgbClr val="000000"/>
              </a:solidFill>
              <a:latin typeface="Arial"/>
            </a:endParaRPr>
          </a:p>
        </p:txBody>
      </p:sp>
      <p:sp>
        <p:nvSpPr>
          <p:cNvPr id="247" name="TextBox 246"/>
          <p:cNvSpPr txBox="1"/>
          <p:nvPr/>
        </p:nvSpPr>
        <p:spPr>
          <a:xfrm>
            <a:off x="7680240" y="4389120"/>
            <a:ext cx="732960" cy="229320"/>
          </a:xfrm>
          <a:prstGeom prst="rect">
            <a:avLst/>
          </a:prstGeom>
          <a:noFill/>
          <a:ln w="0">
            <a:noFill/>
          </a:ln>
        </p:spPr>
        <p:txBody>
          <a:bodyPr lIns="90000" tIns="45000" rIns="90000" bIns="45000" anchor="t">
            <a:noAutofit/>
          </a:bodyPr>
          <a:lstStyle/>
          <a:p>
            <a:r>
              <a:rPr lang="en-US" sz="900" b="0" strike="noStrike" spc="-1">
                <a:solidFill>
                  <a:srgbClr val="62728B"/>
                </a:solidFill>
                <a:latin typeface="Calibri"/>
                <a:ea typeface="Calibri"/>
              </a:rPr>
              <a:t>Underfit</a:t>
            </a:r>
            <a:endParaRPr lang="en-US" sz="900" b="0" strike="noStrike" spc="-1">
              <a:solidFill>
                <a:srgbClr val="000000"/>
              </a:solidFill>
              <a:latin typeface="Arial"/>
            </a:endParaRPr>
          </a:p>
        </p:txBody>
      </p:sp>
      <p:sp>
        <p:nvSpPr>
          <p:cNvPr id="248" name="Freeform 247"/>
          <p:cNvSpPr/>
          <p:nvPr/>
        </p:nvSpPr>
        <p:spPr>
          <a:xfrm>
            <a:off x="365760" y="4709160"/>
            <a:ext cx="8413200" cy="293400"/>
          </a:xfrm>
          <a:custGeom>
            <a:avLst/>
            <a:gdLst/>
            <a:ahLst/>
            <a:cxnLst/>
            <a:rect l="0" t="0" r="r" b="b"/>
            <a:pathLst>
              <a:path w="23370" h="815">
                <a:moveTo>
                  <a:pt x="0" y="0"/>
                </a:moveTo>
                <a:lnTo>
                  <a:pt x="23370" y="0"/>
                </a:lnTo>
                <a:lnTo>
                  <a:pt x="23370" y="815"/>
                </a:lnTo>
                <a:lnTo>
                  <a:pt x="0" y="815"/>
                </a:lnTo>
                <a:lnTo>
                  <a:pt x="0" y="0"/>
                </a:lnTo>
                <a:close/>
              </a:path>
            </a:pathLst>
          </a:custGeom>
          <a:solidFill>
            <a:srgbClr val="EDE9FE"/>
          </a:solidFill>
          <a:ln w="12600">
            <a:solidFill>
              <a:srgbClr val="7A38ED"/>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249" name="TextBox 248"/>
          <p:cNvSpPr txBox="1"/>
          <p:nvPr/>
        </p:nvSpPr>
        <p:spPr>
          <a:xfrm>
            <a:off x="547920" y="4709160"/>
            <a:ext cx="8048160" cy="386280"/>
          </a:xfrm>
          <a:prstGeom prst="rect">
            <a:avLst/>
          </a:prstGeom>
          <a:noFill/>
          <a:ln w="0">
            <a:noFill/>
          </a:ln>
        </p:spPr>
        <p:txBody>
          <a:bodyPr lIns="90000" tIns="45000" rIns="90000" bIns="45000" anchor="t">
            <a:noAutofit/>
          </a:bodyPr>
          <a:lstStyle/>
          <a:p>
            <a:r>
              <a:rPr lang="en-US" sz="1000" b="1" strike="noStrike" spc="-1">
                <a:solidFill>
                  <a:srgbClr val="7A38ED"/>
                </a:solidFill>
                <a:latin typeface="Calibri-Bold"/>
                <a:ea typeface="Calibri-Bold"/>
              </a:rPr>
              <a:t>🔑  BatchNorm is critical — without it the model collapses to 2.73%. Dropout and 100 epochs are essential for generalization.</a:t>
            </a:r>
            <a:endParaRPr lang="en-US" sz="1000" b="0" strike="noStrike" spc="-1">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50" name="Freeform 249"/>
          <p:cNvSpPr/>
          <p:nvPr/>
        </p:nvSpPr>
        <p:spPr>
          <a:xfrm>
            <a:off x="0" y="0"/>
            <a:ext cx="9144720" cy="55440"/>
          </a:xfrm>
          <a:custGeom>
            <a:avLst/>
            <a:gdLst/>
            <a:ahLst/>
            <a:cxnLst/>
            <a:rect l="0" t="0" r="r" b="b"/>
            <a:pathLst>
              <a:path w="25402" h="154">
                <a:moveTo>
                  <a:pt x="0" y="0"/>
                </a:moveTo>
                <a:lnTo>
                  <a:pt x="25402" y="0"/>
                </a:lnTo>
                <a:lnTo>
                  <a:pt x="25402" y="154"/>
                </a:lnTo>
                <a:lnTo>
                  <a:pt x="0" y="154"/>
                </a:lnTo>
                <a:lnTo>
                  <a:pt x="0" y="0"/>
                </a:lnTo>
                <a:close/>
              </a:path>
            </a:pathLst>
          </a:custGeom>
          <a:solidFill>
            <a:srgbClr val="2361EB"/>
          </a:solidFill>
          <a:ln w="12600">
            <a:solidFill>
              <a:srgbClr val="2361EB"/>
            </a:solidFill>
            <a:round/>
          </a:ln>
        </p:spPr>
        <p:txBody>
          <a:bodyPr lIns="96120" tIns="4320" rIns="96120" bIns="4320" anchor="t">
            <a:noAutofit/>
          </a:bodyPr>
          <a:lstStyle/>
          <a:p>
            <a:endParaRPr lang="en-US" sz="1800" b="0" strike="noStrike" spc="-1">
              <a:solidFill>
                <a:srgbClr val="FFFFFF"/>
              </a:solidFill>
              <a:latin typeface="Arial"/>
            </a:endParaRPr>
          </a:p>
        </p:txBody>
      </p:sp>
      <p:sp>
        <p:nvSpPr>
          <p:cNvPr id="251" name="TextBox 250"/>
          <p:cNvSpPr txBox="1"/>
          <p:nvPr/>
        </p:nvSpPr>
        <p:spPr>
          <a:xfrm>
            <a:off x="502200" y="164520"/>
            <a:ext cx="8139600" cy="502920"/>
          </a:xfrm>
          <a:prstGeom prst="rect">
            <a:avLst/>
          </a:prstGeom>
          <a:noFill/>
          <a:ln w="0">
            <a:noFill/>
          </a:ln>
        </p:spPr>
        <p:txBody>
          <a:bodyPr lIns="90000" tIns="45000" rIns="90000" bIns="45000" anchor="t">
            <a:noAutofit/>
          </a:bodyPr>
          <a:lstStyle/>
          <a:p>
            <a:r>
              <a:rPr lang="en-US" sz="2600" b="1" strike="noStrike" spc="-1">
                <a:solidFill>
                  <a:srgbClr val="182C48"/>
                </a:solidFill>
                <a:latin typeface="Calibri-Bold"/>
                <a:ea typeface="Calibri-Bold"/>
              </a:rPr>
              <a:t>ResNet18 — Architecture</a:t>
            </a:r>
            <a:endParaRPr lang="en-US" sz="2600" b="0" strike="noStrike" spc="-1">
              <a:solidFill>
                <a:srgbClr val="000000"/>
              </a:solidFill>
              <a:latin typeface="Arial"/>
            </a:endParaRPr>
          </a:p>
        </p:txBody>
      </p:sp>
      <p:sp>
        <p:nvSpPr>
          <p:cNvPr id="252" name="TextBox 251"/>
          <p:cNvSpPr txBox="1"/>
          <p:nvPr/>
        </p:nvSpPr>
        <p:spPr>
          <a:xfrm>
            <a:off x="502200" y="658440"/>
            <a:ext cx="8139600" cy="292680"/>
          </a:xfrm>
          <a:prstGeom prst="rect">
            <a:avLst/>
          </a:prstGeom>
          <a:noFill/>
          <a:ln w="0">
            <a:noFill/>
          </a:ln>
        </p:spPr>
        <p:txBody>
          <a:bodyPr lIns="90000" tIns="45000" rIns="90000" bIns="45000" anchor="t">
            <a:noAutofit/>
          </a:bodyPr>
          <a:lstStyle/>
          <a:p>
            <a:r>
              <a:rPr lang="en-US" sz="1200" b="0" i="1" strike="noStrike" spc="-1">
                <a:solidFill>
                  <a:srgbClr val="62728B"/>
                </a:solidFill>
                <a:latin typeface="Calibri-Italic"/>
                <a:ea typeface="Calibri-Italic"/>
              </a:rPr>
              <a:t>Pre-trained on ImageNet — fine-tuned on Oxford Pet</a:t>
            </a:r>
            <a:endParaRPr lang="en-US" sz="1200" b="0" strike="noStrike" spc="-1">
              <a:solidFill>
                <a:srgbClr val="000000"/>
              </a:solidFill>
              <a:latin typeface="Arial"/>
            </a:endParaRPr>
          </a:p>
        </p:txBody>
      </p:sp>
      <p:sp>
        <p:nvSpPr>
          <p:cNvPr id="253" name="Straight Connector 252"/>
          <p:cNvSpPr/>
          <p:nvPr/>
        </p:nvSpPr>
        <p:spPr>
          <a:xfrm>
            <a:off x="457200" y="960120"/>
            <a:ext cx="8229600" cy="0"/>
          </a:xfrm>
          <a:prstGeom prst="line">
            <a:avLst/>
          </a:prstGeom>
          <a:ln w="12600">
            <a:solidFill>
              <a:srgbClr val="E2E8F0"/>
            </a:solidFill>
            <a:round/>
          </a:ln>
        </p:spPr>
        <p:style>
          <a:lnRef idx="0">
            <a:scrgbClr r="0" g="0" b="0"/>
          </a:lnRef>
          <a:fillRef idx="0">
            <a:scrgbClr r="0" g="0" b="0"/>
          </a:fillRef>
          <a:effectRef idx="0">
            <a:scrgbClr r="0" g="0" b="0"/>
          </a:effectRef>
          <a:fontRef idx="minor"/>
        </p:style>
        <p:txBody>
          <a:bodyPr lIns="96120" tIns="-51120" rIns="96120" bIns="-51120" anchor="t">
            <a:noAutofit/>
          </a:bodyPr>
          <a:lstStyle/>
          <a:p>
            <a:endParaRPr lang="en-US" sz="1800" b="0" strike="noStrike" spc="-1">
              <a:solidFill>
                <a:srgbClr val="000000"/>
              </a:solidFill>
              <a:latin typeface="Arial"/>
            </a:endParaRPr>
          </a:p>
        </p:txBody>
      </p:sp>
      <p:sp>
        <p:nvSpPr>
          <p:cNvPr id="254" name="Freeform 253"/>
          <p:cNvSpPr/>
          <p:nvPr/>
        </p:nvSpPr>
        <p:spPr>
          <a:xfrm>
            <a:off x="274320" y="1097280"/>
            <a:ext cx="1280880" cy="823680"/>
          </a:xfrm>
          <a:custGeom>
            <a:avLst/>
            <a:gdLst/>
            <a:ahLst/>
            <a:cxnLst/>
            <a:rect l="0" t="0" r="r" b="b"/>
            <a:pathLst>
              <a:path w="3558" h="2288">
                <a:moveTo>
                  <a:pt x="0" y="0"/>
                </a:moveTo>
                <a:lnTo>
                  <a:pt x="3558" y="0"/>
                </a:lnTo>
                <a:lnTo>
                  <a:pt x="3558" y="2288"/>
                </a:lnTo>
                <a:lnTo>
                  <a:pt x="0" y="2288"/>
                </a:lnTo>
                <a:lnTo>
                  <a:pt x="0" y="0"/>
                </a:lnTo>
                <a:close/>
              </a:path>
            </a:pathLst>
          </a:custGeom>
          <a:solidFill>
            <a:srgbClr val="62728B"/>
          </a:solidFill>
          <a:ln w="12600">
            <a:solidFill>
              <a:srgbClr val="62728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255" name="TextBox 254"/>
          <p:cNvSpPr txBox="1"/>
          <p:nvPr/>
        </p:nvSpPr>
        <p:spPr>
          <a:xfrm>
            <a:off x="356040" y="1097280"/>
            <a:ext cx="1117080" cy="822960"/>
          </a:xfrm>
          <a:prstGeom prst="rect">
            <a:avLst/>
          </a:prstGeom>
          <a:noFill/>
          <a:ln w="0">
            <a:noFill/>
          </a:ln>
        </p:spPr>
        <p:txBody>
          <a:bodyPr lIns="90000" tIns="45000" rIns="90000" bIns="45000" anchor="t">
            <a:noAutofit/>
          </a:bodyPr>
          <a:lstStyle/>
          <a:p>
            <a:pPr algn="ctr"/>
            <a:r>
              <a:rPr lang="en-US" sz="900" b="1" strike="noStrike" spc="-1">
                <a:solidFill>
                  <a:srgbClr val="FFFFFF"/>
                </a:solidFill>
                <a:latin typeface="Calibri-Bold"/>
                <a:ea typeface="Calibri-Bold"/>
              </a:rPr>
              <a:t>Input</a:t>
            </a:r>
            <a:endParaRPr lang="en-US" sz="900" b="0" strike="noStrike" spc="-1">
              <a:solidFill>
                <a:srgbClr val="000000"/>
              </a:solidFill>
              <a:latin typeface="Arial"/>
            </a:endParaRPr>
          </a:p>
          <a:p>
            <a:pPr algn="ctr"/>
            <a:r>
              <a:rPr lang="en-US" sz="900" b="1" strike="noStrike" spc="-1">
                <a:solidFill>
                  <a:srgbClr val="FFFFFF"/>
                </a:solidFill>
                <a:latin typeface="Calibri-Bold"/>
                <a:ea typeface="Calibri-Bold"/>
              </a:rPr>
              <a:t>224×224</a:t>
            </a:r>
            <a:endParaRPr lang="en-US" sz="900" b="0" strike="noStrike" spc="-1">
              <a:solidFill>
                <a:srgbClr val="000000"/>
              </a:solidFill>
              <a:latin typeface="Arial"/>
            </a:endParaRPr>
          </a:p>
        </p:txBody>
      </p:sp>
      <p:sp>
        <p:nvSpPr>
          <p:cNvPr id="256" name="Straight Connector 255"/>
          <p:cNvSpPr/>
          <p:nvPr/>
        </p:nvSpPr>
        <p:spPr>
          <a:xfrm>
            <a:off x="1554480" y="1508760"/>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257" name="Freeform 256"/>
          <p:cNvSpPr/>
          <p:nvPr/>
        </p:nvSpPr>
        <p:spPr>
          <a:xfrm>
            <a:off x="1710000" y="1097280"/>
            <a:ext cx="1280880" cy="823680"/>
          </a:xfrm>
          <a:custGeom>
            <a:avLst/>
            <a:gdLst/>
            <a:ahLst/>
            <a:cxnLst/>
            <a:rect l="0" t="0" r="r" b="b"/>
            <a:pathLst>
              <a:path w="3558" h="2288">
                <a:moveTo>
                  <a:pt x="0" y="0"/>
                </a:moveTo>
                <a:lnTo>
                  <a:pt x="3558" y="0"/>
                </a:lnTo>
                <a:lnTo>
                  <a:pt x="3558" y="2288"/>
                </a:lnTo>
                <a:lnTo>
                  <a:pt x="0" y="2288"/>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258" name="TextBox 257"/>
          <p:cNvSpPr txBox="1"/>
          <p:nvPr/>
        </p:nvSpPr>
        <p:spPr>
          <a:xfrm>
            <a:off x="1791360" y="1097280"/>
            <a:ext cx="1117080" cy="822960"/>
          </a:xfrm>
          <a:prstGeom prst="rect">
            <a:avLst/>
          </a:prstGeom>
          <a:noFill/>
          <a:ln w="0">
            <a:noFill/>
          </a:ln>
        </p:spPr>
        <p:txBody>
          <a:bodyPr lIns="90000" tIns="45000" rIns="90000" bIns="45000" anchor="t">
            <a:noAutofit/>
          </a:bodyPr>
          <a:lstStyle/>
          <a:p>
            <a:pPr algn="ctr"/>
            <a:r>
              <a:rPr lang="en-US" sz="900" b="1" strike="noStrike" spc="-1">
                <a:solidFill>
                  <a:srgbClr val="FFFFFF"/>
                </a:solidFill>
                <a:latin typeface="Calibri-Bold"/>
                <a:ea typeface="Calibri-Bold"/>
              </a:rPr>
              <a:t>Layers 1–2</a:t>
            </a:r>
            <a:endParaRPr lang="en-US" sz="900" b="0" strike="noStrike" spc="-1">
              <a:solidFill>
                <a:srgbClr val="000000"/>
              </a:solidFill>
              <a:latin typeface="Arial"/>
            </a:endParaRPr>
          </a:p>
          <a:p>
            <a:pPr algn="ctr"/>
            <a:r>
              <a:rPr lang="en-US" sz="900" b="1" strike="noStrike" spc="-1">
                <a:solidFill>
                  <a:srgbClr val="FFFFFF"/>
                </a:solidFill>
                <a:latin typeface="Calibri-Bold"/>
                <a:ea typeface="Calibri-Bold"/>
              </a:rPr>
              <a:t>frozen</a:t>
            </a:r>
            <a:endParaRPr lang="en-US" sz="900" b="0" strike="noStrike" spc="-1">
              <a:solidFill>
                <a:srgbClr val="000000"/>
              </a:solidFill>
              <a:latin typeface="Arial"/>
            </a:endParaRPr>
          </a:p>
        </p:txBody>
      </p:sp>
      <p:sp>
        <p:nvSpPr>
          <p:cNvPr id="259" name="Straight Connector 258"/>
          <p:cNvSpPr/>
          <p:nvPr/>
        </p:nvSpPr>
        <p:spPr>
          <a:xfrm>
            <a:off x="2990160" y="1508760"/>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260" name="Freeform 259"/>
          <p:cNvSpPr/>
          <p:nvPr/>
        </p:nvSpPr>
        <p:spPr>
          <a:xfrm>
            <a:off x="3145680" y="1097280"/>
            <a:ext cx="1280880" cy="823680"/>
          </a:xfrm>
          <a:custGeom>
            <a:avLst/>
            <a:gdLst/>
            <a:ahLst/>
            <a:cxnLst/>
            <a:rect l="0" t="0" r="r" b="b"/>
            <a:pathLst>
              <a:path w="3558" h="2288">
                <a:moveTo>
                  <a:pt x="0" y="0"/>
                </a:moveTo>
                <a:lnTo>
                  <a:pt x="3558" y="0"/>
                </a:lnTo>
                <a:lnTo>
                  <a:pt x="3558" y="2288"/>
                </a:lnTo>
                <a:lnTo>
                  <a:pt x="0" y="2288"/>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261" name="TextBox 260"/>
          <p:cNvSpPr txBox="1"/>
          <p:nvPr/>
        </p:nvSpPr>
        <p:spPr>
          <a:xfrm>
            <a:off x="3227040" y="1097280"/>
            <a:ext cx="1117080" cy="822960"/>
          </a:xfrm>
          <a:prstGeom prst="rect">
            <a:avLst/>
          </a:prstGeom>
          <a:noFill/>
          <a:ln w="0">
            <a:noFill/>
          </a:ln>
        </p:spPr>
        <p:txBody>
          <a:bodyPr lIns="90000" tIns="45000" rIns="90000" bIns="45000" anchor="t">
            <a:noAutofit/>
          </a:bodyPr>
          <a:lstStyle/>
          <a:p>
            <a:pPr algn="ctr"/>
            <a:r>
              <a:rPr lang="en-US" sz="900" b="1" strike="noStrike" spc="-1">
                <a:solidFill>
                  <a:srgbClr val="FFFFFF"/>
                </a:solidFill>
                <a:latin typeface="Calibri-Bold"/>
                <a:ea typeface="Calibri-Bold"/>
              </a:rPr>
              <a:t>Layer 3</a:t>
            </a:r>
            <a:endParaRPr lang="en-US" sz="900" b="0" strike="noStrike" spc="-1">
              <a:solidFill>
                <a:srgbClr val="000000"/>
              </a:solidFill>
              <a:latin typeface="Arial"/>
            </a:endParaRPr>
          </a:p>
          <a:p>
            <a:pPr algn="ctr"/>
            <a:r>
              <a:rPr lang="en-US" sz="900" b="1" strike="noStrike" spc="-1">
                <a:solidFill>
                  <a:srgbClr val="FFFFFF"/>
                </a:solidFill>
                <a:latin typeface="Calibri-Bold"/>
                <a:ea typeface="Calibri-Bold"/>
              </a:rPr>
              <a:t>frozen</a:t>
            </a:r>
            <a:endParaRPr lang="en-US" sz="900" b="0" strike="noStrike" spc="-1">
              <a:solidFill>
                <a:srgbClr val="000000"/>
              </a:solidFill>
              <a:latin typeface="Arial"/>
            </a:endParaRPr>
          </a:p>
        </p:txBody>
      </p:sp>
      <p:sp>
        <p:nvSpPr>
          <p:cNvPr id="262" name="Straight Connector 261"/>
          <p:cNvSpPr/>
          <p:nvPr/>
        </p:nvSpPr>
        <p:spPr>
          <a:xfrm>
            <a:off x="4425840" y="1508760"/>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263" name="Freeform 262"/>
          <p:cNvSpPr/>
          <p:nvPr/>
        </p:nvSpPr>
        <p:spPr>
          <a:xfrm>
            <a:off x="4581000" y="1097280"/>
            <a:ext cx="1280880" cy="823680"/>
          </a:xfrm>
          <a:custGeom>
            <a:avLst/>
            <a:gdLst/>
            <a:ahLst/>
            <a:cxnLst/>
            <a:rect l="0" t="0" r="r" b="b"/>
            <a:pathLst>
              <a:path w="3558" h="2288">
                <a:moveTo>
                  <a:pt x="0" y="0"/>
                </a:moveTo>
                <a:lnTo>
                  <a:pt x="3558" y="0"/>
                </a:lnTo>
                <a:lnTo>
                  <a:pt x="3558" y="2288"/>
                </a:lnTo>
                <a:lnTo>
                  <a:pt x="0" y="2288"/>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264" name="TextBox 263"/>
          <p:cNvSpPr txBox="1"/>
          <p:nvPr/>
        </p:nvSpPr>
        <p:spPr>
          <a:xfrm>
            <a:off x="4662720" y="1097280"/>
            <a:ext cx="1117080" cy="822960"/>
          </a:xfrm>
          <a:prstGeom prst="rect">
            <a:avLst/>
          </a:prstGeom>
          <a:noFill/>
          <a:ln w="0">
            <a:noFill/>
          </a:ln>
        </p:spPr>
        <p:txBody>
          <a:bodyPr lIns="90000" tIns="45000" rIns="90000" bIns="45000" anchor="t">
            <a:noAutofit/>
          </a:bodyPr>
          <a:lstStyle/>
          <a:p>
            <a:pPr algn="ctr"/>
            <a:r>
              <a:rPr lang="en-US" sz="900" b="1" strike="noStrike" spc="-1">
                <a:solidFill>
                  <a:srgbClr val="FFFFFF"/>
                </a:solidFill>
                <a:latin typeface="Calibri-Bold"/>
                <a:ea typeface="Calibri-Bold"/>
              </a:rPr>
              <a:t>Layer 4</a:t>
            </a:r>
            <a:endParaRPr lang="en-US" sz="900" b="0" strike="noStrike" spc="-1">
              <a:solidFill>
                <a:srgbClr val="000000"/>
              </a:solidFill>
              <a:latin typeface="Arial"/>
            </a:endParaRPr>
          </a:p>
          <a:p>
            <a:pPr algn="ctr"/>
            <a:r>
              <a:rPr lang="en-US" sz="900" b="1" strike="noStrike" spc="-1">
                <a:solidFill>
                  <a:srgbClr val="FFFFFF"/>
                </a:solidFill>
                <a:latin typeface="Calibri-Bold"/>
                <a:ea typeface="Calibri-Bold"/>
              </a:rPr>
              <a:t>fine-tuned</a:t>
            </a:r>
            <a:endParaRPr lang="en-US" sz="900" b="0" strike="noStrike" spc="-1">
              <a:solidFill>
                <a:srgbClr val="000000"/>
              </a:solidFill>
              <a:latin typeface="Arial"/>
            </a:endParaRPr>
          </a:p>
        </p:txBody>
      </p:sp>
      <p:sp>
        <p:nvSpPr>
          <p:cNvPr id="265" name="Straight Connector 264"/>
          <p:cNvSpPr/>
          <p:nvPr/>
        </p:nvSpPr>
        <p:spPr>
          <a:xfrm>
            <a:off x="5861160" y="1508760"/>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266" name="Freeform 265"/>
          <p:cNvSpPr/>
          <p:nvPr/>
        </p:nvSpPr>
        <p:spPr>
          <a:xfrm>
            <a:off x="6016680" y="1097280"/>
            <a:ext cx="1280880" cy="823680"/>
          </a:xfrm>
          <a:custGeom>
            <a:avLst/>
            <a:gdLst/>
            <a:ahLst/>
            <a:cxnLst/>
            <a:rect l="0" t="0" r="r" b="b"/>
            <a:pathLst>
              <a:path w="3558" h="2288">
                <a:moveTo>
                  <a:pt x="0" y="0"/>
                </a:moveTo>
                <a:lnTo>
                  <a:pt x="3558" y="0"/>
                </a:lnTo>
                <a:lnTo>
                  <a:pt x="3558" y="2288"/>
                </a:lnTo>
                <a:lnTo>
                  <a:pt x="0" y="2288"/>
                </a:lnTo>
                <a:lnTo>
                  <a:pt x="0" y="0"/>
                </a:lnTo>
                <a:close/>
              </a:path>
            </a:pathLst>
          </a:custGeom>
          <a:solidFill>
            <a:srgbClr val="0691B2"/>
          </a:solidFill>
          <a:ln w="12600">
            <a:solidFill>
              <a:srgbClr val="0691B2"/>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267" name="TextBox 266"/>
          <p:cNvSpPr txBox="1"/>
          <p:nvPr/>
        </p:nvSpPr>
        <p:spPr>
          <a:xfrm>
            <a:off x="6098400" y="1097280"/>
            <a:ext cx="1117080" cy="822960"/>
          </a:xfrm>
          <a:prstGeom prst="rect">
            <a:avLst/>
          </a:prstGeom>
          <a:noFill/>
          <a:ln w="0">
            <a:noFill/>
          </a:ln>
        </p:spPr>
        <p:txBody>
          <a:bodyPr lIns="90000" tIns="45000" rIns="90000" bIns="45000" anchor="t">
            <a:noAutofit/>
          </a:bodyPr>
          <a:lstStyle/>
          <a:p>
            <a:pPr algn="ctr"/>
            <a:r>
              <a:rPr lang="en-US" sz="900" b="1" strike="noStrike" spc="-1">
                <a:solidFill>
                  <a:srgbClr val="FFFFFF"/>
                </a:solidFill>
                <a:latin typeface="Calibri-Bold"/>
                <a:ea typeface="Calibri-Bold"/>
              </a:rPr>
              <a:t>GAP</a:t>
            </a:r>
            <a:endParaRPr lang="en-US" sz="900" b="0" strike="noStrike" spc="-1">
              <a:solidFill>
                <a:srgbClr val="000000"/>
              </a:solidFill>
              <a:latin typeface="Arial"/>
            </a:endParaRPr>
          </a:p>
          <a:p>
            <a:pPr algn="ctr"/>
            <a:r>
              <a:rPr lang="en-US" sz="900" b="1" strike="noStrike" spc="-1">
                <a:solidFill>
                  <a:srgbClr val="FFFFFF"/>
                </a:solidFill>
                <a:latin typeface="Calibri-Bold"/>
                <a:ea typeface="Calibri-Bold"/>
              </a:rPr>
              <a:t>AdaptivePool</a:t>
            </a:r>
            <a:endParaRPr lang="en-US" sz="900" b="0" strike="noStrike" spc="-1">
              <a:solidFill>
                <a:srgbClr val="000000"/>
              </a:solidFill>
              <a:latin typeface="Arial"/>
            </a:endParaRPr>
          </a:p>
        </p:txBody>
      </p:sp>
      <p:sp>
        <p:nvSpPr>
          <p:cNvPr id="268" name="Straight Connector 267"/>
          <p:cNvSpPr/>
          <p:nvPr/>
        </p:nvSpPr>
        <p:spPr>
          <a:xfrm>
            <a:off x="7296840" y="1508760"/>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269" name="Freeform 268"/>
          <p:cNvSpPr/>
          <p:nvPr/>
        </p:nvSpPr>
        <p:spPr>
          <a:xfrm>
            <a:off x="7452360" y="1097280"/>
            <a:ext cx="1280880" cy="823680"/>
          </a:xfrm>
          <a:custGeom>
            <a:avLst/>
            <a:gdLst/>
            <a:ahLst/>
            <a:cxnLst/>
            <a:rect l="0" t="0" r="r" b="b"/>
            <a:pathLst>
              <a:path w="3558" h="2288">
                <a:moveTo>
                  <a:pt x="0" y="0"/>
                </a:moveTo>
                <a:lnTo>
                  <a:pt x="3558" y="0"/>
                </a:lnTo>
                <a:lnTo>
                  <a:pt x="3558" y="2288"/>
                </a:lnTo>
                <a:lnTo>
                  <a:pt x="0" y="2288"/>
                </a:lnTo>
                <a:lnTo>
                  <a:pt x="0" y="0"/>
                </a:lnTo>
                <a:close/>
              </a:path>
            </a:pathLst>
          </a:custGeom>
          <a:solidFill>
            <a:srgbClr val="039667"/>
          </a:solidFill>
          <a:ln w="12600">
            <a:solidFill>
              <a:srgbClr val="039667"/>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270" name="TextBox 269"/>
          <p:cNvSpPr txBox="1"/>
          <p:nvPr/>
        </p:nvSpPr>
        <p:spPr>
          <a:xfrm>
            <a:off x="7534080" y="1097280"/>
            <a:ext cx="1117080" cy="822960"/>
          </a:xfrm>
          <a:prstGeom prst="rect">
            <a:avLst/>
          </a:prstGeom>
          <a:noFill/>
          <a:ln w="0">
            <a:noFill/>
          </a:ln>
        </p:spPr>
        <p:txBody>
          <a:bodyPr lIns="90000" tIns="45000" rIns="90000" bIns="45000" anchor="t">
            <a:noAutofit/>
          </a:bodyPr>
          <a:lstStyle/>
          <a:p>
            <a:pPr algn="ctr"/>
            <a:r>
              <a:rPr lang="en-US" sz="900" b="1" strike="noStrike" spc="-1">
                <a:solidFill>
                  <a:srgbClr val="FFFFFF"/>
                </a:solidFill>
                <a:latin typeface="Calibri-Bold"/>
                <a:ea typeface="Calibri-Bold"/>
              </a:rPr>
              <a:t>Linear</a:t>
            </a:r>
            <a:endParaRPr lang="en-US" sz="900" b="0" strike="noStrike" spc="-1">
              <a:solidFill>
                <a:srgbClr val="000000"/>
              </a:solidFill>
              <a:latin typeface="Arial"/>
            </a:endParaRPr>
          </a:p>
          <a:p>
            <a:pPr algn="ctr"/>
            <a:r>
              <a:rPr lang="en-US" sz="900" b="1" strike="noStrike" spc="-1">
                <a:solidFill>
                  <a:srgbClr val="FFFFFF"/>
                </a:solidFill>
                <a:latin typeface="Calibri-Bold"/>
                <a:ea typeface="Calibri-Bold"/>
              </a:rPr>
              <a:t>37 classes</a:t>
            </a:r>
            <a:endParaRPr lang="en-US" sz="900" b="0" strike="noStrike" spc="-1">
              <a:solidFill>
                <a:srgbClr val="000000"/>
              </a:solidFill>
              <a:latin typeface="Arial"/>
            </a:endParaRPr>
          </a:p>
        </p:txBody>
      </p:sp>
      <p:sp>
        <p:nvSpPr>
          <p:cNvPr id="271" name="Freeform 270"/>
          <p:cNvSpPr/>
          <p:nvPr/>
        </p:nvSpPr>
        <p:spPr>
          <a:xfrm>
            <a:off x="365760" y="2103120"/>
            <a:ext cx="4161240" cy="2698200"/>
          </a:xfrm>
          <a:custGeom>
            <a:avLst/>
            <a:gdLst/>
            <a:ahLst/>
            <a:cxnLst/>
            <a:rect l="0" t="0" r="r" b="b"/>
            <a:pathLst>
              <a:path w="11559" h="7495">
                <a:moveTo>
                  <a:pt x="0" y="0"/>
                </a:moveTo>
                <a:lnTo>
                  <a:pt x="11559" y="0"/>
                </a:lnTo>
                <a:lnTo>
                  <a:pt x="11559" y="7495"/>
                </a:lnTo>
                <a:lnTo>
                  <a:pt x="0" y="7495"/>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272" name="Freeform 271"/>
          <p:cNvSpPr/>
          <p:nvPr/>
        </p:nvSpPr>
        <p:spPr>
          <a:xfrm>
            <a:off x="365760" y="2103120"/>
            <a:ext cx="64800" cy="2698200"/>
          </a:xfrm>
          <a:custGeom>
            <a:avLst/>
            <a:gdLst/>
            <a:ahLst/>
            <a:cxnLst/>
            <a:rect l="0" t="0" r="r" b="b"/>
            <a:pathLst>
              <a:path w="180" h="7495">
                <a:moveTo>
                  <a:pt x="0" y="0"/>
                </a:moveTo>
                <a:lnTo>
                  <a:pt x="180" y="0"/>
                </a:lnTo>
                <a:lnTo>
                  <a:pt x="180" y="7495"/>
                </a:lnTo>
                <a:lnTo>
                  <a:pt x="0" y="7495"/>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273" name="TextBox 272"/>
          <p:cNvSpPr txBox="1"/>
          <p:nvPr/>
        </p:nvSpPr>
        <p:spPr>
          <a:xfrm>
            <a:off x="593640" y="2212920"/>
            <a:ext cx="3750480" cy="301680"/>
          </a:xfrm>
          <a:prstGeom prst="rect">
            <a:avLst/>
          </a:prstGeom>
          <a:noFill/>
          <a:ln w="0">
            <a:noFill/>
          </a:ln>
        </p:spPr>
        <p:txBody>
          <a:bodyPr lIns="90000" tIns="45000" rIns="90000" bIns="45000" anchor="t">
            <a:noAutofit/>
          </a:bodyPr>
          <a:lstStyle/>
          <a:p>
            <a:r>
              <a:rPr lang="en-US" sz="1300" b="1" strike="noStrike" spc="-1">
                <a:solidFill>
                  <a:srgbClr val="182C48"/>
                </a:solidFill>
                <a:latin typeface="Calibri-Bold"/>
                <a:ea typeface="Calibri-Bold"/>
              </a:rPr>
              <a:t>Training Configuration</a:t>
            </a:r>
            <a:endParaRPr lang="en-US" sz="1300" b="0" strike="noStrike" spc="-1">
              <a:solidFill>
                <a:srgbClr val="000000"/>
              </a:solidFill>
              <a:latin typeface="Arial"/>
            </a:endParaRPr>
          </a:p>
        </p:txBody>
      </p:sp>
      <p:sp>
        <p:nvSpPr>
          <p:cNvPr id="274" name="Freeform 273"/>
          <p:cNvSpPr/>
          <p:nvPr/>
        </p:nvSpPr>
        <p:spPr>
          <a:xfrm>
            <a:off x="502920" y="2624400"/>
            <a:ext cx="3886920" cy="302400"/>
          </a:xfrm>
          <a:custGeom>
            <a:avLst/>
            <a:gdLst/>
            <a:ahLst/>
            <a:cxnLst/>
            <a:rect l="0" t="0" r="r" b="b"/>
            <a:pathLst>
              <a:path w="10797" h="840">
                <a:moveTo>
                  <a:pt x="0" y="0"/>
                </a:moveTo>
                <a:lnTo>
                  <a:pt x="10797" y="0"/>
                </a:lnTo>
                <a:lnTo>
                  <a:pt x="10797"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275" name="TextBox 274"/>
          <p:cNvSpPr txBox="1"/>
          <p:nvPr/>
        </p:nvSpPr>
        <p:spPr>
          <a:xfrm>
            <a:off x="639360" y="2670120"/>
            <a:ext cx="1007280" cy="238320"/>
          </a:xfrm>
          <a:prstGeom prst="rect">
            <a:avLst/>
          </a:prstGeom>
          <a:noFill/>
          <a:ln w="0">
            <a:noFill/>
          </a:ln>
        </p:spPr>
        <p:txBody>
          <a:bodyPr lIns="90000" tIns="45000" rIns="90000" bIns="45000" anchor="t">
            <a:noAutofit/>
          </a:bodyPr>
          <a:lstStyle/>
          <a:p>
            <a:r>
              <a:rPr lang="en-US" sz="1000" b="1" strike="noStrike" spc="-1">
                <a:solidFill>
                  <a:srgbClr val="2361EB"/>
                </a:solidFill>
                <a:latin typeface="Calibri-Bold"/>
                <a:ea typeface="Calibri-Bold"/>
              </a:rPr>
              <a:t>Optimizer</a:t>
            </a:r>
            <a:endParaRPr lang="en-US" sz="1000" b="0" strike="noStrike" spc="-1">
              <a:solidFill>
                <a:srgbClr val="000000"/>
              </a:solidFill>
              <a:latin typeface="Arial"/>
            </a:endParaRPr>
          </a:p>
        </p:txBody>
      </p:sp>
      <p:sp>
        <p:nvSpPr>
          <p:cNvPr id="276" name="TextBox 275"/>
          <p:cNvSpPr txBox="1"/>
          <p:nvPr/>
        </p:nvSpPr>
        <p:spPr>
          <a:xfrm>
            <a:off x="1828080" y="2670120"/>
            <a:ext cx="242460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AdamW  (lr=1e-4, weight_decay=1e-4)</a:t>
            </a:r>
            <a:endParaRPr lang="en-US" sz="1000" b="0" strike="noStrike" spc="-1">
              <a:solidFill>
                <a:srgbClr val="000000"/>
              </a:solidFill>
              <a:latin typeface="Arial"/>
            </a:endParaRPr>
          </a:p>
        </p:txBody>
      </p:sp>
      <p:sp>
        <p:nvSpPr>
          <p:cNvPr id="277" name="Freeform 276"/>
          <p:cNvSpPr/>
          <p:nvPr/>
        </p:nvSpPr>
        <p:spPr>
          <a:xfrm>
            <a:off x="502920" y="2962800"/>
            <a:ext cx="3886920" cy="302400"/>
          </a:xfrm>
          <a:custGeom>
            <a:avLst/>
            <a:gdLst/>
            <a:ahLst/>
            <a:cxnLst/>
            <a:rect l="0" t="0" r="r" b="b"/>
            <a:pathLst>
              <a:path w="10797" h="840">
                <a:moveTo>
                  <a:pt x="0" y="0"/>
                </a:moveTo>
                <a:lnTo>
                  <a:pt x="10797" y="0"/>
                </a:lnTo>
                <a:lnTo>
                  <a:pt x="10797"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278" name="TextBox 277"/>
          <p:cNvSpPr txBox="1"/>
          <p:nvPr/>
        </p:nvSpPr>
        <p:spPr>
          <a:xfrm>
            <a:off x="639360" y="3008520"/>
            <a:ext cx="1007280" cy="238320"/>
          </a:xfrm>
          <a:prstGeom prst="rect">
            <a:avLst/>
          </a:prstGeom>
          <a:noFill/>
          <a:ln w="0">
            <a:noFill/>
          </a:ln>
        </p:spPr>
        <p:txBody>
          <a:bodyPr lIns="90000" tIns="45000" rIns="90000" bIns="45000" anchor="t">
            <a:noAutofit/>
          </a:bodyPr>
          <a:lstStyle/>
          <a:p>
            <a:r>
              <a:rPr lang="en-US" sz="1000" b="1" strike="noStrike" spc="-1">
                <a:solidFill>
                  <a:srgbClr val="2361EB"/>
                </a:solidFill>
                <a:latin typeface="Calibri-Bold"/>
                <a:ea typeface="Calibri-Bold"/>
              </a:rPr>
              <a:t>Schedule</a:t>
            </a:r>
            <a:endParaRPr lang="en-US" sz="1000" b="0" strike="noStrike" spc="-1">
              <a:solidFill>
                <a:srgbClr val="000000"/>
              </a:solidFill>
              <a:latin typeface="Arial"/>
            </a:endParaRPr>
          </a:p>
        </p:txBody>
      </p:sp>
      <p:sp>
        <p:nvSpPr>
          <p:cNvPr id="279" name="TextBox 278"/>
          <p:cNvSpPr txBox="1"/>
          <p:nvPr/>
        </p:nvSpPr>
        <p:spPr>
          <a:xfrm>
            <a:off x="1828080" y="3008520"/>
            <a:ext cx="2424600" cy="244440"/>
          </a:xfrm>
          <a:prstGeom prst="rect">
            <a:avLst/>
          </a:prstGeom>
          <a:noFill/>
          <a:ln w="0">
            <a:noFill/>
          </a:ln>
        </p:spPr>
        <p:txBody>
          <a:bodyPr lIns="90000" tIns="45000" rIns="90000" bIns="45000" anchor="t">
            <a:noAutofit/>
          </a:bodyPr>
          <a:lstStyle/>
          <a:p>
            <a:r>
              <a:rPr lang="en-US" sz="1000" b="0" strike="noStrike" spc="-1" dirty="0" err="1">
                <a:solidFill>
                  <a:srgbClr val="1C2739"/>
                </a:solidFill>
                <a:latin typeface="Calibri"/>
                <a:ea typeface="Calibri"/>
              </a:rPr>
              <a:t>ReduceLROnPlateau</a:t>
            </a:r>
            <a:endParaRPr lang="en-US" sz="1000" b="0" strike="noStrike" spc="-1" dirty="0">
              <a:solidFill>
                <a:srgbClr val="000000"/>
              </a:solidFill>
              <a:latin typeface="Arial"/>
            </a:endParaRPr>
          </a:p>
        </p:txBody>
      </p:sp>
      <p:sp>
        <p:nvSpPr>
          <p:cNvPr id="280" name="Freeform 279"/>
          <p:cNvSpPr/>
          <p:nvPr/>
        </p:nvSpPr>
        <p:spPr>
          <a:xfrm>
            <a:off x="502920" y="3300840"/>
            <a:ext cx="3886920" cy="302400"/>
          </a:xfrm>
          <a:custGeom>
            <a:avLst/>
            <a:gdLst/>
            <a:ahLst/>
            <a:cxnLst/>
            <a:rect l="0" t="0" r="r" b="b"/>
            <a:pathLst>
              <a:path w="10797" h="840">
                <a:moveTo>
                  <a:pt x="0" y="0"/>
                </a:moveTo>
                <a:lnTo>
                  <a:pt x="10797" y="0"/>
                </a:lnTo>
                <a:lnTo>
                  <a:pt x="10797"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281" name="TextBox 280"/>
          <p:cNvSpPr txBox="1"/>
          <p:nvPr/>
        </p:nvSpPr>
        <p:spPr>
          <a:xfrm>
            <a:off x="639360" y="3346560"/>
            <a:ext cx="1007280" cy="238320"/>
          </a:xfrm>
          <a:prstGeom prst="rect">
            <a:avLst/>
          </a:prstGeom>
          <a:noFill/>
          <a:ln w="0">
            <a:noFill/>
          </a:ln>
        </p:spPr>
        <p:txBody>
          <a:bodyPr lIns="90000" tIns="45000" rIns="90000" bIns="45000" anchor="t">
            <a:noAutofit/>
          </a:bodyPr>
          <a:lstStyle/>
          <a:p>
            <a:r>
              <a:rPr lang="en-US" sz="1000" b="1" strike="noStrike" spc="-1">
                <a:solidFill>
                  <a:srgbClr val="2361EB"/>
                </a:solidFill>
                <a:latin typeface="Calibri-Bold"/>
                <a:ea typeface="Calibri-Bold"/>
              </a:rPr>
              <a:t>Epochs</a:t>
            </a:r>
            <a:endParaRPr lang="en-US" sz="1000" b="0" strike="noStrike" spc="-1">
              <a:solidFill>
                <a:srgbClr val="000000"/>
              </a:solidFill>
              <a:latin typeface="Arial"/>
            </a:endParaRPr>
          </a:p>
        </p:txBody>
      </p:sp>
      <p:sp>
        <p:nvSpPr>
          <p:cNvPr id="282" name="TextBox 281"/>
          <p:cNvSpPr txBox="1"/>
          <p:nvPr/>
        </p:nvSpPr>
        <p:spPr>
          <a:xfrm>
            <a:off x="1828080" y="3346560"/>
            <a:ext cx="242460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20</a:t>
            </a:r>
            <a:endParaRPr lang="en-US" sz="1000" b="0" strike="noStrike" spc="-1">
              <a:solidFill>
                <a:srgbClr val="000000"/>
              </a:solidFill>
              <a:latin typeface="Arial"/>
            </a:endParaRPr>
          </a:p>
        </p:txBody>
      </p:sp>
      <p:sp>
        <p:nvSpPr>
          <p:cNvPr id="283" name="Freeform 282"/>
          <p:cNvSpPr/>
          <p:nvPr/>
        </p:nvSpPr>
        <p:spPr>
          <a:xfrm>
            <a:off x="502920" y="3639240"/>
            <a:ext cx="3886920" cy="302400"/>
          </a:xfrm>
          <a:custGeom>
            <a:avLst/>
            <a:gdLst/>
            <a:ahLst/>
            <a:cxnLst/>
            <a:rect l="0" t="0" r="r" b="b"/>
            <a:pathLst>
              <a:path w="10797" h="840">
                <a:moveTo>
                  <a:pt x="0" y="0"/>
                </a:moveTo>
                <a:lnTo>
                  <a:pt x="10797" y="0"/>
                </a:lnTo>
                <a:lnTo>
                  <a:pt x="10797"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284" name="TextBox 283"/>
          <p:cNvSpPr txBox="1"/>
          <p:nvPr/>
        </p:nvSpPr>
        <p:spPr>
          <a:xfrm>
            <a:off x="639360" y="3684960"/>
            <a:ext cx="1007280" cy="238320"/>
          </a:xfrm>
          <a:prstGeom prst="rect">
            <a:avLst/>
          </a:prstGeom>
          <a:noFill/>
          <a:ln w="0">
            <a:noFill/>
          </a:ln>
        </p:spPr>
        <p:txBody>
          <a:bodyPr lIns="90000" tIns="45000" rIns="90000" bIns="45000" anchor="t">
            <a:noAutofit/>
          </a:bodyPr>
          <a:lstStyle/>
          <a:p>
            <a:r>
              <a:rPr lang="en-US" sz="1000" b="1" strike="noStrike" spc="-1">
                <a:solidFill>
                  <a:srgbClr val="2361EB"/>
                </a:solidFill>
                <a:latin typeface="Calibri-Bold"/>
                <a:ea typeface="Calibri-Bold"/>
              </a:rPr>
              <a:t>Batch size</a:t>
            </a:r>
            <a:endParaRPr lang="en-US" sz="1000" b="0" strike="noStrike" spc="-1">
              <a:solidFill>
                <a:srgbClr val="000000"/>
              </a:solidFill>
              <a:latin typeface="Arial"/>
            </a:endParaRPr>
          </a:p>
        </p:txBody>
      </p:sp>
      <p:sp>
        <p:nvSpPr>
          <p:cNvPr id="285" name="TextBox 284"/>
          <p:cNvSpPr txBox="1"/>
          <p:nvPr/>
        </p:nvSpPr>
        <p:spPr>
          <a:xfrm>
            <a:off x="1828080" y="3684960"/>
            <a:ext cx="242460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16</a:t>
            </a:r>
            <a:endParaRPr lang="en-US" sz="1000" b="0" strike="noStrike" spc="-1">
              <a:solidFill>
                <a:srgbClr val="000000"/>
              </a:solidFill>
              <a:latin typeface="Arial"/>
            </a:endParaRPr>
          </a:p>
        </p:txBody>
      </p:sp>
      <p:sp>
        <p:nvSpPr>
          <p:cNvPr id="286" name="Freeform 285"/>
          <p:cNvSpPr/>
          <p:nvPr/>
        </p:nvSpPr>
        <p:spPr>
          <a:xfrm>
            <a:off x="502920" y="3977640"/>
            <a:ext cx="3886920" cy="302400"/>
          </a:xfrm>
          <a:custGeom>
            <a:avLst/>
            <a:gdLst/>
            <a:ahLst/>
            <a:cxnLst/>
            <a:rect l="0" t="0" r="r" b="b"/>
            <a:pathLst>
              <a:path w="10797" h="840">
                <a:moveTo>
                  <a:pt x="0" y="0"/>
                </a:moveTo>
                <a:lnTo>
                  <a:pt x="10797" y="0"/>
                </a:lnTo>
                <a:lnTo>
                  <a:pt x="10797"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287" name="TextBox 286"/>
          <p:cNvSpPr txBox="1"/>
          <p:nvPr/>
        </p:nvSpPr>
        <p:spPr>
          <a:xfrm>
            <a:off x="639360" y="4023360"/>
            <a:ext cx="1007280" cy="238320"/>
          </a:xfrm>
          <a:prstGeom prst="rect">
            <a:avLst/>
          </a:prstGeom>
          <a:noFill/>
          <a:ln w="0">
            <a:noFill/>
          </a:ln>
        </p:spPr>
        <p:txBody>
          <a:bodyPr lIns="90000" tIns="45000" rIns="90000" bIns="45000" anchor="t">
            <a:noAutofit/>
          </a:bodyPr>
          <a:lstStyle/>
          <a:p>
            <a:r>
              <a:rPr lang="en-US" sz="1000" b="1" strike="noStrike" spc="-1">
                <a:solidFill>
                  <a:srgbClr val="2361EB"/>
                </a:solidFill>
                <a:latin typeface="Calibri-Bold"/>
                <a:ea typeface="Calibri-Bold"/>
              </a:rPr>
              <a:t>Loss</a:t>
            </a:r>
            <a:endParaRPr lang="en-US" sz="1000" b="0" strike="noStrike" spc="-1">
              <a:solidFill>
                <a:srgbClr val="000000"/>
              </a:solidFill>
              <a:latin typeface="Arial"/>
            </a:endParaRPr>
          </a:p>
        </p:txBody>
      </p:sp>
      <p:sp>
        <p:nvSpPr>
          <p:cNvPr id="288" name="TextBox 287"/>
          <p:cNvSpPr txBox="1"/>
          <p:nvPr/>
        </p:nvSpPr>
        <p:spPr>
          <a:xfrm>
            <a:off x="1828080" y="4023360"/>
            <a:ext cx="242460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CrossEntropy</a:t>
            </a:r>
            <a:endParaRPr lang="en-US" sz="1000" b="0" strike="noStrike" spc="-1">
              <a:solidFill>
                <a:srgbClr val="000000"/>
              </a:solidFill>
              <a:latin typeface="Arial"/>
            </a:endParaRPr>
          </a:p>
        </p:txBody>
      </p:sp>
      <p:sp>
        <p:nvSpPr>
          <p:cNvPr id="289" name="Freeform 288"/>
          <p:cNvSpPr/>
          <p:nvPr/>
        </p:nvSpPr>
        <p:spPr>
          <a:xfrm>
            <a:off x="502920" y="4316040"/>
            <a:ext cx="3886920" cy="302400"/>
          </a:xfrm>
          <a:custGeom>
            <a:avLst/>
            <a:gdLst/>
            <a:ahLst/>
            <a:cxnLst/>
            <a:rect l="0" t="0" r="r" b="b"/>
            <a:pathLst>
              <a:path w="10797" h="840">
                <a:moveTo>
                  <a:pt x="0" y="0"/>
                </a:moveTo>
                <a:lnTo>
                  <a:pt x="10797" y="0"/>
                </a:lnTo>
                <a:lnTo>
                  <a:pt x="10797"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290" name="TextBox 289"/>
          <p:cNvSpPr txBox="1"/>
          <p:nvPr/>
        </p:nvSpPr>
        <p:spPr>
          <a:xfrm>
            <a:off x="639360" y="4361760"/>
            <a:ext cx="1007280" cy="238320"/>
          </a:xfrm>
          <a:prstGeom prst="rect">
            <a:avLst/>
          </a:prstGeom>
          <a:noFill/>
          <a:ln w="0">
            <a:noFill/>
          </a:ln>
        </p:spPr>
        <p:txBody>
          <a:bodyPr lIns="90000" tIns="45000" rIns="90000" bIns="45000" anchor="t">
            <a:noAutofit/>
          </a:bodyPr>
          <a:lstStyle/>
          <a:p>
            <a:r>
              <a:rPr lang="en-US" sz="1000" b="1" strike="noStrike" spc="-1">
                <a:solidFill>
                  <a:srgbClr val="2361EB"/>
                </a:solidFill>
                <a:latin typeface="Calibri-Bold"/>
                <a:ea typeface="Calibri-Bold"/>
              </a:rPr>
              <a:t>Regulariz.</a:t>
            </a:r>
            <a:endParaRPr lang="en-US" sz="1000" b="0" strike="noStrike" spc="-1">
              <a:solidFill>
                <a:srgbClr val="000000"/>
              </a:solidFill>
              <a:latin typeface="Arial"/>
            </a:endParaRPr>
          </a:p>
        </p:txBody>
      </p:sp>
      <p:sp>
        <p:nvSpPr>
          <p:cNvPr id="291" name="TextBox 290"/>
          <p:cNvSpPr txBox="1"/>
          <p:nvPr/>
        </p:nvSpPr>
        <p:spPr>
          <a:xfrm>
            <a:off x="1828080" y="4361760"/>
            <a:ext cx="242460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Fine-tune layer4 + fc only</a:t>
            </a:r>
            <a:endParaRPr lang="en-US" sz="1000" b="0" strike="noStrike" spc="-1">
              <a:solidFill>
                <a:srgbClr val="000000"/>
              </a:solidFill>
              <a:latin typeface="Arial"/>
            </a:endParaRPr>
          </a:p>
        </p:txBody>
      </p:sp>
      <p:sp>
        <p:nvSpPr>
          <p:cNvPr id="292" name="Freeform 291"/>
          <p:cNvSpPr/>
          <p:nvPr/>
        </p:nvSpPr>
        <p:spPr>
          <a:xfrm>
            <a:off x="4709160" y="2103120"/>
            <a:ext cx="4069800" cy="2698200"/>
          </a:xfrm>
          <a:custGeom>
            <a:avLst/>
            <a:gdLst/>
            <a:ahLst/>
            <a:cxnLst/>
            <a:rect l="0" t="0" r="r" b="b"/>
            <a:pathLst>
              <a:path w="11305" h="7495">
                <a:moveTo>
                  <a:pt x="0" y="0"/>
                </a:moveTo>
                <a:lnTo>
                  <a:pt x="11305" y="0"/>
                </a:lnTo>
                <a:lnTo>
                  <a:pt x="11305" y="7495"/>
                </a:lnTo>
                <a:lnTo>
                  <a:pt x="0" y="7495"/>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293" name="Freeform 292"/>
          <p:cNvSpPr/>
          <p:nvPr/>
        </p:nvSpPr>
        <p:spPr>
          <a:xfrm>
            <a:off x="4709160" y="2103120"/>
            <a:ext cx="64800" cy="2698200"/>
          </a:xfrm>
          <a:custGeom>
            <a:avLst/>
            <a:gdLst/>
            <a:ahLst/>
            <a:cxnLst/>
            <a:rect l="0" t="0" r="r" b="b"/>
            <a:pathLst>
              <a:path w="180" h="7495">
                <a:moveTo>
                  <a:pt x="0" y="0"/>
                </a:moveTo>
                <a:lnTo>
                  <a:pt x="180" y="0"/>
                </a:lnTo>
                <a:lnTo>
                  <a:pt x="180" y="7495"/>
                </a:lnTo>
                <a:lnTo>
                  <a:pt x="0" y="7495"/>
                </a:lnTo>
                <a:lnTo>
                  <a:pt x="0" y="0"/>
                </a:lnTo>
                <a:close/>
              </a:path>
            </a:pathLst>
          </a:custGeom>
          <a:solidFill>
            <a:srgbClr val="0691B2"/>
          </a:solidFill>
          <a:ln w="12600">
            <a:solidFill>
              <a:srgbClr val="0691B2"/>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294" name="TextBox 293"/>
          <p:cNvSpPr txBox="1"/>
          <p:nvPr/>
        </p:nvSpPr>
        <p:spPr>
          <a:xfrm>
            <a:off x="4937040" y="2212920"/>
            <a:ext cx="3659040" cy="301680"/>
          </a:xfrm>
          <a:prstGeom prst="rect">
            <a:avLst/>
          </a:prstGeom>
          <a:noFill/>
          <a:ln w="0">
            <a:noFill/>
          </a:ln>
        </p:spPr>
        <p:txBody>
          <a:bodyPr lIns="90000" tIns="45000" rIns="90000" bIns="45000" anchor="t">
            <a:noAutofit/>
          </a:bodyPr>
          <a:lstStyle/>
          <a:p>
            <a:r>
              <a:rPr lang="en-US" sz="1300" b="1" strike="noStrike" spc="-1">
                <a:solidFill>
                  <a:srgbClr val="182C48"/>
                </a:solidFill>
                <a:latin typeface="Calibri-Bold"/>
                <a:ea typeface="Calibri-Bold"/>
              </a:rPr>
              <a:t>Architecture Detail</a:t>
            </a:r>
            <a:endParaRPr lang="en-US" sz="1300" b="0" strike="noStrike" spc="-1">
              <a:solidFill>
                <a:srgbClr val="000000"/>
              </a:solidFill>
              <a:latin typeface="Arial"/>
            </a:endParaRPr>
          </a:p>
        </p:txBody>
      </p:sp>
      <p:sp>
        <p:nvSpPr>
          <p:cNvPr id="295" name="Freeform 294"/>
          <p:cNvSpPr/>
          <p:nvPr/>
        </p:nvSpPr>
        <p:spPr>
          <a:xfrm>
            <a:off x="4846320" y="2624400"/>
            <a:ext cx="3795480" cy="302400"/>
          </a:xfrm>
          <a:custGeom>
            <a:avLst/>
            <a:gdLst/>
            <a:ahLst/>
            <a:cxnLst/>
            <a:rect l="0" t="0" r="r" b="b"/>
            <a:pathLst>
              <a:path w="10543" h="840">
                <a:moveTo>
                  <a:pt x="0" y="0"/>
                </a:moveTo>
                <a:lnTo>
                  <a:pt x="10543" y="0"/>
                </a:lnTo>
                <a:lnTo>
                  <a:pt x="10543"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296" name="TextBox 295"/>
          <p:cNvSpPr txBox="1"/>
          <p:nvPr/>
        </p:nvSpPr>
        <p:spPr>
          <a:xfrm>
            <a:off x="4982760" y="2670120"/>
            <a:ext cx="915840" cy="386280"/>
          </a:xfrm>
          <a:prstGeom prst="rect">
            <a:avLst/>
          </a:prstGeom>
          <a:noFill/>
          <a:ln w="0">
            <a:noFill/>
          </a:ln>
        </p:spPr>
        <p:txBody>
          <a:bodyPr lIns="90000" tIns="45000" rIns="90000" bIns="45000" anchor="t">
            <a:noAutofit/>
          </a:bodyPr>
          <a:lstStyle/>
          <a:p>
            <a:r>
              <a:rPr lang="en-US" sz="1000" b="1" strike="noStrike" spc="-1">
                <a:solidFill>
                  <a:srgbClr val="0691B2"/>
                </a:solidFill>
                <a:latin typeface="Calibri-Bold"/>
                <a:ea typeface="Calibri-Bold"/>
              </a:rPr>
              <a:t>ResNet Block</a:t>
            </a:r>
            <a:endParaRPr lang="en-US" sz="1000" b="0" strike="noStrike" spc="-1">
              <a:solidFill>
                <a:srgbClr val="000000"/>
              </a:solidFill>
              <a:latin typeface="Arial"/>
            </a:endParaRPr>
          </a:p>
        </p:txBody>
      </p:sp>
      <p:sp>
        <p:nvSpPr>
          <p:cNvPr id="297" name="TextBox 296"/>
          <p:cNvSpPr txBox="1"/>
          <p:nvPr/>
        </p:nvSpPr>
        <p:spPr>
          <a:xfrm>
            <a:off x="6080040" y="2670120"/>
            <a:ext cx="242460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3×3 Conv → BN → ReLU (with skip conn.)</a:t>
            </a:r>
            <a:endParaRPr lang="en-US" sz="1000" b="0" strike="noStrike" spc="-1">
              <a:solidFill>
                <a:srgbClr val="000000"/>
              </a:solidFill>
              <a:latin typeface="Arial"/>
            </a:endParaRPr>
          </a:p>
        </p:txBody>
      </p:sp>
      <p:sp>
        <p:nvSpPr>
          <p:cNvPr id="298" name="Freeform 297"/>
          <p:cNvSpPr/>
          <p:nvPr/>
        </p:nvSpPr>
        <p:spPr>
          <a:xfrm>
            <a:off x="4846320" y="2962800"/>
            <a:ext cx="3795480" cy="302400"/>
          </a:xfrm>
          <a:custGeom>
            <a:avLst/>
            <a:gdLst/>
            <a:ahLst/>
            <a:cxnLst/>
            <a:rect l="0" t="0" r="r" b="b"/>
            <a:pathLst>
              <a:path w="10543" h="840">
                <a:moveTo>
                  <a:pt x="0" y="0"/>
                </a:moveTo>
                <a:lnTo>
                  <a:pt x="10543" y="0"/>
                </a:lnTo>
                <a:lnTo>
                  <a:pt x="10543"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299" name="TextBox 298"/>
          <p:cNvSpPr txBox="1"/>
          <p:nvPr/>
        </p:nvSpPr>
        <p:spPr>
          <a:xfrm>
            <a:off x="4982760" y="3008520"/>
            <a:ext cx="915840" cy="238320"/>
          </a:xfrm>
          <a:prstGeom prst="rect">
            <a:avLst/>
          </a:prstGeom>
          <a:noFill/>
          <a:ln w="0">
            <a:noFill/>
          </a:ln>
        </p:spPr>
        <p:txBody>
          <a:bodyPr lIns="90000" tIns="45000" rIns="90000" bIns="45000" anchor="t">
            <a:noAutofit/>
          </a:bodyPr>
          <a:lstStyle/>
          <a:p>
            <a:r>
              <a:rPr lang="en-US" sz="1000" b="1" strike="noStrike" spc="-1">
                <a:solidFill>
                  <a:srgbClr val="0691B2"/>
                </a:solidFill>
                <a:latin typeface="Calibri-Bold"/>
                <a:ea typeface="Calibri-Bold"/>
              </a:rPr>
              <a:t>4 stages</a:t>
            </a:r>
            <a:endParaRPr lang="en-US" sz="1000" b="0" strike="noStrike" spc="-1">
              <a:solidFill>
                <a:srgbClr val="000000"/>
              </a:solidFill>
              <a:latin typeface="Arial"/>
            </a:endParaRPr>
          </a:p>
        </p:txBody>
      </p:sp>
      <p:sp>
        <p:nvSpPr>
          <p:cNvPr id="300" name="TextBox 299"/>
          <p:cNvSpPr txBox="1"/>
          <p:nvPr/>
        </p:nvSpPr>
        <p:spPr>
          <a:xfrm>
            <a:off x="6080040" y="3008520"/>
            <a:ext cx="242460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64 → 128 → 256 → 512 channels</a:t>
            </a:r>
            <a:endParaRPr lang="en-US" sz="1000" b="0" strike="noStrike" spc="-1">
              <a:solidFill>
                <a:srgbClr val="000000"/>
              </a:solidFill>
              <a:latin typeface="Arial"/>
            </a:endParaRPr>
          </a:p>
        </p:txBody>
      </p:sp>
      <p:sp>
        <p:nvSpPr>
          <p:cNvPr id="301" name="Freeform 300"/>
          <p:cNvSpPr/>
          <p:nvPr/>
        </p:nvSpPr>
        <p:spPr>
          <a:xfrm>
            <a:off x="4846320" y="3300840"/>
            <a:ext cx="3795480" cy="302400"/>
          </a:xfrm>
          <a:custGeom>
            <a:avLst/>
            <a:gdLst/>
            <a:ahLst/>
            <a:cxnLst/>
            <a:rect l="0" t="0" r="r" b="b"/>
            <a:pathLst>
              <a:path w="10543" h="840">
                <a:moveTo>
                  <a:pt x="0" y="0"/>
                </a:moveTo>
                <a:lnTo>
                  <a:pt x="10543" y="0"/>
                </a:lnTo>
                <a:lnTo>
                  <a:pt x="10543"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302" name="TextBox 301"/>
          <p:cNvSpPr txBox="1"/>
          <p:nvPr/>
        </p:nvSpPr>
        <p:spPr>
          <a:xfrm>
            <a:off x="4982760" y="3346560"/>
            <a:ext cx="915840" cy="238320"/>
          </a:xfrm>
          <a:prstGeom prst="rect">
            <a:avLst/>
          </a:prstGeom>
          <a:noFill/>
          <a:ln w="0">
            <a:noFill/>
          </a:ln>
        </p:spPr>
        <p:txBody>
          <a:bodyPr lIns="90000" tIns="45000" rIns="90000" bIns="45000" anchor="t">
            <a:noAutofit/>
          </a:bodyPr>
          <a:lstStyle/>
          <a:p>
            <a:r>
              <a:rPr lang="en-US" sz="1000" b="1" strike="noStrike" spc="-1">
                <a:solidFill>
                  <a:srgbClr val="0691B2"/>
                </a:solidFill>
                <a:latin typeface="Calibri-Bold"/>
                <a:ea typeface="Calibri-Bold"/>
              </a:rPr>
              <a:t>GAP</a:t>
            </a:r>
            <a:endParaRPr lang="en-US" sz="1000" b="0" strike="noStrike" spc="-1">
              <a:solidFill>
                <a:srgbClr val="000000"/>
              </a:solidFill>
              <a:latin typeface="Arial"/>
            </a:endParaRPr>
          </a:p>
        </p:txBody>
      </p:sp>
      <p:sp>
        <p:nvSpPr>
          <p:cNvPr id="303" name="TextBox 302"/>
          <p:cNvSpPr txBox="1"/>
          <p:nvPr/>
        </p:nvSpPr>
        <p:spPr>
          <a:xfrm>
            <a:off x="6080040" y="3346560"/>
            <a:ext cx="242460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Global Average Pooling before classifier</a:t>
            </a:r>
            <a:endParaRPr lang="en-US" sz="1000" b="0" strike="noStrike" spc="-1">
              <a:solidFill>
                <a:srgbClr val="000000"/>
              </a:solidFill>
              <a:latin typeface="Arial"/>
            </a:endParaRPr>
          </a:p>
        </p:txBody>
      </p:sp>
      <p:sp>
        <p:nvSpPr>
          <p:cNvPr id="304" name="Freeform 303"/>
          <p:cNvSpPr/>
          <p:nvPr/>
        </p:nvSpPr>
        <p:spPr>
          <a:xfrm>
            <a:off x="4846320" y="3639240"/>
            <a:ext cx="3795480" cy="302400"/>
          </a:xfrm>
          <a:custGeom>
            <a:avLst/>
            <a:gdLst/>
            <a:ahLst/>
            <a:cxnLst/>
            <a:rect l="0" t="0" r="r" b="b"/>
            <a:pathLst>
              <a:path w="10543" h="840">
                <a:moveTo>
                  <a:pt x="0" y="0"/>
                </a:moveTo>
                <a:lnTo>
                  <a:pt x="10543" y="0"/>
                </a:lnTo>
                <a:lnTo>
                  <a:pt x="10543"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305" name="TextBox 304"/>
          <p:cNvSpPr txBox="1"/>
          <p:nvPr/>
        </p:nvSpPr>
        <p:spPr>
          <a:xfrm>
            <a:off x="4982760" y="3684960"/>
            <a:ext cx="915840" cy="238320"/>
          </a:xfrm>
          <a:prstGeom prst="rect">
            <a:avLst/>
          </a:prstGeom>
          <a:noFill/>
          <a:ln w="0">
            <a:noFill/>
          </a:ln>
        </p:spPr>
        <p:txBody>
          <a:bodyPr lIns="90000" tIns="45000" rIns="90000" bIns="45000" anchor="t">
            <a:noAutofit/>
          </a:bodyPr>
          <a:lstStyle/>
          <a:p>
            <a:r>
              <a:rPr lang="en-US" sz="1000" b="1" strike="noStrike" spc="-1">
                <a:solidFill>
                  <a:srgbClr val="0691B2"/>
                </a:solidFill>
                <a:latin typeface="Calibri-Bold"/>
                <a:ea typeface="Calibri-Bold"/>
              </a:rPr>
              <a:t>Dropout</a:t>
            </a:r>
            <a:endParaRPr lang="en-US" sz="1000" b="0" strike="noStrike" spc="-1">
              <a:solidFill>
                <a:srgbClr val="000000"/>
              </a:solidFill>
              <a:latin typeface="Arial"/>
            </a:endParaRPr>
          </a:p>
        </p:txBody>
      </p:sp>
      <p:sp>
        <p:nvSpPr>
          <p:cNvPr id="306" name="TextBox 305"/>
          <p:cNvSpPr txBox="1"/>
          <p:nvPr/>
        </p:nvSpPr>
        <p:spPr>
          <a:xfrm>
            <a:off x="6080040" y="3684960"/>
            <a:ext cx="242460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No dropout (weight_decay=1e-4)</a:t>
            </a:r>
            <a:endParaRPr lang="en-US" sz="1000" b="0" strike="noStrike" spc="-1">
              <a:solidFill>
                <a:srgbClr val="000000"/>
              </a:solidFill>
              <a:latin typeface="Arial"/>
            </a:endParaRPr>
          </a:p>
        </p:txBody>
      </p:sp>
      <p:sp>
        <p:nvSpPr>
          <p:cNvPr id="307" name="Freeform 306"/>
          <p:cNvSpPr/>
          <p:nvPr/>
        </p:nvSpPr>
        <p:spPr>
          <a:xfrm>
            <a:off x="4846320" y="3977640"/>
            <a:ext cx="3795480" cy="302400"/>
          </a:xfrm>
          <a:custGeom>
            <a:avLst/>
            <a:gdLst/>
            <a:ahLst/>
            <a:cxnLst/>
            <a:rect l="0" t="0" r="r" b="b"/>
            <a:pathLst>
              <a:path w="10543" h="840">
                <a:moveTo>
                  <a:pt x="0" y="0"/>
                </a:moveTo>
                <a:lnTo>
                  <a:pt x="10543" y="0"/>
                </a:lnTo>
                <a:lnTo>
                  <a:pt x="10543"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308" name="TextBox 307"/>
          <p:cNvSpPr txBox="1"/>
          <p:nvPr/>
        </p:nvSpPr>
        <p:spPr>
          <a:xfrm>
            <a:off x="4982760" y="4023360"/>
            <a:ext cx="915840" cy="238320"/>
          </a:xfrm>
          <a:prstGeom prst="rect">
            <a:avLst/>
          </a:prstGeom>
          <a:noFill/>
          <a:ln w="0">
            <a:noFill/>
          </a:ln>
        </p:spPr>
        <p:txBody>
          <a:bodyPr lIns="90000" tIns="45000" rIns="90000" bIns="45000" anchor="t">
            <a:noAutofit/>
          </a:bodyPr>
          <a:lstStyle/>
          <a:p>
            <a:r>
              <a:rPr lang="en-US" sz="1000" b="1" strike="noStrike" spc="-1">
                <a:solidFill>
                  <a:srgbClr val="0691B2"/>
                </a:solidFill>
                <a:latin typeface="Calibri-Bold"/>
                <a:ea typeface="Calibri-Bold"/>
              </a:rPr>
              <a:t>Output</a:t>
            </a:r>
            <a:endParaRPr lang="en-US" sz="1000" b="0" strike="noStrike" spc="-1">
              <a:solidFill>
                <a:srgbClr val="000000"/>
              </a:solidFill>
              <a:latin typeface="Arial"/>
            </a:endParaRPr>
          </a:p>
        </p:txBody>
      </p:sp>
      <p:sp>
        <p:nvSpPr>
          <p:cNvPr id="309" name="TextBox 308"/>
          <p:cNvSpPr txBox="1"/>
          <p:nvPr/>
        </p:nvSpPr>
        <p:spPr>
          <a:xfrm>
            <a:off x="6080040" y="4023360"/>
            <a:ext cx="242460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Linear(512, 37) — replaced head</a:t>
            </a:r>
            <a:endParaRPr lang="en-US" sz="1000" b="0" strike="noStrike" spc="-1">
              <a:solidFill>
                <a:srgbClr val="000000"/>
              </a:solidFill>
              <a:latin typeface="Arial"/>
            </a:endParaRPr>
          </a:p>
        </p:txBody>
      </p:sp>
      <p:sp>
        <p:nvSpPr>
          <p:cNvPr id="310" name="Freeform 309"/>
          <p:cNvSpPr/>
          <p:nvPr/>
        </p:nvSpPr>
        <p:spPr>
          <a:xfrm>
            <a:off x="4846320" y="4316040"/>
            <a:ext cx="3795480" cy="302400"/>
          </a:xfrm>
          <a:custGeom>
            <a:avLst/>
            <a:gdLst/>
            <a:ahLst/>
            <a:cxnLst/>
            <a:rect l="0" t="0" r="r" b="b"/>
            <a:pathLst>
              <a:path w="10543" h="840">
                <a:moveTo>
                  <a:pt x="0" y="0"/>
                </a:moveTo>
                <a:lnTo>
                  <a:pt x="10543" y="0"/>
                </a:lnTo>
                <a:lnTo>
                  <a:pt x="10543"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311" name="TextBox 310"/>
          <p:cNvSpPr txBox="1"/>
          <p:nvPr/>
        </p:nvSpPr>
        <p:spPr>
          <a:xfrm>
            <a:off x="4982760" y="4361760"/>
            <a:ext cx="915840" cy="238320"/>
          </a:xfrm>
          <a:prstGeom prst="rect">
            <a:avLst/>
          </a:prstGeom>
          <a:noFill/>
          <a:ln w="0">
            <a:noFill/>
          </a:ln>
        </p:spPr>
        <p:txBody>
          <a:bodyPr lIns="90000" tIns="45000" rIns="90000" bIns="45000" anchor="t">
            <a:noAutofit/>
          </a:bodyPr>
          <a:lstStyle/>
          <a:p>
            <a:r>
              <a:rPr lang="en-US" sz="1000" b="1" strike="noStrike" spc="-1">
                <a:solidFill>
                  <a:srgbClr val="0691B2"/>
                </a:solidFill>
                <a:latin typeface="Calibri-Bold"/>
                <a:ea typeface="Calibri-Bold"/>
              </a:rPr>
              <a:t>Params</a:t>
            </a:r>
            <a:endParaRPr lang="en-US" sz="1000" b="0" strike="noStrike" spc="-1">
              <a:solidFill>
                <a:srgbClr val="000000"/>
              </a:solidFill>
              <a:latin typeface="Arial"/>
            </a:endParaRPr>
          </a:p>
        </p:txBody>
      </p:sp>
      <p:sp>
        <p:nvSpPr>
          <p:cNvPr id="312" name="TextBox 311"/>
          <p:cNvSpPr txBox="1"/>
          <p:nvPr/>
        </p:nvSpPr>
        <p:spPr>
          <a:xfrm>
            <a:off x="6080040" y="4361760"/>
            <a:ext cx="242460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~11.7M total, 512 frozen layers</a:t>
            </a:r>
            <a:endParaRPr lang="en-US" sz="1000" b="0" strike="noStrike"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720" cy="55440"/>
          </a:xfrm>
          <a:prstGeom prst="rect">
            <a:avLst/>
          </a:prstGeom>
          <a:solidFill>
            <a:srgbClr val="2361EB"/>
          </a:solidFill>
        </p:spPr>
        <p:txBody>
          <a:bodyPr/>
          <a:lstStyle/>
          <a:p>
            <a:endParaRPr/>
          </a:p>
        </p:txBody>
      </p:sp>
      <p:sp>
        <p:nvSpPr>
          <p:cNvPr id="3" name="TextBox 2"/>
          <p:cNvSpPr txBox="1"/>
          <p:nvPr/>
        </p:nvSpPr>
        <p:spPr>
          <a:xfrm>
            <a:off x="502200" y="164520"/>
            <a:ext cx="8139600" cy="480000"/>
          </a:xfrm>
          <a:prstGeom prst="rect">
            <a:avLst/>
          </a:prstGeom>
          <a:noFill/>
          <a:ln w="0">
            <a:noFill/>
          </a:ln>
        </p:spPr>
        <p:txBody>
          <a:bodyPr lIns="90000" tIns="45000" rIns="90000" bIns="45000" anchor="t">
            <a:noAutofit/>
          </a:bodyPr>
          <a:lstStyle/>
          <a:p>
            <a:r>
              <a:rPr lang="en-US" sz="2600" b="1" strike="noStrike" spc="-1">
                <a:solidFill>
                  <a:srgbClr val="182C48"/>
                </a:solidFill>
                <a:latin typeface="Calibri-Bold"/>
              </a:rPr>
              <a:t>ResNet18 — Training Curves</a:t>
            </a:r>
          </a:p>
        </p:txBody>
      </p:sp>
      <p:sp>
        <p:nvSpPr>
          <p:cNvPr id="4" name="TextBox 3"/>
          <p:cNvSpPr txBox="1"/>
          <p:nvPr/>
        </p:nvSpPr>
        <p:spPr>
          <a:xfrm>
            <a:off x="502200" y="630000"/>
            <a:ext cx="8139600" cy="280000"/>
          </a:xfrm>
          <a:prstGeom prst="rect">
            <a:avLst/>
          </a:prstGeom>
          <a:noFill/>
          <a:ln w="0">
            <a:noFill/>
          </a:ln>
        </p:spPr>
        <p:txBody>
          <a:bodyPr lIns="90000" tIns="45000" rIns="90000" bIns="45000" anchor="t">
            <a:noAutofit/>
          </a:bodyPr>
          <a:lstStyle/>
          <a:p>
            <a:r>
              <a:rPr lang="en-US" sz="1200" b="0" i="1" strike="noStrike" spc="-1">
                <a:solidFill>
                  <a:srgbClr val="62728B"/>
                </a:solidFill>
                <a:latin typeface="Calibri-Italic"/>
              </a:rPr>
              <a:t>20 epochs · layer-4 fine-tuning · pre-trained ImageNet</a:t>
            </a:r>
          </a:p>
        </p:txBody>
      </p:sp>
      <p:sp>
        <p:nvSpPr>
          <p:cNvPr id="5" name="Straight Connector 4"/>
          <p:cNvSpPr/>
          <p:nvPr/>
        </p:nvSpPr>
        <p:spPr>
          <a:xfrm>
            <a:off x="457200" y="940000"/>
            <a:ext cx="8229600" cy="0"/>
          </a:xfrm>
          <a:prstGeom prst="line">
            <a:avLst/>
          </a:prstGeom>
          <a:ln w="12600">
            <a:solidFill>
              <a:srgbClr val="E2E8F0"/>
            </a:solidFill>
            <a:round/>
          </a:ln>
        </p:spPr>
        <p:txBody>
          <a:bodyPr/>
          <a:lstStyle/>
          <a:p>
            <a:endParaRPr/>
          </a:p>
        </p:txBody>
      </p:sp>
      <p:pic>
        <p:nvPicPr>
          <p:cNvPr id="6" name="acc_chart"/>
          <p:cNvPicPr>
            <a:picLocks noChangeAspect="1"/>
          </p:cNvPicPr>
          <p:nvPr/>
        </p:nvPicPr>
        <p:blipFill>
          <a:blip r:embed="rId2"/>
          <a:stretch>
            <a:fillRect/>
          </a:stretch>
        </p:blipFill>
        <p:spPr>
          <a:xfrm>
            <a:off x="274320" y="990000"/>
            <a:ext cx="4297680" cy="3890000"/>
          </a:xfrm>
          <a:prstGeom prst="rect">
            <a:avLst/>
          </a:prstGeom>
        </p:spPr>
      </p:pic>
      <p:pic>
        <p:nvPicPr>
          <p:cNvPr id="7" name="loss_chart"/>
          <p:cNvPicPr>
            <a:picLocks noChangeAspect="1"/>
          </p:cNvPicPr>
          <p:nvPr/>
        </p:nvPicPr>
        <p:blipFill>
          <a:blip r:embed="rId3"/>
          <a:stretch>
            <a:fillRect/>
          </a:stretch>
        </p:blipFill>
        <p:spPr>
          <a:xfrm>
            <a:off x="4572720" y="990000"/>
            <a:ext cx="4297680" cy="3890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13" name="Freeform 312"/>
          <p:cNvSpPr/>
          <p:nvPr/>
        </p:nvSpPr>
        <p:spPr>
          <a:xfrm>
            <a:off x="0" y="0"/>
            <a:ext cx="9144720" cy="55440"/>
          </a:xfrm>
          <a:custGeom>
            <a:avLst/>
            <a:gdLst/>
            <a:ahLst/>
            <a:cxnLst/>
            <a:rect l="0" t="0" r="r" b="b"/>
            <a:pathLst>
              <a:path w="25402" h="154">
                <a:moveTo>
                  <a:pt x="0" y="0"/>
                </a:moveTo>
                <a:lnTo>
                  <a:pt x="25402" y="0"/>
                </a:lnTo>
                <a:lnTo>
                  <a:pt x="25402" y="154"/>
                </a:lnTo>
                <a:lnTo>
                  <a:pt x="0" y="154"/>
                </a:lnTo>
                <a:lnTo>
                  <a:pt x="0" y="0"/>
                </a:lnTo>
                <a:close/>
              </a:path>
            </a:pathLst>
          </a:custGeom>
          <a:solidFill>
            <a:srgbClr val="2361EB"/>
          </a:solidFill>
          <a:ln w="12600">
            <a:solidFill>
              <a:srgbClr val="2361EB"/>
            </a:solidFill>
            <a:round/>
          </a:ln>
        </p:spPr>
        <p:txBody>
          <a:bodyPr lIns="96120" tIns="4320" rIns="96120" bIns="4320" anchor="t">
            <a:noAutofit/>
          </a:bodyPr>
          <a:lstStyle/>
          <a:p>
            <a:endParaRPr lang="en-US" sz="1800" b="0" strike="noStrike" spc="-1">
              <a:solidFill>
                <a:srgbClr val="FFFFFF"/>
              </a:solidFill>
              <a:latin typeface="Arial"/>
            </a:endParaRPr>
          </a:p>
        </p:txBody>
      </p:sp>
      <p:sp>
        <p:nvSpPr>
          <p:cNvPr id="314" name="TextBox 313"/>
          <p:cNvSpPr txBox="1"/>
          <p:nvPr/>
        </p:nvSpPr>
        <p:spPr>
          <a:xfrm>
            <a:off x="502200" y="164520"/>
            <a:ext cx="8139600" cy="502920"/>
          </a:xfrm>
          <a:prstGeom prst="rect">
            <a:avLst/>
          </a:prstGeom>
          <a:noFill/>
          <a:ln w="0">
            <a:noFill/>
          </a:ln>
        </p:spPr>
        <p:txBody>
          <a:bodyPr lIns="90000" tIns="45000" rIns="90000" bIns="45000" anchor="t">
            <a:noAutofit/>
          </a:bodyPr>
          <a:lstStyle/>
          <a:p>
            <a:r>
              <a:rPr lang="en-US" sz="2600" b="1" strike="noStrike" spc="-1">
                <a:solidFill>
                  <a:srgbClr val="182C48"/>
                </a:solidFill>
                <a:latin typeface="Calibri-Bold"/>
                <a:ea typeface="Calibri-Bold"/>
              </a:rPr>
              <a:t>ResNet18 — Results</a:t>
            </a:r>
            <a:endParaRPr lang="en-US" sz="2600" b="0" strike="noStrike" spc="-1">
              <a:solidFill>
                <a:srgbClr val="000000"/>
              </a:solidFill>
              <a:latin typeface="Arial"/>
            </a:endParaRPr>
          </a:p>
        </p:txBody>
      </p:sp>
      <p:sp>
        <p:nvSpPr>
          <p:cNvPr id="315" name="TextBox 314"/>
          <p:cNvSpPr txBox="1"/>
          <p:nvPr/>
        </p:nvSpPr>
        <p:spPr>
          <a:xfrm>
            <a:off x="502200" y="658440"/>
            <a:ext cx="8139600" cy="292680"/>
          </a:xfrm>
          <a:prstGeom prst="rect">
            <a:avLst/>
          </a:prstGeom>
          <a:noFill/>
          <a:ln w="0">
            <a:noFill/>
          </a:ln>
        </p:spPr>
        <p:txBody>
          <a:bodyPr lIns="90000" tIns="45000" rIns="90000" bIns="45000" anchor="t">
            <a:noAutofit/>
          </a:bodyPr>
          <a:lstStyle/>
          <a:p>
            <a:r>
              <a:rPr lang="en-US" sz="1200" b="0" i="1" strike="noStrike" spc="-1">
                <a:solidFill>
                  <a:srgbClr val="62728B"/>
                </a:solidFill>
                <a:latin typeface="Calibri-Italic"/>
                <a:ea typeface="Calibri-Italic"/>
              </a:rPr>
              <a:t>20 epochs · layer4 + fc fine-tuning · ImageNet</a:t>
            </a:r>
            <a:endParaRPr lang="en-US" sz="1200" b="0" strike="noStrike" spc="-1">
              <a:solidFill>
                <a:srgbClr val="000000"/>
              </a:solidFill>
              <a:latin typeface="Arial"/>
            </a:endParaRPr>
          </a:p>
        </p:txBody>
      </p:sp>
      <p:sp>
        <p:nvSpPr>
          <p:cNvPr id="316" name="Straight Connector 315"/>
          <p:cNvSpPr/>
          <p:nvPr/>
        </p:nvSpPr>
        <p:spPr>
          <a:xfrm>
            <a:off x="457200" y="960120"/>
            <a:ext cx="8229600" cy="0"/>
          </a:xfrm>
          <a:prstGeom prst="line">
            <a:avLst/>
          </a:prstGeom>
          <a:ln w="12600">
            <a:solidFill>
              <a:srgbClr val="E2E8F0"/>
            </a:solidFill>
            <a:round/>
          </a:ln>
        </p:spPr>
        <p:style>
          <a:lnRef idx="0">
            <a:scrgbClr r="0" g="0" b="0"/>
          </a:lnRef>
          <a:fillRef idx="0">
            <a:scrgbClr r="0" g="0" b="0"/>
          </a:fillRef>
          <a:effectRef idx="0">
            <a:scrgbClr r="0" g="0" b="0"/>
          </a:effectRef>
          <a:fontRef idx="minor"/>
        </p:style>
        <p:txBody>
          <a:bodyPr lIns="96120" tIns="-51120" rIns="96120" bIns="-51120" anchor="t">
            <a:noAutofit/>
          </a:bodyPr>
          <a:lstStyle/>
          <a:p>
            <a:endParaRPr lang="en-US" sz="1800" b="0" strike="noStrike" spc="-1">
              <a:solidFill>
                <a:srgbClr val="000000"/>
              </a:solidFill>
              <a:latin typeface="Arial"/>
            </a:endParaRPr>
          </a:p>
        </p:txBody>
      </p:sp>
      <p:sp>
        <p:nvSpPr>
          <p:cNvPr id="317" name="Freeform 316"/>
          <p:cNvSpPr/>
          <p:nvPr/>
        </p:nvSpPr>
        <p:spPr>
          <a:xfrm>
            <a:off x="365760" y="1097280"/>
            <a:ext cx="2698200" cy="960840"/>
          </a:xfrm>
          <a:custGeom>
            <a:avLst/>
            <a:gdLst/>
            <a:ahLst/>
            <a:cxnLst/>
            <a:rect l="0" t="0" r="r" b="b"/>
            <a:pathLst>
              <a:path w="7495" h="2669">
                <a:moveTo>
                  <a:pt x="0" y="0"/>
                </a:moveTo>
                <a:lnTo>
                  <a:pt x="7495" y="0"/>
                </a:lnTo>
                <a:lnTo>
                  <a:pt x="7495" y="2669"/>
                </a:lnTo>
                <a:lnTo>
                  <a:pt x="0" y="2669"/>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318" name="Freeform 317"/>
          <p:cNvSpPr/>
          <p:nvPr/>
        </p:nvSpPr>
        <p:spPr>
          <a:xfrm>
            <a:off x="365760" y="1097280"/>
            <a:ext cx="64800" cy="960840"/>
          </a:xfrm>
          <a:custGeom>
            <a:avLst/>
            <a:gdLst/>
            <a:ahLst/>
            <a:cxnLst/>
            <a:rect l="0" t="0" r="r" b="b"/>
            <a:pathLst>
              <a:path w="180" h="2669">
                <a:moveTo>
                  <a:pt x="0" y="0"/>
                </a:moveTo>
                <a:lnTo>
                  <a:pt x="180" y="0"/>
                </a:lnTo>
                <a:lnTo>
                  <a:pt x="180" y="2669"/>
                </a:lnTo>
                <a:lnTo>
                  <a:pt x="0" y="2669"/>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319" name="TextBox 318"/>
          <p:cNvSpPr txBox="1"/>
          <p:nvPr/>
        </p:nvSpPr>
        <p:spPr>
          <a:xfrm>
            <a:off x="538920" y="1188720"/>
            <a:ext cx="2424600" cy="537840"/>
          </a:xfrm>
          <a:prstGeom prst="rect">
            <a:avLst/>
          </a:prstGeom>
          <a:noFill/>
          <a:ln w="0">
            <a:noFill/>
          </a:ln>
        </p:spPr>
        <p:txBody>
          <a:bodyPr lIns="90000" tIns="45000" rIns="90000" bIns="45000" anchor="t">
            <a:noAutofit/>
          </a:bodyPr>
          <a:lstStyle/>
          <a:p>
            <a:r>
              <a:rPr lang="en-US" sz="2400" b="1" strike="noStrike" spc="-1">
                <a:solidFill>
                  <a:srgbClr val="2361EB"/>
                </a:solidFill>
                <a:latin typeface="Calibri-Bold"/>
                <a:ea typeface="Calibri-Bold"/>
              </a:rPr>
              <a:t>90.76%</a:t>
            </a:r>
            <a:endParaRPr lang="en-US" sz="2400" b="0" strike="noStrike" spc="-1">
              <a:solidFill>
                <a:srgbClr val="000000"/>
              </a:solidFill>
              <a:latin typeface="Arial"/>
            </a:endParaRPr>
          </a:p>
        </p:txBody>
      </p:sp>
      <p:sp>
        <p:nvSpPr>
          <p:cNvPr id="320" name="TextBox 319"/>
          <p:cNvSpPr txBox="1"/>
          <p:nvPr/>
        </p:nvSpPr>
        <p:spPr>
          <a:xfrm>
            <a:off x="538920" y="1711800"/>
            <a:ext cx="2424600" cy="398520"/>
          </a:xfrm>
          <a:prstGeom prst="rect">
            <a:avLst/>
          </a:prstGeom>
          <a:noFill/>
          <a:ln w="0">
            <a:noFill/>
          </a:ln>
        </p:spPr>
        <p:txBody>
          <a:bodyPr lIns="90000" tIns="45000" rIns="90000" bIns="45000" anchor="t">
            <a:noAutofit/>
          </a:bodyPr>
          <a:lstStyle/>
          <a:p>
            <a:r>
              <a:rPr lang="en-US" sz="1000" b="0" strike="noStrike" spc="-1">
                <a:solidFill>
                  <a:srgbClr val="62728B"/>
                </a:solidFill>
                <a:latin typeface="Calibri"/>
                <a:ea typeface="Calibri"/>
              </a:rPr>
              <a:t>Best Val Accuracy</a:t>
            </a:r>
            <a:endParaRPr lang="en-US" sz="1000" b="0" strike="noStrike" spc="-1">
              <a:solidFill>
                <a:srgbClr val="000000"/>
              </a:solidFill>
              <a:latin typeface="Arial"/>
            </a:endParaRPr>
          </a:p>
          <a:p>
            <a:r>
              <a:rPr lang="en-US" sz="1000" b="0" strike="noStrike" spc="-1">
                <a:solidFill>
                  <a:srgbClr val="62728B"/>
                </a:solidFill>
                <a:latin typeface="Calibri"/>
                <a:ea typeface="Calibri"/>
              </a:rPr>
              <a:t>(epoch 20)</a:t>
            </a:r>
            <a:endParaRPr lang="en-US" sz="1000" b="0" strike="noStrike" spc="-1">
              <a:solidFill>
                <a:srgbClr val="000000"/>
              </a:solidFill>
              <a:latin typeface="Arial"/>
            </a:endParaRPr>
          </a:p>
        </p:txBody>
      </p:sp>
      <p:sp>
        <p:nvSpPr>
          <p:cNvPr id="321" name="Freeform 320"/>
          <p:cNvSpPr/>
          <p:nvPr/>
        </p:nvSpPr>
        <p:spPr>
          <a:xfrm>
            <a:off x="3200400" y="1097280"/>
            <a:ext cx="2698200" cy="960840"/>
          </a:xfrm>
          <a:custGeom>
            <a:avLst/>
            <a:gdLst/>
            <a:ahLst/>
            <a:cxnLst/>
            <a:rect l="0" t="0" r="r" b="b"/>
            <a:pathLst>
              <a:path w="7495" h="2669">
                <a:moveTo>
                  <a:pt x="0" y="0"/>
                </a:moveTo>
                <a:lnTo>
                  <a:pt x="7495" y="0"/>
                </a:lnTo>
                <a:lnTo>
                  <a:pt x="7495" y="2669"/>
                </a:lnTo>
                <a:lnTo>
                  <a:pt x="0" y="2669"/>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322" name="Freeform 321"/>
          <p:cNvSpPr/>
          <p:nvPr/>
        </p:nvSpPr>
        <p:spPr>
          <a:xfrm>
            <a:off x="3200400" y="1097280"/>
            <a:ext cx="64800" cy="960840"/>
          </a:xfrm>
          <a:custGeom>
            <a:avLst/>
            <a:gdLst/>
            <a:ahLst/>
            <a:cxnLst/>
            <a:rect l="0" t="0" r="r" b="b"/>
            <a:pathLst>
              <a:path w="180" h="2669">
                <a:moveTo>
                  <a:pt x="0" y="0"/>
                </a:moveTo>
                <a:lnTo>
                  <a:pt x="180" y="0"/>
                </a:lnTo>
                <a:lnTo>
                  <a:pt x="180" y="2669"/>
                </a:lnTo>
                <a:lnTo>
                  <a:pt x="0" y="2669"/>
                </a:lnTo>
                <a:lnTo>
                  <a:pt x="0" y="0"/>
                </a:lnTo>
                <a:close/>
              </a:path>
            </a:pathLst>
          </a:custGeom>
          <a:solidFill>
            <a:srgbClr val="0691B2"/>
          </a:solidFill>
          <a:ln w="12600">
            <a:solidFill>
              <a:srgbClr val="0691B2"/>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323" name="TextBox 322"/>
          <p:cNvSpPr txBox="1"/>
          <p:nvPr/>
        </p:nvSpPr>
        <p:spPr>
          <a:xfrm>
            <a:off x="3373560" y="1188720"/>
            <a:ext cx="2424600" cy="537840"/>
          </a:xfrm>
          <a:prstGeom prst="rect">
            <a:avLst/>
          </a:prstGeom>
          <a:noFill/>
          <a:ln w="0">
            <a:noFill/>
          </a:ln>
        </p:spPr>
        <p:txBody>
          <a:bodyPr lIns="90000" tIns="45000" rIns="90000" bIns="45000" anchor="t">
            <a:noAutofit/>
          </a:bodyPr>
          <a:lstStyle/>
          <a:p>
            <a:r>
              <a:rPr lang="en-US" sz="2400" b="1" strike="noStrike" spc="-1">
                <a:solidFill>
                  <a:srgbClr val="0691B2"/>
                </a:solidFill>
                <a:latin typeface="Calibri-Bold"/>
                <a:ea typeface="Calibri-Bold"/>
              </a:rPr>
              <a:t>86.15%</a:t>
            </a:r>
            <a:endParaRPr lang="en-US" sz="2400" b="0" strike="noStrike" spc="-1">
              <a:solidFill>
                <a:srgbClr val="000000"/>
              </a:solidFill>
              <a:latin typeface="Arial"/>
            </a:endParaRPr>
          </a:p>
        </p:txBody>
      </p:sp>
      <p:sp>
        <p:nvSpPr>
          <p:cNvPr id="324" name="TextBox 323"/>
          <p:cNvSpPr txBox="1"/>
          <p:nvPr/>
        </p:nvSpPr>
        <p:spPr>
          <a:xfrm>
            <a:off x="3373560" y="1711800"/>
            <a:ext cx="2424600" cy="398520"/>
          </a:xfrm>
          <a:prstGeom prst="rect">
            <a:avLst/>
          </a:prstGeom>
          <a:noFill/>
          <a:ln w="0">
            <a:noFill/>
          </a:ln>
        </p:spPr>
        <p:txBody>
          <a:bodyPr lIns="90000" tIns="45000" rIns="90000" bIns="45000" anchor="t">
            <a:noAutofit/>
          </a:bodyPr>
          <a:lstStyle/>
          <a:p>
            <a:r>
              <a:rPr lang="en-US" sz="1000" b="0" strike="noStrike" spc="-1">
                <a:solidFill>
                  <a:srgbClr val="62728B"/>
                </a:solidFill>
                <a:latin typeface="Calibri"/>
                <a:ea typeface="Calibri"/>
              </a:rPr>
              <a:t>Test Accuracy</a:t>
            </a:r>
            <a:endParaRPr lang="en-US" sz="1000" b="0" strike="noStrike" spc="-1">
              <a:solidFill>
                <a:srgbClr val="000000"/>
              </a:solidFill>
              <a:latin typeface="Arial"/>
            </a:endParaRPr>
          </a:p>
          <a:p>
            <a:r>
              <a:rPr lang="nl-NL" sz="1000" b="0" strike="noStrike" spc="-1">
                <a:solidFill>
                  <a:srgbClr val="62728B"/>
                </a:solidFill>
                <a:latin typeface="Calibri"/>
                <a:ea typeface="Calibri"/>
              </a:rPr>
              <a:t>(</a:t>
            </a:r>
            <a:r>
              <a:rPr lang="en-US" sz="1000" b="0" strike="noStrike" spc="-1">
                <a:solidFill>
                  <a:srgbClr val="62728B"/>
                </a:solidFill>
                <a:latin typeface="Calibri"/>
                <a:ea typeface="Calibri"/>
              </a:rPr>
              <a:t>precision 86.43% / recall 86.05%</a:t>
            </a:r>
            <a:r>
              <a:rPr lang="nl-NL" sz="1000" b="0" strike="noStrike" spc="-1">
                <a:solidFill>
                  <a:srgbClr val="62728B"/>
                </a:solidFill>
                <a:latin typeface="Calibri"/>
                <a:ea typeface="Calibri"/>
              </a:rPr>
              <a:t>)</a:t>
            </a:r>
            <a:endParaRPr lang="en-US" sz="1000" b="0" strike="noStrike" spc="-1">
              <a:solidFill>
                <a:srgbClr val="000000"/>
              </a:solidFill>
              <a:latin typeface="Arial"/>
            </a:endParaRPr>
          </a:p>
        </p:txBody>
      </p:sp>
      <p:sp>
        <p:nvSpPr>
          <p:cNvPr id="325" name="Freeform 324"/>
          <p:cNvSpPr/>
          <p:nvPr/>
        </p:nvSpPr>
        <p:spPr>
          <a:xfrm>
            <a:off x="6035040" y="1097280"/>
            <a:ext cx="2698200" cy="960840"/>
          </a:xfrm>
          <a:custGeom>
            <a:avLst/>
            <a:gdLst/>
            <a:ahLst/>
            <a:cxnLst/>
            <a:rect l="0" t="0" r="r" b="b"/>
            <a:pathLst>
              <a:path w="7495" h="2669">
                <a:moveTo>
                  <a:pt x="0" y="0"/>
                </a:moveTo>
                <a:lnTo>
                  <a:pt x="7495" y="0"/>
                </a:lnTo>
                <a:lnTo>
                  <a:pt x="7495" y="2669"/>
                </a:lnTo>
                <a:lnTo>
                  <a:pt x="0" y="2669"/>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326" name="Freeform 325"/>
          <p:cNvSpPr/>
          <p:nvPr/>
        </p:nvSpPr>
        <p:spPr>
          <a:xfrm>
            <a:off x="6035040" y="1097280"/>
            <a:ext cx="64800" cy="960840"/>
          </a:xfrm>
          <a:custGeom>
            <a:avLst/>
            <a:gdLst/>
            <a:ahLst/>
            <a:cxnLst/>
            <a:rect l="0" t="0" r="r" b="b"/>
            <a:pathLst>
              <a:path w="180" h="2669">
                <a:moveTo>
                  <a:pt x="0" y="0"/>
                </a:moveTo>
                <a:lnTo>
                  <a:pt x="180" y="0"/>
                </a:lnTo>
                <a:lnTo>
                  <a:pt x="180" y="2669"/>
                </a:lnTo>
                <a:lnTo>
                  <a:pt x="0" y="2669"/>
                </a:lnTo>
                <a:lnTo>
                  <a:pt x="0" y="0"/>
                </a:lnTo>
                <a:close/>
              </a:path>
            </a:pathLst>
          </a:custGeom>
          <a:solidFill>
            <a:srgbClr val="D97504"/>
          </a:solidFill>
          <a:ln w="12600">
            <a:solidFill>
              <a:srgbClr val="D97504"/>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327" name="TextBox 326"/>
          <p:cNvSpPr txBox="1"/>
          <p:nvPr/>
        </p:nvSpPr>
        <p:spPr>
          <a:xfrm>
            <a:off x="6208200" y="1188720"/>
            <a:ext cx="2424600" cy="537840"/>
          </a:xfrm>
          <a:prstGeom prst="rect">
            <a:avLst/>
          </a:prstGeom>
          <a:noFill/>
          <a:ln w="0">
            <a:noFill/>
          </a:ln>
        </p:spPr>
        <p:txBody>
          <a:bodyPr lIns="90000" tIns="45000" rIns="90000" bIns="45000" anchor="t">
            <a:noAutofit/>
          </a:bodyPr>
          <a:lstStyle/>
          <a:p>
            <a:r>
              <a:rPr lang="en-US" sz="2400" b="1" strike="noStrike" spc="-1">
                <a:solidFill>
                  <a:srgbClr val="D97504"/>
                </a:solidFill>
                <a:latin typeface="Calibri-Bold"/>
                <a:ea typeface="Calibri-Bold"/>
              </a:rPr>
              <a:t>4.61 pp</a:t>
            </a:r>
            <a:endParaRPr lang="en-US" sz="2400" b="0" strike="noStrike" spc="-1">
              <a:solidFill>
                <a:srgbClr val="000000"/>
              </a:solidFill>
              <a:latin typeface="Arial"/>
            </a:endParaRPr>
          </a:p>
        </p:txBody>
      </p:sp>
      <p:sp>
        <p:nvSpPr>
          <p:cNvPr id="328" name="TextBox 327"/>
          <p:cNvSpPr txBox="1"/>
          <p:nvPr/>
        </p:nvSpPr>
        <p:spPr>
          <a:xfrm>
            <a:off x="6208200" y="1711800"/>
            <a:ext cx="2424600" cy="398520"/>
          </a:xfrm>
          <a:prstGeom prst="rect">
            <a:avLst/>
          </a:prstGeom>
          <a:noFill/>
          <a:ln w="0">
            <a:noFill/>
          </a:ln>
        </p:spPr>
        <p:txBody>
          <a:bodyPr lIns="90000" tIns="45000" rIns="90000" bIns="45000" anchor="t">
            <a:noAutofit/>
          </a:bodyPr>
          <a:lstStyle/>
          <a:p>
            <a:r>
              <a:rPr lang="en-US" sz="1000" b="0" strike="noStrike" spc="-1">
                <a:solidFill>
                  <a:srgbClr val="62728B"/>
                </a:solidFill>
                <a:latin typeface="Calibri"/>
                <a:ea typeface="Calibri"/>
              </a:rPr>
              <a:t>Generalization Gap</a:t>
            </a:r>
            <a:endParaRPr lang="en-US" sz="1000" b="0" strike="noStrike" spc="-1">
              <a:solidFill>
                <a:srgbClr val="000000"/>
              </a:solidFill>
              <a:latin typeface="Arial"/>
            </a:endParaRPr>
          </a:p>
          <a:p>
            <a:r>
              <a:rPr lang="en-US" sz="1000" b="0" strike="noStrike" spc="-1">
                <a:solidFill>
                  <a:srgbClr val="62728B"/>
                </a:solidFill>
                <a:latin typeface="Calibri"/>
                <a:ea typeface="Calibri"/>
              </a:rPr>
              <a:t>(low overfit)</a:t>
            </a:r>
            <a:endParaRPr lang="en-US" sz="1000" b="0" strike="noStrike" spc="-1">
              <a:solidFill>
                <a:srgbClr val="000000"/>
              </a:solidFill>
              <a:latin typeface="Arial"/>
            </a:endParaRPr>
          </a:p>
        </p:txBody>
      </p:sp>
      <p:sp>
        <p:nvSpPr>
          <p:cNvPr id="329" name="Freeform 328"/>
          <p:cNvSpPr/>
          <p:nvPr/>
        </p:nvSpPr>
        <p:spPr>
          <a:xfrm>
            <a:off x="365760" y="2212920"/>
            <a:ext cx="4115520" cy="2561040"/>
          </a:xfrm>
          <a:custGeom>
            <a:avLst/>
            <a:gdLst/>
            <a:ahLst/>
            <a:cxnLst/>
            <a:rect l="0" t="0" r="r" b="b"/>
            <a:pathLst>
              <a:path w="11432" h="7114">
                <a:moveTo>
                  <a:pt x="0" y="0"/>
                </a:moveTo>
                <a:lnTo>
                  <a:pt x="11432" y="0"/>
                </a:lnTo>
                <a:lnTo>
                  <a:pt x="11432" y="7114"/>
                </a:lnTo>
                <a:lnTo>
                  <a:pt x="0" y="7114"/>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330" name="Freeform 329"/>
          <p:cNvSpPr/>
          <p:nvPr/>
        </p:nvSpPr>
        <p:spPr>
          <a:xfrm>
            <a:off x="365760" y="2212920"/>
            <a:ext cx="64800" cy="2561040"/>
          </a:xfrm>
          <a:custGeom>
            <a:avLst/>
            <a:gdLst/>
            <a:ahLst/>
            <a:cxnLst/>
            <a:rect l="0" t="0" r="r" b="b"/>
            <a:pathLst>
              <a:path w="180" h="7114">
                <a:moveTo>
                  <a:pt x="0" y="0"/>
                </a:moveTo>
                <a:lnTo>
                  <a:pt x="180" y="0"/>
                </a:lnTo>
                <a:lnTo>
                  <a:pt x="180" y="7114"/>
                </a:lnTo>
                <a:lnTo>
                  <a:pt x="0" y="7114"/>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331" name="TextBox 330"/>
          <p:cNvSpPr txBox="1"/>
          <p:nvPr/>
        </p:nvSpPr>
        <p:spPr>
          <a:xfrm>
            <a:off x="593640" y="2304360"/>
            <a:ext cx="3704760" cy="301680"/>
          </a:xfrm>
          <a:prstGeom prst="rect">
            <a:avLst/>
          </a:prstGeom>
          <a:noFill/>
          <a:ln w="0">
            <a:noFill/>
          </a:ln>
        </p:spPr>
        <p:txBody>
          <a:bodyPr lIns="90000" tIns="45000" rIns="90000" bIns="45000" anchor="t">
            <a:noAutofit/>
          </a:bodyPr>
          <a:lstStyle/>
          <a:p>
            <a:r>
              <a:rPr lang="en-US" sz="1200" b="1" strike="noStrike" spc="-1">
                <a:solidFill>
                  <a:srgbClr val="182C48"/>
                </a:solidFill>
                <a:latin typeface="Calibri-Bold"/>
                <a:ea typeface="Calibri-Bold"/>
              </a:rPr>
              <a:t>Training Curves — Observations</a:t>
            </a:r>
            <a:endParaRPr lang="en-US" sz="1200" b="0" strike="noStrike" spc="-1">
              <a:solidFill>
                <a:srgbClr val="000000"/>
              </a:solidFill>
              <a:latin typeface="Arial"/>
            </a:endParaRPr>
          </a:p>
        </p:txBody>
      </p:sp>
      <p:sp>
        <p:nvSpPr>
          <p:cNvPr id="332" name="TextBox 331"/>
          <p:cNvSpPr txBox="1"/>
          <p:nvPr/>
        </p:nvSpPr>
        <p:spPr>
          <a:xfrm>
            <a:off x="685080" y="2679120"/>
            <a:ext cx="3567600" cy="2011680"/>
          </a:xfrm>
          <a:prstGeom prst="rect">
            <a:avLst/>
          </a:prstGeom>
          <a:noFill/>
          <a:ln w="0">
            <a:noFill/>
          </a:ln>
        </p:spPr>
        <p:txBody>
          <a:bodyPr lIns="90000" tIns="45000" rIns="90000" bIns="45000" anchor="t">
            <a:noAutofit/>
          </a:bodyPr>
          <a:lstStyle/>
          <a:p>
            <a:r>
              <a:rPr lang="en-US" sz="1100" b="0" strike="noStrike" spc="-1" dirty="0">
                <a:solidFill>
                  <a:srgbClr val="1C2739"/>
                </a:solidFill>
                <a:latin typeface="Calibri"/>
                <a:ea typeface="Calibri"/>
              </a:rPr>
              <a:t>Transfer learning converges significantly faster than CNN</a:t>
            </a:r>
            <a:endParaRPr lang="en-US" sz="1100" b="0" strike="noStrike" spc="-1" dirty="0">
              <a:solidFill>
                <a:srgbClr val="000000"/>
              </a:solidFill>
              <a:latin typeface="Arial"/>
            </a:endParaRPr>
          </a:p>
          <a:p>
            <a:r>
              <a:rPr lang="en-US" sz="1100" b="0" strike="noStrike" spc="-1" dirty="0">
                <a:solidFill>
                  <a:srgbClr val="1C2739"/>
                </a:solidFill>
                <a:latin typeface="Calibri"/>
                <a:ea typeface="Calibri"/>
              </a:rPr>
              <a:t>Frozen backbone prevents overfitting in early epochs</a:t>
            </a:r>
            <a:endParaRPr lang="en-US" sz="1100" b="0" strike="noStrike" spc="-1" dirty="0">
              <a:solidFill>
                <a:srgbClr val="000000"/>
              </a:solidFill>
              <a:latin typeface="Arial"/>
            </a:endParaRPr>
          </a:p>
          <a:p>
            <a:r>
              <a:rPr lang="en-US" sz="1100" b="0" strike="noStrike" spc="-1" dirty="0">
                <a:solidFill>
                  <a:srgbClr val="1C2739"/>
                </a:solidFill>
                <a:latin typeface="Calibri"/>
                <a:ea typeface="Calibri"/>
              </a:rPr>
              <a:t>Test/</a:t>
            </a:r>
            <a:r>
              <a:rPr lang="en-US" sz="1100" b="0" strike="noStrike" spc="-1" dirty="0" err="1">
                <a:solidFill>
                  <a:srgbClr val="1C2739"/>
                </a:solidFill>
                <a:latin typeface="Calibri"/>
                <a:ea typeface="Calibri"/>
              </a:rPr>
              <a:t>val</a:t>
            </a:r>
            <a:r>
              <a:rPr lang="en-US" sz="1100" b="0" strike="noStrike" spc="-1" dirty="0">
                <a:solidFill>
                  <a:srgbClr val="1C2739"/>
                </a:solidFill>
                <a:latin typeface="Calibri"/>
                <a:ea typeface="Calibri"/>
              </a:rPr>
              <a:t> gap 4.61 pp — low overfitting</a:t>
            </a:r>
            <a:endParaRPr lang="en-US" sz="1100" b="0" strike="noStrike" spc="-1" dirty="0">
              <a:solidFill>
                <a:srgbClr val="000000"/>
              </a:solidFill>
              <a:latin typeface="Arial"/>
            </a:endParaRPr>
          </a:p>
          <a:p>
            <a:r>
              <a:rPr lang="en-US" sz="1100" b="0" strike="noStrike" spc="-1" dirty="0">
                <a:solidFill>
                  <a:srgbClr val="1C2739"/>
                </a:solidFill>
                <a:latin typeface="Calibri"/>
                <a:ea typeface="Calibri"/>
              </a:rPr>
              <a:t>Fine-tuning last layers yields best generalization</a:t>
            </a:r>
            <a:endParaRPr lang="en-US" sz="1100" b="0" strike="noStrike" spc="-1" dirty="0">
              <a:solidFill>
                <a:srgbClr val="000000"/>
              </a:solidFill>
              <a:latin typeface="Arial"/>
            </a:endParaRPr>
          </a:p>
          <a:p>
            <a:r>
              <a:rPr lang="en-US" sz="1100" b="0" strike="noStrike" spc="-1" dirty="0">
                <a:solidFill>
                  <a:srgbClr val="1C2739"/>
                </a:solidFill>
                <a:latin typeface="Calibri"/>
                <a:ea typeface="Calibri"/>
              </a:rPr>
              <a:t>Pre-trained features transfer well to pet breed classification</a:t>
            </a:r>
            <a:endParaRPr lang="en-US" sz="1100" b="0" strike="noStrike" spc="-1" dirty="0">
              <a:solidFill>
                <a:srgbClr val="000000"/>
              </a:solidFill>
              <a:latin typeface="Arial"/>
            </a:endParaRPr>
          </a:p>
        </p:txBody>
      </p:sp>
      <p:sp>
        <p:nvSpPr>
          <p:cNvPr id="333" name="Freeform 332"/>
          <p:cNvSpPr/>
          <p:nvPr/>
        </p:nvSpPr>
        <p:spPr>
          <a:xfrm>
            <a:off x="4663440" y="2212920"/>
            <a:ext cx="4115520" cy="2561040"/>
          </a:xfrm>
          <a:custGeom>
            <a:avLst/>
            <a:gdLst/>
            <a:ahLst/>
            <a:cxnLst/>
            <a:rect l="0" t="0" r="r" b="b"/>
            <a:pathLst>
              <a:path w="11432" h="7114">
                <a:moveTo>
                  <a:pt x="0" y="0"/>
                </a:moveTo>
                <a:lnTo>
                  <a:pt x="11432" y="0"/>
                </a:lnTo>
                <a:lnTo>
                  <a:pt x="11432" y="7114"/>
                </a:lnTo>
                <a:lnTo>
                  <a:pt x="0" y="7114"/>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334" name="Freeform 333"/>
          <p:cNvSpPr/>
          <p:nvPr/>
        </p:nvSpPr>
        <p:spPr>
          <a:xfrm>
            <a:off x="4663440" y="2212920"/>
            <a:ext cx="64800" cy="2561040"/>
          </a:xfrm>
          <a:custGeom>
            <a:avLst/>
            <a:gdLst/>
            <a:ahLst/>
            <a:cxnLst/>
            <a:rect l="0" t="0" r="r" b="b"/>
            <a:pathLst>
              <a:path w="180" h="7114">
                <a:moveTo>
                  <a:pt x="0" y="0"/>
                </a:moveTo>
                <a:lnTo>
                  <a:pt x="180" y="0"/>
                </a:lnTo>
                <a:lnTo>
                  <a:pt x="180" y="7114"/>
                </a:lnTo>
                <a:lnTo>
                  <a:pt x="0" y="7114"/>
                </a:lnTo>
                <a:lnTo>
                  <a:pt x="0" y="0"/>
                </a:lnTo>
                <a:close/>
              </a:path>
            </a:pathLst>
          </a:custGeom>
          <a:solidFill>
            <a:srgbClr val="7A38ED"/>
          </a:solidFill>
          <a:ln w="12600">
            <a:solidFill>
              <a:srgbClr val="7A38ED"/>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335" name="TextBox 334"/>
          <p:cNvSpPr txBox="1"/>
          <p:nvPr/>
        </p:nvSpPr>
        <p:spPr>
          <a:xfrm>
            <a:off x="4891320" y="2304360"/>
            <a:ext cx="3659040" cy="301680"/>
          </a:xfrm>
          <a:prstGeom prst="rect">
            <a:avLst/>
          </a:prstGeom>
          <a:noFill/>
          <a:ln w="0">
            <a:noFill/>
          </a:ln>
        </p:spPr>
        <p:txBody>
          <a:bodyPr lIns="90000" tIns="45000" rIns="90000" bIns="45000" anchor="t">
            <a:noAutofit/>
          </a:bodyPr>
          <a:lstStyle/>
          <a:p>
            <a:r>
              <a:rPr lang="en-US" sz="1200" b="1" strike="noStrike" spc="-1">
                <a:solidFill>
                  <a:srgbClr val="182C48"/>
                </a:solidFill>
                <a:latin typeface="Calibri-Bold"/>
                <a:ea typeface="Calibri-Bold"/>
              </a:rPr>
              <a:t>Ablation Experiments</a:t>
            </a:r>
            <a:endParaRPr lang="en-US" sz="1200" b="0" strike="noStrike" spc="-1">
              <a:solidFill>
                <a:srgbClr val="000000"/>
              </a:solidFill>
              <a:latin typeface="Arial"/>
            </a:endParaRPr>
          </a:p>
        </p:txBody>
      </p:sp>
      <p:sp>
        <p:nvSpPr>
          <p:cNvPr id="336" name="Freeform 335"/>
          <p:cNvSpPr/>
          <p:nvPr/>
        </p:nvSpPr>
        <p:spPr>
          <a:xfrm>
            <a:off x="4827960" y="2679120"/>
            <a:ext cx="3786480" cy="275040"/>
          </a:xfrm>
          <a:custGeom>
            <a:avLst/>
            <a:gdLst/>
            <a:ahLst/>
            <a:cxnLst/>
            <a:rect l="0" t="0" r="r" b="b"/>
            <a:pathLst>
              <a:path w="10518" h="764">
                <a:moveTo>
                  <a:pt x="0" y="0"/>
                </a:moveTo>
                <a:lnTo>
                  <a:pt x="10518" y="0"/>
                </a:lnTo>
                <a:lnTo>
                  <a:pt x="10518" y="764"/>
                </a:lnTo>
                <a:lnTo>
                  <a:pt x="0" y="764"/>
                </a:lnTo>
                <a:lnTo>
                  <a:pt x="0" y="0"/>
                </a:lnTo>
                <a:close/>
              </a:path>
            </a:pathLst>
          </a:custGeom>
          <a:solidFill>
            <a:srgbClr val="182C48"/>
          </a:solidFill>
          <a:ln w="12600">
            <a:solidFill>
              <a:srgbClr val="182C48"/>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337" name="TextBox 336"/>
          <p:cNvSpPr txBox="1"/>
          <p:nvPr/>
        </p:nvSpPr>
        <p:spPr>
          <a:xfrm>
            <a:off x="4937040" y="2679120"/>
            <a:ext cx="1738800" cy="274320"/>
          </a:xfrm>
          <a:prstGeom prst="rect">
            <a:avLst/>
          </a:prstGeom>
          <a:noFill/>
          <a:ln w="0">
            <a:noFill/>
          </a:ln>
        </p:spPr>
        <p:txBody>
          <a:bodyPr lIns="90000" tIns="45000" rIns="90000" bIns="45000" anchor="t">
            <a:noAutofit/>
          </a:bodyPr>
          <a:lstStyle/>
          <a:p>
            <a:r>
              <a:rPr lang="en-US" sz="900" b="1" strike="noStrike" spc="-1">
                <a:solidFill>
                  <a:srgbClr val="FFFFFF"/>
                </a:solidFill>
                <a:latin typeface="Calibri-Bold"/>
                <a:ea typeface="Calibri-Bold"/>
              </a:rPr>
              <a:t>Configuration</a:t>
            </a:r>
            <a:endParaRPr lang="en-US" sz="900" b="0" strike="noStrike" spc="-1">
              <a:solidFill>
                <a:srgbClr val="000000"/>
              </a:solidFill>
              <a:latin typeface="Arial"/>
            </a:endParaRPr>
          </a:p>
        </p:txBody>
      </p:sp>
      <p:sp>
        <p:nvSpPr>
          <p:cNvPr id="338" name="TextBox 337"/>
          <p:cNvSpPr txBox="1"/>
          <p:nvPr/>
        </p:nvSpPr>
        <p:spPr>
          <a:xfrm>
            <a:off x="6811560" y="2679120"/>
            <a:ext cx="732960" cy="274320"/>
          </a:xfrm>
          <a:prstGeom prst="rect">
            <a:avLst/>
          </a:prstGeom>
          <a:noFill/>
          <a:ln w="0">
            <a:noFill/>
          </a:ln>
        </p:spPr>
        <p:txBody>
          <a:bodyPr lIns="90000" tIns="45000" rIns="90000" bIns="45000" anchor="t">
            <a:noAutofit/>
          </a:bodyPr>
          <a:lstStyle/>
          <a:p>
            <a:r>
              <a:rPr lang="en-US" sz="900" b="1" strike="noStrike" spc="-1">
                <a:solidFill>
                  <a:srgbClr val="FFFFFF"/>
                </a:solidFill>
                <a:latin typeface="Calibri-Bold"/>
                <a:ea typeface="Calibri-Bold"/>
              </a:rPr>
              <a:t>Test Acc</a:t>
            </a:r>
            <a:endParaRPr lang="en-US" sz="900" b="0" strike="noStrike" spc="-1">
              <a:solidFill>
                <a:srgbClr val="000000"/>
              </a:solidFill>
              <a:latin typeface="Arial"/>
            </a:endParaRPr>
          </a:p>
        </p:txBody>
      </p:sp>
      <p:sp>
        <p:nvSpPr>
          <p:cNvPr id="339" name="TextBox 338"/>
          <p:cNvSpPr txBox="1"/>
          <p:nvPr/>
        </p:nvSpPr>
        <p:spPr>
          <a:xfrm>
            <a:off x="7680240" y="2679120"/>
            <a:ext cx="732960" cy="274320"/>
          </a:xfrm>
          <a:prstGeom prst="rect">
            <a:avLst/>
          </a:prstGeom>
          <a:noFill/>
          <a:ln w="0">
            <a:noFill/>
          </a:ln>
        </p:spPr>
        <p:txBody>
          <a:bodyPr lIns="90000" tIns="45000" rIns="90000" bIns="45000" anchor="t">
            <a:noAutofit/>
          </a:bodyPr>
          <a:lstStyle/>
          <a:p>
            <a:r>
              <a:rPr lang="en-US" sz="900" b="1" strike="noStrike" spc="-1">
                <a:solidFill>
                  <a:srgbClr val="FFFFFF"/>
                </a:solidFill>
                <a:latin typeface="Calibri-Bold"/>
                <a:ea typeface="Calibri-Bold"/>
              </a:rPr>
              <a:t>Note</a:t>
            </a:r>
            <a:endParaRPr lang="en-US" sz="900" b="0" strike="noStrike" spc="-1">
              <a:solidFill>
                <a:srgbClr val="000000"/>
              </a:solidFill>
              <a:latin typeface="Arial"/>
            </a:endParaRPr>
          </a:p>
        </p:txBody>
      </p:sp>
      <p:sp>
        <p:nvSpPr>
          <p:cNvPr id="340" name="Freeform 339"/>
          <p:cNvSpPr/>
          <p:nvPr/>
        </p:nvSpPr>
        <p:spPr>
          <a:xfrm>
            <a:off x="4827960" y="2990160"/>
            <a:ext cx="3786480" cy="302400"/>
          </a:xfrm>
          <a:custGeom>
            <a:avLst/>
            <a:gdLst/>
            <a:ahLst/>
            <a:cxnLst/>
            <a:rect l="0" t="0" r="r" b="b"/>
            <a:pathLst>
              <a:path w="10518" h="840">
                <a:moveTo>
                  <a:pt x="0" y="0"/>
                </a:moveTo>
                <a:lnTo>
                  <a:pt x="10518" y="0"/>
                </a:lnTo>
                <a:lnTo>
                  <a:pt x="10518"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341" name="TextBox 340"/>
          <p:cNvSpPr txBox="1"/>
          <p:nvPr/>
        </p:nvSpPr>
        <p:spPr>
          <a:xfrm>
            <a:off x="4937040" y="3035880"/>
            <a:ext cx="1693080" cy="229320"/>
          </a:xfrm>
          <a:prstGeom prst="rect">
            <a:avLst/>
          </a:prstGeom>
          <a:noFill/>
          <a:ln w="0">
            <a:noFill/>
          </a:ln>
        </p:spPr>
        <p:txBody>
          <a:bodyPr lIns="90000" tIns="45000" rIns="90000" bIns="45000" anchor="t">
            <a:noAutofit/>
          </a:bodyPr>
          <a:lstStyle/>
          <a:p>
            <a:r>
              <a:rPr lang="en-US" sz="900" b="0" strike="noStrike" spc="-1">
                <a:solidFill>
                  <a:srgbClr val="1C2739"/>
                </a:solidFill>
                <a:latin typeface="Calibri"/>
                <a:ea typeface="Calibri"/>
              </a:rPr>
              <a:t>Baseline (20 ep.)</a:t>
            </a:r>
            <a:endParaRPr lang="en-US" sz="900" b="0" strike="noStrike" spc="-1">
              <a:solidFill>
                <a:srgbClr val="000000"/>
              </a:solidFill>
              <a:latin typeface="Arial"/>
            </a:endParaRPr>
          </a:p>
        </p:txBody>
      </p:sp>
      <p:sp>
        <p:nvSpPr>
          <p:cNvPr id="342" name="TextBox 341"/>
          <p:cNvSpPr txBox="1"/>
          <p:nvPr/>
        </p:nvSpPr>
        <p:spPr>
          <a:xfrm>
            <a:off x="6811560" y="3035880"/>
            <a:ext cx="732960" cy="224640"/>
          </a:xfrm>
          <a:prstGeom prst="rect">
            <a:avLst/>
          </a:prstGeom>
          <a:noFill/>
          <a:ln w="0">
            <a:noFill/>
          </a:ln>
        </p:spPr>
        <p:txBody>
          <a:bodyPr lIns="90000" tIns="45000" rIns="90000" bIns="45000" anchor="t">
            <a:noAutofit/>
          </a:bodyPr>
          <a:lstStyle/>
          <a:p>
            <a:r>
              <a:rPr lang="en-US" sz="900" b="1" strike="noStrike" spc="-1">
                <a:solidFill>
                  <a:srgbClr val="039667"/>
                </a:solidFill>
                <a:latin typeface="Calibri-Bold"/>
                <a:ea typeface="Calibri-Bold"/>
              </a:rPr>
              <a:t>86.15%</a:t>
            </a:r>
            <a:endParaRPr lang="en-US" sz="900" b="0" strike="noStrike" spc="-1">
              <a:solidFill>
                <a:srgbClr val="000000"/>
              </a:solidFill>
              <a:latin typeface="Arial"/>
            </a:endParaRPr>
          </a:p>
        </p:txBody>
      </p:sp>
      <p:sp>
        <p:nvSpPr>
          <p:cNvPr id="343" name="TextBox 342"/>
          <p:cNvSpPr txBox="1"/>
          <p:nvPr/>
        </p:nvSpPr>
        <p:spPr>
          <a:xfrm>
            <a:off x="7680240" y="3035880"/>
            <a:ext cx="732960" cy="229320"/>
          </a:xfrm>
          <a:prstGeom prst="rect">
            <a:avLst/>
          </a:prstGeom>
          <a:noFill/>
          <a:ln w="0">
            <a:noFill/>
          </a:ln>
        </p:spPr>
        <p:txBody>
          <a:bodyPr lIns="90000" tIns="45000" rIns="90000" bIns="45000" anchor="t">
            <a:noAutofit/>
          </a:bodyPr>
          <a:lstStyle/>
          <a:p>
            <a:r>
              <a:rPr lang="en-US" sz="900" b="0" strike="noStrike" spc="-1">
                <a:solidFill>
                  <a:srgbClr val="62728B"/>
                </a:solidFill>
                <a:latin typeface="Calibri"/>
                <a:ea typeface="Calibri"/>
              </a:rPr>
              <a:t>✅ Best</a:t>
            </a:r>
            <a:endParaRPr lang="en-US" sz="900" b="0" strike="noStrike" spc="-1">
              <a:solidFill>
                <a:srgbClr val="000000"/>
              </a:solidFill>
              <a:latin typeface="Arial"/>
            </a:endParaRPr>
          </a:p>
        </p:txBody>
      </p:sp>
      <p:sp>
        <p:nvSpPr>
          <p:cNvPr id="344" name="Freeform 343"/>
          <p:cNvSpPr/>
          <p:nvPr/>
        </p:nvSpPr>
        <p:spPr>
          <a:xfrm>
            <a:off x="4827960" y="3328560"/>
            <a:ext cx="3786480" cy="302400"/>
          </a:xfrm>
          <a:custGeom>
            <a:avLst/>
            <a:gdLst/>
            <a:ahLst/>
            <a:cxnLst/>
            <a:rect l="0" t="0" r="r" b="b"/>
            <a:pathLst>
              <a:path w="10518" h="840">
                <a:moveTo>
                  <a:pt x="0" y="0"/>
                </a:moveTo>
                <a:lnTo>
                  <a:pt x="10518" y="0"/>
                </a:lnTo>
                <a:lnTo>
                  <a:pt x="10518"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345" name="TextBox 344"/>
          <p:cNvSpPr txBox="1"/>
          <p:nvPr/>
        </p:nvSpPr>
        <p:spPr>
          <a:xfrm>
            <a:off x="4937040" y="3374280"/>
            <a:ext cx="1693080" cy="229320"/>
          </a:xfrm>
          <a:prstGeom prst="rect">
            <a:avLst/>
          </a:prstGeom>
          <a:noFill/>
          <a:ln w="0">
            <a:noFill/>
          </a:ln>
        </p:spPr>
        <p:txBody>
          <a:bodyPr lIns="90000" tIns="45000" rIns="90000" bIns="45000" anchor="t">
            <a:noAutofit/>
          </a:bodyPr>
          <a:lstStyle/>
          <a:p>
            <a:r>
              <a:rPr lang="en-US" sz="900" b="0" strike="noStrike" spc="-1">
                <a:solidFill>
                  <a:srgbClr val="1C2739"/>
                </a:solidFill>
                <a:latin typeface="Calibri"/>
                <a:ea typeface="Calibri"/>
              </a:rPr>
              <a:t>EXP1 — lr=1e-3, bs=16</a:t>
            </a:r>
            <a:endParaRPr lang="en-US" sz="900" b="0" strike="noStrike" spc="-1">
              <a:solidFill>
                <a:srgbClr val="000000"/>
              </a:solidFill>
              <a:latin typeface="Arial"/>
            </a:endParaRPr>
          </a:p>
        </p:txBody>
      </p:sp>
      <p:sp>
        <p:nvSpPr>
          <p:cNvPr id="346" name="TextBox 345"/>
          <p:cNvSpPr txBox="1"/>
          <p:nvPr/>
        </p:nvSpPr>
        <p:spPr>
          <a:xfrm>
            <a:off x="6811560" y="3374280"/>
            <a:ext cx="732960" cy="224640"/>
          </a:xfrm>
          <a:prstGeom prst="rect">
            <a:avLst/>
          </a:prstGeom>
          <a:noFill/>
          <a:ln w="0">
            <a:noFill/>
          </a:ln>
        </p:spPr>
        <p:txBody>
          <a:bodyPr lIns="90000" tIns="45000" rIns="90000" bIns="45000" anchor="t">
            <a:noAutofit/>
          </a:bodyPr>
          <a:lstStyle/>
          <a:p>
            <a:r>
              <a:rPr lang="en-US" sz="900" b="1" strike="noStrike" spc="-1">
                <a:solidFill>
                  <a:srgbClr val="C9201D"/>
                </a:solidFill>
                <a:latin typeface="Calibri-Bold"/>
                <a:ea typeface="Calibri-Bold"/>
              </a:rPr>
              <a:t>82.09%</a:t>
            </a:r>
            <a:endParaRPr lang="en-US" sz="900" b="0" strike="noStrike" spc="-1">
              <a:solidFill>
                <a:srgbClr val="000000"/>
              </a:solidFill>
              <a:latin typeface="Arial"/>
            </a:endParaRPr>
          </a:p>
        </p:txBody>
      </p:sp>
      <p:sp>
        <p:nvSpPr>
          <p:cNvPr id="347" name="TextBox 346"/>
          <p:cNvSpPr txBox="1"/>
          <p:nvPr/>
        </p:nvSpPr>
        <p:spPr>
          <a:xfrm>
            <a:off x="7680240" y="3374280"/>
            <a:ext cx="732960" cy="229320"/>
          </a:xfrm>
          <a:prstGeom prst="rect">
            <a:avLst/>
          </a:prstGeom>
          <a:noFill/>
          <a:ln w="0">
            <a:noFill/>
          </a:ln>
        </p:spPr>
        <p:txBody>
          <a:bodyPr lIns="90000" tIns="45000" rIns="90000" bIns="45000" anchor="t">
            <a:noAutofit/>
          </a:bodyPr>
          <a:lstStyle/>
          <a:p>
            <a:r>
              <a:rPr lang="en-US" sz="900" b="0" strike="noStrike" spc="-1">
                <a:solidFill>
                  <a:srgbClr val="62728B"/>
                </a:solidFill>
                <a:latin typeface="Calibri"/>
                <a:ea typeface="Calibri"/>
              </a:rPr>
              <a:t>lr too high</a:t>
            </a:r>
            <a:endParaRPr lang="en-US" sz="900" b="0" strike="noStrike" spc="-1">
              <a:solidFill>
                <a:srgbClr val="000000"/>
              </a:solidFill>
              <a:latin typeface="Arial"/>
            </a:endParaRPr>
          </a:p>
        </p:txBody>
      </p:sp>
      <p:sp>
        <p:nvSpPr>
          <p:cNvPr id="348" name="Freeform 347"/>
          <p:cNvSpPr/>
          <p:nvPr/>
        </p:nvSpPr>
        <p:spPr>
          <a:xfrm>
            <a:off x="4827960" y="3666600"/>
            <a:ext cx="3786480" cy="302400"/>
          </a:xfrm>
          <a:custGeom>
            <a:avLst/>
            <a:gdLst/>
            <a:ahLst/>
            <a:cxnLst/>
            <a:rect l="0" t="0" r="r" b="b"/>
            <a:pathLst>
              <a:path w="10518" h="840">
                <a:moveTo>
                  <a:pt x="0" y="0"/>
                </a:moveTo>
                <a:lnTo>
                  <a:pt x="10518" y="0"/>
                </a:lnTo>
                <a:lnTo>
                  <a:pt x="10518"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349" name="TextBox 348"/>
          <p:cNvSpPr txBox="1"/>
          <p:nvPr/>
        </p:nvSpPr>
        <p:spPr>
          <a:xfrm>
            <a:off x="4937040" y="3712320"/>
            <a:ext cx="1693080" cy="229320"/>
          </a:xfrm>
          <a:prstGeom prst="rect">
            <a:avLst/>
          </a:prstGeom>
          <a:noFill/>
          <a:ln w="0">
            <a:noFill/>
          </a:ln>
        </p:spPr>
        <p:txBody>
          <a:bodyPr lIns="90000" tIns="45000" rIns="90000" bIns="45000" anchor="t">
            <a:noAutofit/>
          </a:bodyPr>
          <a:lstStyle/>
          <a:p>
            <a:r>
              <a:rPr lang="en-US" sz="900" b="0" strike="noStrike" spc="-1">
                <a:solidFill>
                  <a:srgbClr val="1C2739"/>
                </a:solidFill>
                <a:latin typeface="Calibri"/>
                <a:ea typeface="Calibri"/>
              </a:rPr>
              <a:t>EXP2 — lr=1e-3, bs=32</a:t>
            </a:r>
            <a:endParaRPr lang="en-US" sz="900" b="0" strike="noStrike" spc="-1">
              <a:solidFill>
                <a:srgbClr val="000000"/>
              </a:solidFill>
              <a:latin typeface="Arial"/>
            </a:endParaRPr>
          </a:p>
        </p:txBody>
      </p:sp>
      <p:sp>
        <p:nvSpPr>
          <p:cNvPr id="350" name="TextBox 349"/>
          <p:cNvSpPr txBox="1"/>
          <p:nvPr/>
        </p:nvSpPr>
        <p:spPr>
          <a:xfrm>
            <a:off x="6811560" y="3712320"/>
            <a:ext cx="732960" cy="224640"/>
          </a:xfrm>
          <a:prstGeom prst="rect">
            <a:avLst/>
          </a:prstGeom>
          <a:noFill/>
          <a:ln w="0">
            <a:noFill/>
          </a:ln>
        </p:spPr>
        <p:txBody>
          <a:bodyPr lIns="90000" tIns="45000" rIns="90000" bIns="45000" anchor="t">
            <a:noAutofit/>
          </a:bodyPr>
          <a:lstStyle/>
          <a:p>
            <a:r>
              <a:rPr lang="en-US" sz="900" b="1" strike="noStrike" spc="-1">
                <a:solidFill>
                  <a:srgbClr val="62728B"/>
                </a:solidFill>
                <a:latin typeface="Calibri-Bold"/>
                <a:ea typeface="Calibri-Bold"/>
              </a:rPr>
              <a:t>83.73%</a:t>
            </a:r>
            <a:endParaRPr lang="en-US" sz="900" b="0" strike="noStrike" spc="-1">
              <a:solidFill>
                <a:srgbClr val="000000"/>
              </a:solidFill>
              <a:latin typeface="Arial"/>
            </a:endParaRPr>
          </a:p>
        </p:txBody>
      </p:sp>
      <p:sp>
        <p:nvSpPr>
          <p:cNvPr id="351" name="TextBox 350"/>
          <p:cNvSpPr txBox="1"/>
          <p:nvPr/>
        </p:nvSpPr>
        <p:spPr>
          <a:xfrm>
            <a:off x="7680240" y="3712320"/>
            <a:ext cx="732960" cy="229320"/>
          </a:xfrm>
          <a:prstGeom prst="rect">
            <a:avLst/>
          </a:prstGeom>
          <a:noFill/>
          <a:ln w="0">
            <a:noFill/>
          </a:ln>
        </p:spPr>
        <p:txBody>
          <a:bodyPr lIns="90000" tIns="45000" rIns="90000" bIns="45000" anchor="t">
            <a:noAutofit/>
          </a:bodyPr>
          <a:lstStyle/>
          <a:p>
            <a:r>
              <a:rPr lang="en-US" sz="900" b="0" strike="noStrike" spc="-1">
                <a:solidFill>
                  <a:srgbClr val="62728B"/>
                </a:solidFill>
                <a:latin typeface="Calibri"/>
                <a:ea typeface="Calibri"/>
              </a:rPr>
              <a:t>same lr</a:t>
            </a:r>
            <a:endParaRPr lang="en-US" sz="900" b="0" strike="noStrike" spc="-1">
              <a:solidFill>
                <a:srgbClr val="000000"/>
              </a:solidFill>
              <a:latin typeface="Arial"/>
            </a:endParaRPr>
          </a:p>
        </p:txBody>
      </p:sp>
      <p:sp>
        <p:nvSpPr>
          <p:cNvPr id="352" name="Freeform 351"/>
          <p:cNvSpPr/>
          <p:nvPr/>
        </p:nvSpPr>
        <p:spPr>
          <a:xfrm>
            <a:off x="4827960" y="4005000"/>
            <a:ext cx="3786480" cy="302400"/>
          </a:xfrm>
          <a:custGeom>
            <a:avLst/>
            <a:gdLst/>
            <a:ahLst/>
            <a:cxnLst/>
            <a:rect l="0" t="0" r="r" b="b"/>
            <a:pathLst>
              <a:path w="10518" h="840">
                <a:moveTo>
                  <a:pt x="0" y="0"/>
                </a:moveTo>
                <a:lnTo>
                  <a:pt x="10518" y="0"/>
                </a:lnTo>
                <a:lnTo>
                  <a:pt x="10518"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353" name="TextBox 352"/>
          <p:cNvSpPr txBox="1"/>
          <p:nvPr/>
        </p:nvSpPr>
        <p:spPr>
          <a:xfrm>
            <a:off x="4937040" y="4050720"/>
            <a:ext cx="1693080" cy="229320"/>
          </a:xfrm>
          <a:prstGeom prst="rect">
            <a:avLst/>
          </a:prstGeom>
          <a:noFill/>
          <a:ln w="0">
            <a:noFill/>
          </a:ln>
        </p:spPr>
        <p:txBody>
          <a:bodyPr lIns="90000" tIns="45000" rIns="90000" bIns="45000" anchor="t">
            <a:noAutofit/>
          </a:bodyPr>
          <a:lstStyle/>
          <a:p>
            <a:r>
              <a:rPr lang="en-US" sz="900" b="0" strike="noStrike" spc="-1">
                <a:solidFill>
                  <a:srgbClr val="1C2739"/>
                </a:solidFill>
                <a:latin typeface="Calibri"/>
                <a:ea typeface="Calibri"/>
              </a:rPr>
              <a:t>EXP3 — lr=5e-4, bs=16</a:t>
            </a:r>
            <a:endParaRPr lang="en-US" sz="900" b="0" strike="noStrike" spc="-1">
              <a:solidFill>
                <a:srgbClr val="000000"/>
              </a:solidFill>
              <a:latin typeface="Arial"/>
            </a:endParaRPr>
          </a:p>
        </p:txBody>
      </p:sp>
      <p:sp>
        <p:nvSpPr>
          <p:cNvPr id="354" name="TextBox 353"/>
          <p:cNvSpPr txBox="1"/>
          <p:nvPr/>
        </p:nvSpPr>
        <p:spPr>
          <a:xfrm>
            <a:off x="6811560" y="4050720"/>
            <a:ext cx="732960" cy="224640"/>
          </a:xfrm>
          <a:prstGeom prst="rect">
            <a:avLst/>
          </a:prstGeom>
          <a:noFill/>
          <a:ln w="0">
            <a:noFill/>
          </a:ln>
        </p:spPr>
        <p:txBody>
          <a:bodyPr lIns="90000" tIns="45000" rIns="90000" bIns="45000" anchor="t">
            <a:noAutofit/>
          </a:bodyPr>
          <a:lstStyle/>
          <a:p>
            <a:r>
              <a:rPr lang="en-US" sz="900" b="1" strike="noStrike" spc="-1">
                <a:solidFill>
                  <a:srgbClr val="525252"/>
                </a:solidFill>
                <a:latin typeface="Calibri-Bold"/>
                <a:ea typeface="Calibri-Bold"/>
              </a:rPr>
              <a:t>84.44%</a:t>
            </a:r>
            <a:endParaRPr lang="en-US" sz="900" b="0" strike="noStrike" spc="-1">
              <a:solidFill>
                <a:srgbClr val="000000"/>
              </a:solidFill>
              <a:latin typeface="Arial"/>
            </a:endParaRPr>
          </a:p>
        </p:txBody>
      </p:sp>
      <p:sp>
        <p:nvSpPr>
          <p:cNvPr id="355" name="TextBox 354"/>
          <p:cNvSpPr txBox="1"/>
          <p:nvPr/>
        </p:nvSpPr>
        <p:spPr>
          <a:xfrm>
            <a:off x="7680240" y="4050720"/>
            <a:ext cx="732960" cy="229320"/>
          </a:xfrm>
          <a:prstGeom prst="rect">
            <a:avLst/>
          </a:prstGeom>
          <a:noFill/>
          <a:ln w="0">
            <a:noFill/>
          </a:ln>
        </p:spPr>
        <p:txBody>
          <a:bodyPr lIns="90000" tIns="45000" rIns="90000" bIns="45000" anchor="t">
            <a:noAutofit/>
          </a:bodyPr>
          <a:lstStyle/>
          <a:p>
            <a:r>
              <a:rPr lang="en-US" sz="900" b="0" strike="noStrike" spc="-1">
                <a:solidFill>
                  <a:srgbClr val="62728B"/>
                </a:solidFill>
                <a:latin typeface="Calibri"/>
                <a:ea typeface="Calibri"/>
              </a:rPr>
              <a:t>lr</a:t>
            </a:r>
            <a:r>
              <a:rPr lang="nl-NL" sz="900" b="0" strike="noStrike" spc="-1">
                <a:solidFill>
                  <a:srgbClr val="62728B"/>
                </a:solidFill>
                <a:latin typeface="Calibri"/>
                <a:ea typeface="Calibri"/>
              </a:rPr>
              <a:t> too low</a:t>
            </a:r>
            <a:endParaRPr lang="en-US" sz="900" b="0" strike="noStrike" spc="-1">
              <a:solidFill>
                <a:srgbClr val="000000"/>
              </a:solidFill>
              <a:latin typeface="Arial"/>
            </a:endParaRPr>
          </a:p>
        </p:txBody>
      </p:sp>
      <p:sp>
        <p:nvSpPr>
          <p:cNvPr id="356" name="Freeform 355"/>
          <p:cNvSpPr/>
          <p:nvPr/>
        </p:nvSpPr>
        <p:spPr>
          <a:xfrm>
            <a:off x="4827960" y="4343400"/>
            <a:ext cx="3786480" cy="302400"/>
          </a:xfrm>
          <a:custGeom>
            <a:avLst/>
            <a:gdLst/>
            <a:ahLst/>
            <a:cxnLst/>
            <a:rect l="0" t="0" r="r" b="b"/>
            <a:pathLst>
              <a:path w="10518" h="840">
                <a:moveTo>
                  <a:pt x="0" y="0"/>
                </a:moveTo>
                <a:lnTo>
                  <a:pt x="10518" y="0"/>
                </a:lnTo>
                <a:lnTo>
                  <a:pt x="10518"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357" name="TextBox 356"/>
          <p:cNvSpPr txBox="1"/>
          <p:nvPr/>
        </p:nvSpPr>
        <p:spPr>
          <a:xfrm>
            <a:off x="4937040" y="4389120"/>
            <a:ext cx="1693080" cy="229320"/>
          </a:xfrm>
          <a:prstGeom prst="rect">
            <a:avLst/>
          </a:prstGeom>
          <a:noFill/>
          <a:ln w="0">
            <a:noFill/>
          </a:ln>
        </p:spPr>
        <p:txBody>
          <a:bodyPr lIns="90000" tIns="45000" rIns="90000" bIns="45000" anchor="t">
            <a:noAutofit/>
          </a:bodyPr>
          <a:lstStyle/>
          <a:p>
            <a:r>
              <a:rPr lang="en-US" sz="900" b="0" strike="noStrike" spc="-1">
                <a:solidFill>
                  <a:srgbClr val="1C2739"/>
                </a:solidFill>
                <a:latin typeface="Calibri"/>
                <a:ea typeface="Calibri"/>
              </a:rPr>
              <a:t>EXP4 — layer3+4+fc</a:t>
            </a:r>
            <a:endParaRPr lang="en-US" sz="900" b="0" strike="noStrike" spc="-1">
              <a:solidFill>
                <a:srgbClr val="000000"/>
              </a:solidFill>
              <a:latin typeface="Arial"/>
            </a:endParaRPr>
          </a:p>
        </p:txBody>
      </p:sp>
      <p:sp>
        <p:nvSpPr>
          <p:cNvPr id="358" name="TextBox 357"/>
          <p:cNvSpPr txBox="1"/>
          <p:nvPr/>
        </p:nvSpPr>
        <p:spPr>
          <a:xfrm>
            <a:off x="6811560" y="4389120"/>
            <a:ext cx="732960" cy="224640"/>
          </a:xfrm>
          <a:prstGeom prst="rect">
            <a:avLst/>
          </a:prstGeom>
          <a:noFill/>
          <a:ln w="0">
            <a:noFill/>
          </a:ln>
        </p:spPr>
        <p:txBody>
          <a:bodyPr lIns="90000" tIns="45000" rIns="90000" bIns="45000" anchor="t">
            <a:noAutofit/>
          </a:bodyPr>
          <a:lstStyle/>
          <a:p>
            <a:r>
              <a:rPr lang="en-US" sz="900" b="1" strike="noStrike" spc="-1">
                <a:solidFill>
                  <a:srgbClr val="D97504"/>
                </a:solidFill>
                <a:latin typeface="Calibri-Bold"/>
                <a:ea typeface="Calibri-Bold"/>
              </a:rPr>
              <a:t>82.72%</a:t>
            </a:r>
            <a:endParaRPr lang="en-US" sz="900" b="0" strike="noStrike" spc="-1">
              <a:solidFill>
                <a:srgbClr val="000000"/>
              </a:solidFill>
              <a:latin typeface="Arial"/>
            </a:endParaRPr>
          </a:p>
        </p:txBody>
      </p:sp>
      <p:sp>
        <p:nvSpPr>
          <p:cNvPr id="359" name="TextBox 358"/>
          <p:cNvSpPr txBox="1"/>
          <p:nvPr/>
        </p:nvSpPr>
        <p:spPr>
          <a:xfrm>
            <a:off x="7680240" y="4389120"/>
            <a:ext cx="732960" cy="229320"/>
          </a:xfrm>
          <a:prstGeom prst="rect">
            <a:avLst/>
          </a:prstGeom>
          <a:noFill/>
          <a:ln w="0">
            <a:noFill/>
          </a:ln>
        </p:spPr>
        <p:txBody>
          <a:bodyPr lIns="90000" tIns="45000" rIns="90000" bIns="45000" anchor="t">
            <a:noAutofit/>
          </a:bodyPr>
          <a:lstStyle/>
          <a:p>
            <a:r>
              <a:rPr lang="en-US" sz="900" b="0" strike="noStrike" spc="-1">
                <a:solidFill>
                  <a:srgbClr val="62728B"/>
                </a:solidFill>
                <a:latin typeface="Calibri"/>
                <a:ea typeface="Calibri"/>
              </a:rPr>
              <a:t>more layers</a:t>
            </a:r>
            <a:endParaRPr lang="en-US" sz="900" b="0" strike="noStrike" spc="-1">
              <a:solidFill>
                <a:srgbClr val="000000"/>
              </a:solidFill>
              <a:latin typeface="Arial"/>
            </a:endParaRPr>
          </a:p>
        </p:txBody>
      </p:sp>
      <p:sp>
        <p:nvSpPr>
          <p:cNvPr id="360" name="Freeform 359"/>
          <p:cNvSpPr/>
          <p:nvPr/>
        </p:nvSpPr>
        <p:spPr>
          <a:xfrm>
            <a:off x="365760" y="4709160"/>
            <a:ext cx="8413200" cy="293400"/>
          </a:xfrm>
          <a:custGeom>
            <a:avLst/>
            <a:gdLst/>
            <a:ahLst/>
            <a:cxnLst/>
            <a:rect l="0" t="0" r="r" b="b"/>
            <a:pathLst>
              <a:path w="23370" h="815">
                <a:moveTo>
                  <a:pt x="0" y="0"/>
                </a:moveTo>
                <a:lnTo>
                  <a:pt x="23370" y="0"/>
                </a:lnTo>
                <a:lnTo>
                  <a:pt x="23370" y="815"/>
                </a:lnTo>
                <a:lnTo>
                  <a:pt x="0" y="815"/>
                </a:lnTo>
                <a:lnTo>
                  <a:pt x="0" y="0"/>
                </a:lnTo>
                <a:close/>
              </a:path>
            </a:pathLst>
          </a:custGeom>
          <a:solidFill>
            <a:srgbClr val="EDE9FE"/>
          </a:solidFill>
          <a:ln w="12600">
            <a:solidFill>
              <a:srgbClr val="7A38ED"/>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361" name="TextBox 360"/>
          <p:cNvSpPr txBox="1"/>
          <p:nvPr/>
        </p:nvSpPr>
        <p:spPr>
          <a:xfrm>
            <a:off x="547920" y="4709160"/>
            <a:ext cx="8048160" cy="386280"/>
          </a:xfrm>
          <a:prstGeom prst="rect">
            <a:avLst/>
          </a:prstGeom>
          <a:noFill/>
          <a:ln w="0">
            <a:noFill/>
          </a:ln>
        </p:spPr>
        <p:txBody>
          <a:bodyPr lIns="90000" tIns="45000" rIns="90000" bIns="45000" anchor="t">
            <a:noAutofit/>
          </a:bodyPr>
          <a:lstStyle/>
          <a:p>
            <a:r>
              <a:rPr lang="en-US" sz="1000" b="1" strike="noStrike" spc="-1">
                <a:solidFill>
                  <a:srgbClr val="7A38ED"/>
                </a:solidFill>
                <a:latin typeface="Calibri-Bold"/>
                <a:ea typeface="Calibri-Bold"/>
              </a:rPr>
              <a:t>🔑  Reducing lr from 1e-3 to 1e-4 was the single biggest gain. Layer4+fc strategy best balances accuracy and stability.</a:t>
            </a:r>
            <a:endParaRPr lang="en-US" sz="1000" b="0" strike="noStrike" spc="-1">
              <a:solidFill>
                <a:srgbClr val="00000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62" name="Freeform 361"/>
          <p:cNvSpPr/>
          <p:nvPr/>
        </p:nvSpPr>
        <p:spPr>
          <a:xfrm>
            <a:off x="0" y="0"/>
            <a:ext cx="9144720" cy="55440"/>
          </a:xfrm>
          <a:custGeom>
            <a:avLst/>
            <a:gdLst/>
            <a:ahLst/>
            <a:cxnLst/>
            <a:rect l="0" t="0" r="r" b="b"/>
            <a:pathLst>
              <a:path w="25402" h="154">
                <a:moveTo>
                  <a:pt x="0" y="0"/>
                </a:moveTo>
                <a:lnTo>
                  <a:pt x="25402" y="0"/>
                </a:lnTo>
                <a:lnTo>
                  <a:pt x="25402" y="154"/>
                </a:lnTo>
                <a:lnTo>
                  <a:pt x="0" y="154"/>
                </a:lnTo>
                <a:lnTo>
                  <a:pt x="0" y="0"/>
                </a:lnTo>
                <a:close/>
              </a:path>
            </a:pathLst>
          </a:custGeom>
          <a:solidFill>
            <a:srgbClr val="2361EB"/>
          </a:solidFill>
          <a:ln w="12600">
            <a:solidFill>
              <a:srgbClr val="2361EB"/>
            </a:solidFill>
            <a:round/>
          </a:ln>
        </p:spPr>
        <p:txBody>
          <a:bodyPr lIns="96120" tIns="4320" rIns="96120" bIns="4320" anchor="t">
            <a:noAutofit/>
          </a:bodyPr>
          <a:lstStyle/>
          <a:p>
            <a:endParaRPr lang="en-US" sz="1800" b="0" strike="noStrike" spc="-1">
              <a:solidFill>
                <a:srgbClr val="FFFFFF"/>
              </a:solidFill>
              <a:latin typeface="Arial"/>
            </a:endParaRPr>
          </a:p>
        </p:txBody>
      </p:sp>
      <p:sp>
        <p:nvSpPr>
          <p:cNvPr id="363" name="TextBox 362"/>
          <p:cNvSpPr txBox="1"/>
          <p:nvPr/>
        </p:nvSpPr>
        <p:spPr>
          <a:xfrm>
            <a:off x="502200" y="164520"/>
            <a:ext cx="8139600" cy="502920"/>
          </a:xfrm>
          <a:prstGeom prst="rect">
            <a:avLst/>
          </a:prstGeom>
          <a:noFill/>
          <a:ln w="0">
            <a:noFill/>
          </a:ln>
        </p:spPr>
        <p:txBody>
          <a:bodyPr lIns="90000" tIns="45000" rIns="90000" bIns="45000" anchor="t">
            <a:noAutofit/>
          </a:bodyPr>
          <a:lstStyle/>
          <a:p>
            <a:r>
              <a:rPr lang="en-US" sz="2600" b="1" strike="noStrike" spc="-1">
                <a:solidFill>
                  <a:srgbClr val="182C48"/>
                </a:solidFill>
                <a:latin typeface="Calibri-Bold"/>
                <a:ea typeface="Calibri-Bold"/>
              </a:rPr>
              <a:t>ConvNeXt-Tiny — Architecture</a:t>
            </a:r>
            <a:endParaRPr lang="en-US" sz="2600" b="0" strike="noStrike" spc="-1">
              <a:solidFill>
                <a:srgbClr val="000000"/>
              </a:solidFill>
              <a:latin typeface="Arial"/>
            </a:endParaRPr>
          </a:p>
        </p:txBody>
      </p:sp>
      <p:sp>
        <p:nvSpPr>
          <p:cNvPr id="364" name="TextBox 363"/>
          <p:cNvSpPr txBox="1"/>
          <p:nvPr/>
        </p:nvSpPr>
        <p:spPr>
          <a:xfrm>
            <a:off x="502200" y="658440"/>
            <a:ext cx="8139600" cy="292680"/>
          </a:xfrm>
          <a:prstGeom prst="rect">
            <a:avLst/>
          </a:prstGeom>
          <a:noFill/>
          <a:ln w="0">
            <a:noFill/>
          </a:ln>
        </p:spPr>
        <p:txBody>
          <a:bodyPr lIns="90000" tIns="45000" rIns="90000" bIns="45000" anchor="t">
            <a:noAutofit/>
          </a:bodyPr>
          <a:lstStyle/>
          <a:p>
            <a:r>
              <a:rPr lang="en-US" sz="1200" b="0" i="1" strike="noStrike" spc="-1">
                <a:solidFill>
                  <a:srgbClr val="62728B"/>
                </a:solidFill>
                <a:latin typeface="Calibri-Italic"/>
                <a:ea typeface="Calibri-Italic"/>
              </a:rPr>
              <a:t>Pre-trained on ImageNet-1k — fine-tuned on Oxford Pet</a:t>
            </a:r>
            <a:endParaRPr lang="en-US" sz="1200" b="0" strike="noStrike" spc="-1">
              <a:solidFill>
                <a:srgbClr val="000000"/>
              </a:solidFill>
              <a:latin typeface="Arial"/>
            </a:endParaRPr>
          </a:p>
        </p:txBody>
      </p:sp>
      <p:sp>
        <p:nvSpPr>
          <p:cNvPr id="365" name="Straight Connector 364"/>
          <p:cNvSpPr/>
          <p:nvPr/>
        </p:nvSpPr>
        <p:spPr>
          <a:xfrm>
            <a:off x="457200" y="960120"/>
            <a:ext cx="8229600" cy="0"/>
          </a:xfrm>
          <a:prstGeom prst="line">
            <a:avLst/>
          </a:prstGeom>
          <a:ln w="12600">
            <a:solidFill>
              <a:srgbClr val="E2E8F0"/>
            </a:solidFill>
            <a:round/>
          </a:ln>
        </p:spPr>
        <p:style>
          <a:lnRef idx="0">
            <a:scrgbClr r="0" g="0" b="0"/>
          </a:lnRef>
          <a:fillRef idx="0">
            <a:scrgbClr r="0" g="0" b="0"/>
          </a:fillRef>
          <a:effectRef idx="0">
            <a:scrgbClr r="0" g="0" b="0"/>
          </a:effectRef>
          <a:fontRef idx="minor"/>
        </p:style>
        <p:txBody>
          <a:bodyPr lIns="96120" tIns="-51120" rIns="96120" bIns="-51120" anchor="t">
            <a:noAutofit/>
          </a:bodyPr>
          <a:lstStyle/>
          <a:p>
            <a:endParaRPr lang="en-US" sz="1800" b="0" strike="noStrike" spc="-1">
              <a:solidFill>
                <a:srgbClr val="000000"/>
              </a:solidFill>
              <a:latin typeface="Arial"/>
            </a:endParaRPr>
          </a:p>
        </p:txBody>
      </p:sp>
      <p:sp>
        <p:nvSpPr>
          <p:cNvPr id="366" name="Freeform 365"/>
          <p:cNvSpPr/>
          <p:nvPr/>
        </p:nvSpPr>
        <p:spPr>
          <a:xfrm>
            <a:off x="274320" y="1097280"/>
            <a:ext cx="1280880" cy="823680"/>
          </a:xfrm>
          <a:custGeom>
            <a:avLst/>
            <a:gdLst/>
            <a:ahLst/>
            <a:cxnLst/>
            <a:rect l="0" t="0" r="r" b="b"/>
            <a:pathLst>
              <a:path w="3558" h="2288">
                <a:moveTo>
                  <a:pt x="0" y="0"/>
                </a:moveTo>
                <a:lnTo>
                  <a:pt x="3558" y="0"/>
                </a:lnTo>
                <a:lnTo>
                  <a:pt x="3558" y="2288"/>
                </a:lnTo>
                <a:lnTo>
                  <a:pt x="0" y="2288"/>
                </a:lnTo>
                <a:lnTo>
                  <a:pt x="0" y="0"/>
                </a:lnTo>
                <a:close/>
              </a:path>
            </a:pathLst>
          </a:custGeom>
          <a:solidFill>
            <a:srgbClr val="62728B"/>
          </a:solidFill>
          <a:ln w="12600">
            <a:solidFill>
              <a:srgbClr val="62728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367" name="TextBox 366"/>
          <p:cNvSpPr txBox="1"/>
          <p:nvPr/>
        </p:nvSpPr>
        <p:spPr>
          <a:xfrm>
            <a:off x="356040" y="1097280"/>
            <a:ext cx="1117080" cy="822960"/>
          </a:xfrm>
          <a:prstGeom prst="rect">
            <a:avLst/>
          </a:prstGeom>
          <a:noFill/>
          <a:ln w="0">
            <a:noFill/>
          </a:ln>
        </p:spPr>
        <p:txBody>
          <a:bodyPr lIns="90000" tIns="45000" rIns="90000" bIns="45000" anchor="t">
            <a:noAutofit/>
          </a:bodyPr>
          <a:lstStyle/>
          <a:p>
            <a:pPr algn="ctr"/>
            <a:r>
              <a:rPr lang="en-US" sz="900" b="1" strike="noStrike" spc="-1">
                <a:solidFill>
                  <a:srgbClr val="FFFFFF"/>
                </a:solidFill>
                <a:latin typeface="Calibri-Bold"/>
                <a:ea typeface="Calibri-Bold"/>
              </a:rPr>
              <a:t>Input</a:t>
            </a:r>
            <a:endParaRPr lang="en-US" sz="900" b="0" strike="noStrike" spc="-1">
              <a:solidFill>
                <a:srgbClr val="000000"/>
              </a:solidFill>
              <a:latin typeface="Arial"/>
            </a:endParaRPr>
          </a:p>
          <a:p>
            <a:pPr algn="ctr"/>
            <a:r>
              <a:rPr lang="en-US" sz="900" b="1" strike="noStrike" spc="-1">
                <a:solidFill>
                  <a:srgbClr val="FFFFFF"/>
                </a:solidFill>
                <a:latin typeface="Calibri-Bold"/>
                <a:ea typeface="Calibri-Bold"/>
              </a:rPr>
              <a:t>256×256</a:t>
            </a:r>
            <a:endParaRPr lang="en-US" sz="900" b="0" strike="noStrike" spc="-1">
              <a:solidFill>
                <a:srgbClr val="000000"/>
              </a:solidFill>
              <a:latin typeface="Arial"/>
            </a:endParaRPr>
          </a:p>
        </p:txBody>
      </p:sp>
      <p:sp>
        <p:nvSpPr>
          <p:cNvPr id="368" name="Straight Connector 367"/>
          <p:cNvSpPr/>
          <p:nvPr/>
        </p:nvSpPr>
        <p:spPr>
          <a:xfrm>
            <a:off x="1554480" y="1508760"/>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369" name="Freeform 368"/>
          <p:cNvSpPr/>
          <p:nvPr/>
        </p:nvSpPr>
        <p:spPr>
          <a:xfrm>
            <a:off x="1710000" y="1097280"/>
            <a:ext cx="1280880" cy="823680"/>
          </a:xfrm>
          <a:custGeom>
            <a:avLst/>
            <a:gdLst/>
            <a:ahLst/>
            <a:cxnLst/>
            <a:rect l="0" t="0" r="r" b="b"/>
            <a:pathLst>
              <a:path w="3558" h="2288">
                <a:moveTo>
                  <a:pt x="0" y="0"/>
                </a:moveTo>
                <a:lnTo>
                  <a:pt x="3558" y="0"/>
                </a:lnTo>
                <a:lnTo>
                  <a:pt x="3558" y="2288"/>
                </a:lnTo>
                <a:lnTo>
                  <a:pt x="0" y="2288"/>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370" name="TextBox 369"/>
          <p:cNvSpPr txBox="1"/>
          <p:nvPr/>
        </p:nvSpPr>
        <p:spPr>
          <a:xfrm>
            <a:off x="1791360" y="1097280"/>
            <a:ext cx="1117080" cy="822960"/>
          </a:xfrm>
          <a:prstGeom prst="rect">
            <a:avLst/>
          </a:prstGeom>
          <a:noFill/>
          <a:ln w="0">
            <a:noFill/>
          </a:ln>
        </p:spPr>
        <p:txBody>
          <a:bodyPr lIns="90000" tIns="45000" rIns="90000" bIns="45000" anchor="t">
            <a:noAutofit/>
          </a:bodyPr>
          <a:lstStyle/>
          <a:p>
            <a:pPr algn="ctr"/>
            <a:r>
              <a:rPr lang="en-US" sz="900" b="1" strike="noStrike" spc="-1">
                <a:solidFill>
                  <a:srgbClr val="FFFFFF"/>
                </a:solidFill>
                <a:latin typeface="Calibri-Bold"/>
                <a:ea typeface="Calibri-Bold"/>
              </a:rPr>
              <a:t>Stages 1–3</a:t>
            </a:r>
            <a:endParaRPr lang="en-US" sz="900" b="0" strike="noStrike" spc="-1">
              <a:solidFill>
                <a:srgbClr val="000000"/>
              </a:solidFill>
              <a:latin typeface="Arial"/>
            </a:endParaRPr>
          </a:p>
          <a:p>
            <a:pPr algn="ctr"/>
            <a:r>
              <a:rPr lang="en-US" sz="900" b="1" strike="noStrike" spc="-1">
                <a:solidFill>
                  <a:srgbClr val="FFFFFF"/>
                </a:solidFill>
                <a:latin typeface="Calibri-Bold"/>
                <a:ea typeface="Calibri-Bold"/>
              </a:rPr>
              <a:t>frozen</a:t>
            </a:r>
            <a:endParaRPr lang="en-US" sz="900" b="0" strike="noStrike" spc="-1">
              <a:solidFill>
                <a:srgbClr val="000000"/>
              </a:solidFill>
              <a:latin typeface="Arial"/>
            </a:endParaRPr>
          </a:p>
        </p:txBody>
      </p:sp>
      <p:sp>
        <p:nvSpPr>
          <p:cNvPr id="371" name="Straight Connector 370"/>
          <p:cNvSpPr/>
          <p:nvPr/>
        </p:nvSpPr>
        <p:spPr>
          <a:xfrm>
            <a:off x="2990160" y="1508760"/>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372" name="Freeform 371"/>
          <p:cNvSpPr/>
          <p:nvPr/>
        </p:nvSpPr>
        <p:spPr>
          <a:xfrm>
            <a:off x="3145680" y="1097280"/>
            <a:ext cx="1280880" cy="823680"/>
          </a:xfrm>
          <a:custGeom>
            <a:avLst/>
            <a:gdLst/>
            <a:ahLst/>
            <a:cxnLst/>
            <a:rect l="0" t="0" r="r" b="b"/>
            <a:pathLst>
              <a:path w="3558" h="2288">
                <a:moveTo>
                  <a:pt x="0" y="0"/>
                </a:moveTo>
                <a:lnTo>
                  <a:pt x="3558" y="0"/>
                </a:lnTo>
                <a:lnTo>
                  <a:pt x="3558" y="2288"/>
                </a:lnTo>
                <a:lnTo>
                  <a:pt x="0" y="2288"/>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373" name="TextBox 372"/>
          <p:cNvSpPr txBox="1"/>
          <p:nvPr/>
        </p:nvSpPr>
        <p:spPr>
          <a:xfrm>
            <a:off x="3227040" y="1097280"/>
            <a:ext cx="1117080" cy="822960"/>
          </a:xfrm>
          <a:prstGeom prst="rect">
            <a:avLst/>
          </a:prstGeom>
          <a:noFill/>
          <a:ln w="0">
            <a:noFill/>
          </a:ln>
        </p:spPr>
        <p:txBody>
          <a:bodyPr lIns="90000" tIns="45000" rIns="90000" bIns="45000" anchor="t">
            <a:noAutofit/>
          </a:bodyPr>
          <a:lstStyle/>
          <a:p>
            <a:pPr algn="ctr"/>
            <a:r>
              <a:rPr lang="en-US" sz="900" b="1" strike="noStrike" spc="-1">
                <a:solidFill>
                  <a:srgbClr val="FFFFFF"/>
                </a:solidFill>
                <a:latin typeface="Calibri-Bold"/>
                <a:ea typeface="Calibri-Bold"/>
              </a:rPr>
              <a:t>Stage 4</a:t>
            </a:r>
            <a:endParaRPr lang="en-US" sz="900" b="0" strike="noStrike" spc="-1">
              <a:solidFill>
                <a:srgbClr val="000000"/>
              </a:solidFill>
              <a:latin typeface="Arial"/>
            </a:endParaRPr>
          </a:p>
          <a:p>
            <a:pPr algn="ctr"/>
            <a:r>
              <a:rPr lang="en-US" sz="900" b="1" strike="noStrike" spc="-1">
                <a:solidFill>
                  <a:srgbClr val="FFFFFF"/>
                </a:solidFill>
                <a:latin typeface="Calibri-Bold"/>
                <a:ea typeface="Calibri-Bold"/>
              </a:rPr>
              <a:t>frozen</a:t>
            </a:r>
            <a:endParaRPr lang="en-US" sz="900" b="0" strike="noStrike" spc="-1">
              <a:solidFill>
                <a:srgbClr val="000000"/>
              </a:solidFill>
              <a:latin typeface="Arial"/>
            </a:endParaRPr>
          </a:p>
        </p:txBody>
      </p:sp>
      <p:sp>
        <p:nvSpPr>
          <p:cNvPr id="374" name="Straight Connector 373"/>
          <p:cNvSpPr/>
          <p:nvPr/>
        </p:nvSpPr>
        <p:spPr>
          <a:xfrm>
            <a:off x="4425840" y="1508760"/>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375" name="Freeform 374"/>
          <p:cNvSpPr/>
          <p:nvPr/>
        </p:nvSpPr>
        <p:spPr>
          <a:xfrm>
            <a:off x="4581000" y="1097280"/>
            <a:ext cx="1280880" cy="823680"/>
          </a:xfrm>
          <a:custGeom>
            <a:avLst/>
            <a:gdLst/>
            <a:ahLst/>
            <a:cxnLst/>
            <a:rect l="0" t="0" r="r" b="b"/>
            <a:pathLst>
              <a:path w="3558" h="2288">
                <a:moveTo>
                  <a:pt x="0" y="0"/>
                </a:moveTo>
                <a:lnTo>
                  <a:pt x="3558" y="0"/>
                </a:lnTo>
                <a:lnTo>
                  <a:pt x="3558" y="2288"/>
                </a:lnTo>
                <a:lnTo>
                  <a:pt x="0" y="2288"/>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376" name="TextBox 375"/>
          <p:cNvSpPr txBox="1"/>
          <p:nvPr/>
        </p:nvSpPr>
        <p:spPr>
          <a:xfrm>
            <a:off x="4662720" y="1097280"/>
            <a:ext cx="1117080" cy="822960"/>
          </a:xfrm>
          <a:prstGeom prst="rect">
            <a:avLst/>
          </a:prstGeom>
          <a:noFill/>
          <a:ln w="0">
            <a:noFill/>
          </a:ln>
        </p:spPr>
        <p:txBody>
          <a:bodyPr lIns="90000" tIns="45000" rIns="90000" bIns="45000" anchor="t">
            <a:noAutofit/>
          </a:bodyPr>
          <a:lstStyle/>
          <a:p>
            <a:pPr algn="ctr"/>
            <a:r>
              <a:rPr lang="en-US" sz="900" b="1" strike="noStrike" spc="-1">
                <a:solidFill>
                  <a:srgbClr val="FFFFFF"/>
                </a:solidFill>
                <a:latin typeface="Calibri-Bold"/>
                <a:ea typeface="Calibri-Bold"/>
              </a:rPr>
              <a:t>Classifier</a:t>
            </a:r>
            <a:endParaRPr lang="en-US" sz="900" b="0" strike="noStrike" spc="-1">
              <a:solidFill>
                <a:srgbClr val="000000"/>
              </a:solidFill>
              <a:latin typeface="Arial"/>
            </a:endParaRPr>
          </a:p>
          <a:p>
            <a:pPr algn="ctr"/>
            <a:r>
              <a:rPr lang="en-US" sz="900" b="1" strike="noStrike" spc="-1">
                <a:solidFill>
                  <a:srgbClr val="FFFFFF"/>
                </a:solidFill>
                <a:latin typeface="Calibri-Bold"/>
                <a:ea typeface="Calibri-Bold"/>
              </a:rPr>
              <a:t>fine-tuned</a:t>
            </a:r>
            <a:endParaRPr lang="en-US" sz="900" b="0" strike="noStrike" spc="-1">
              <a:solidFill>
                <a:srgbClr val="000000"/>
              </a:solidFill>
              <a:latin typeface="Arial"/>
            </a:endParaRPr>
          </a:p>
        </p:txBody>
      </p:sp>
      <p:sp>
        <p:nvSpPr>
          <p:cNvPr id="377" name="Straight Connector 376"/>
          <p:cNvSpPr/>
          <p:nvPr/>
        </p:nvSpPr>
        <p:spPr>
          <a:xfrm>
            <a:off x="5861160" y="1508760"/>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378" name="Freeform 377"/>
          <p:cNvSpPr/>
          <p:nvPr/>
        </p:nvSpPr>
        <p:spPr>
          <a:xfrm>
            <a:off x="6016680" y="1097280"/>
            <a:ext cx="1280880" cy="823680"/>
          </a:xfrm>
          <a:custGeom>
            <a:avLst/>
            <a:gdLst/>
            <a:ahLst/>
            <a:cxnLst/>
            <a:rect l="0" t="0" r="r" b="b"/>
            <a:pathLst>
              <a:path w="3558" h="2288">
                <a:moveTo>
                  <a:pt x="0" y="0"/>
                </a:moveTo>
                <a:lnTo>
                  <a:pt x="3558" y="0"/>
                </a:lnTo>
                <a:lnTo>
                  <a:pt x="3558" y="2288"/>
                </a:lnTo>
                <a:lnTo>
                  <a:pt x="0" y="2288"/>
                </a:lnTo>
                <a:lnTo>
                  <a:pt x="0" y="0"/>
                </a:lnTo>
                <a:close/>
              </a:path>
            </a:pathLst>
          </a:custGeom>
          <a:solidFill>
            <a:srgbClr val="0691B2"/>
          </a:solidFill>
          <a:ln w="12600">
            <a:solidFill>
              <a:srgbClr val="0691B2"/>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379" name="TextBox 378"/>
          <p:cNvSpPr txBox="1"/>
          <p:nvPr/>
        </p:nvSpPr>
        <p:spPr>
          <a:xfrm>
            <a:off x="6098400" y="1097280"/>
            <a:ext cx="1117080" cy="822960"/>
          </a:xfrm>
          <a:prstGeom prst="rect">
            <a:avLst/>
          </a:prstGeom>
          <a:noFill/>
          <a:ln w="0">
            <a:noFill/>
          </a:ln>
        </p:spPr>
        <p:txBody>
          <a:bodyPr lIns="90000" tIns="45000" rIns="90000" bIns="45000" anchor="t">
            <a:noAutofit/>
          </a:bodyPr>
          <a:lstStyle/>
          <a:p>
            <a:pPr algn="ctr"/>
            <a:r>
              <a:rPr lang="en-US" sz="900" b="1" strike="noStrike" spc="-1">
                <a:solidFill>
                  <a:srgbClr val="FFFFFF"/>
                </a:solidFill>
                <a:latin typeface="Calibri-Bold"/>
                <a:ea typeface="Calibri-Bold"/>
              </a:rPr>
              <a:t>GAP</a:t>
            </a:r>
            <a:endParaRPr lang="en-US" sz="900" b="0" strike="noStrike" spc="-1">
              <a:solidFill>
                <a:srgbClr val="000000"/>
              </a:solidFill>
              <a:latin typeface="Arial"/>
            </a:endParaRPr>
          </a:p>
          <a:p>
            <a:pPr algn="ctr"/>
            <a:r>
              <a:rPr lang="en-US" sz="900" b="1" strike="noStrike" spc="-1">
                <a:solidFill>
                  <a:srgbClr val="FFFFFF"/>
                </a:solidFill>
                <a:latin typeface="Calibri-Bold"/>
                <a:ea typeface="Calibri-Bold"/>
              </a:rPr>
              <a:t>+LayerNorm</a:t>
            </a:r>
            <a:endParaRPr lang="en-US" sz="900" b="0" strike="noStrike" spc="-1">
              <a:solidFill>
                <a:srgbClr val="000000"/>
              </a:solidFill>
              <a:latin typeface="Arial"/>
            </a:endParaRPr>
          </a:p>
        </p:txBody>
      </p:sp>
      <p:sp>
        <p:nvSpPr>
          <p:cNvPr id="380" name="Straight Connector 379"/>
          <p:cNvSpPr/>
          <p:nvPr/>
        </p:nvSpPr>
        <p:spPr>
          <a:xfrm>
            <a:off x="7296840" y="1508760"/>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381" name="Freeform 380"/>
          <p:cNvSpPr/>
          <p:nvPr/>
        </p:nvSpPr>
        <p:spPr>
          <a:xfrm>
            <a:off x="7452360" y="1097280"/>
            <a:ext cx="1280880" cy="823680"/>
          </a:xfrm>
          <a:custGeom>
            <a:avLst/>
            <a:gdLst/>
            <a:ahLst/>
            <a:cxnLst/>
            <a:rect l="0" t="0" r="r" b="b"/>
            <a:pathLst>
              <a:path w="3558" h="2288">
                <a:moveTo>
                  <a:pt x="0" y="0"/>
                </a:moveTo>
                <a:lnTo>
                  <a:pt x="3558" y="0"/>
                </a:lnTo>
                <a:lnTo>
                  <a:pt x="3558" y="2288"/>
                </a:lnTo>
                <a:lnTo>
                  <a:pt x="0" y="2288"/>
                </a:lnTo>
                <a:lnTo>
                  <a:pt x="0" y="0"/>
                </a:lnTo>
                <a:close/>
              </a:path>
            </a:pathLst>
          </a:custGeom>
          <a:solidFill>
            <a:srgbClr val="039667"/>
          </a:solidFill>
          <a:ln w="12600">
            <a:solidFill>
              <a:srgbClr val="039667"/>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382" name="TextBox 381"/>
          <p:cNvSpPr txBox="1"/>
          <p:nvPr/>
        </p:nvSpPr>
        <p:spPr>
          <a:xfrm>
            <a:off x="7534080" y="1097280"/>
            <a:ext cx="1117080" cy="822960"/>
          </a:xfrm>
          <a:prstGeom prst="rect">
            <a:avLst/>
          </a:prstGeom>
          <a:noFill/>
          <a:ln w="0">
            <a:noFill/>
          </a:ln>
        </p:spPr>
        <p:txBody>
          <a:bodyPr lIns="90000" tIns="45000" rIns="90000" bIns="45000" anchor="t">
            <a:noAutofit/>
          </a:bodyPr>
          <a:lstStyle/>
          <a:p>
            <a:pPr algn="ctr"/>
            <a:r>
              <a:rPr lang="en-US" sz="900" b="1" strike="noStrike" spc="-1">
                <a:solidFill>
                  <a:srgbClr val="FFFFFF"/>
                </a:solidFill>
                <a:latin typeface="Calibri-Bold"/>
                <a:ea typeface="Calibri-Bold"/>
              </a:rPr>
              <a:t>FC</a:t>
            </a:r>
            <a:endParaRPr lang="en-US" sz="900" b="0" strike="noStrike" spc="-1">
              <a:solidFill>
                <a:srgbClr val="000000"/>
              </a:solidFill>
              <a:latin typeface="Arial"/>
            </a:endParaRPr>
          </a:p>
          <a:p>
            <a:pPr algn="ctr"/>
            <a:r>
              <a:rPr lang="en-US" sz="900" b="1" strike="noStrike" spc="-1">
                <a:solidFill>
                  <a:srgbClr val="FFFFFF"/>
                </a:solidFill>
                <a:latin typeface="Calibri-Bold"/>
                <a:ea typeface="Calibri-Bold"/>
              </a:rPr>
              <a:t>37 classes</a:t>
            </a:r>
            <a:endParaRPr lang="en-US" sz="900" b="0" strike="noStrike" spc="-1">
              <a:solidFill>
                <a:srgbClr val="000000"/>
              </a:solidFill>
              <a:latin typeface="Arial"/>
            </a:endParaRPr>
          </a:p>
        </p:txBody>
      </p:sp>
      <p:sp>
        <p:nvSpPr>
          <p:cNvPr id="383" name="Freeform 382"/>
          <p:cNvSpPr/>
          <p:nvPr/>
        </p:nvSpPr>
        <p:spPr>
          <a:xfrm>
            <a:off x="365760" y="2103120"/>
            <a:ext cx="4161240" cy="2698200"/>
          </a:xfrm>
          <a:custGeom>
            <a:avLst/>
            <a:gdLst/>
            <a:ahLst/>
            <a:cxnLst/>
            <a:rect l="0" t="0" r="r" b="b"/>
            <a:pathLst>
              <a:path w="11559" h="7495">
                <a:moveTo>
                  <a:pt x="0" y="0"/>
                </a:moveTo>
                <a:lnTo>
                  <a:pt x="11559" y="0"/>
                </a:lnTo>
                <a:lnTo>
                  <a:pt x="11559" y="7495"/>
                </a:lnTo>
                <a:lnTo>
                  <a:pt x="0" y="7495"/>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384" name="Freeform 383"/>
          <p:cNvSpPr/>
          <p:nvPr/>
        </p:nvSpPr>
        <p:spPr>
          <a:xfrm>
            <a:off x="365760" y="2103120"/>
            <a:ext cx="64800" cy="2698200"/>
          </a:xfrm>
          <a:custGeom>
            <a:avLst/>
            <a:gdLst/>
            <a:ahLst/>
            <a:cxnLst/>
            <a:rect l="0" t="0" r="r" b="b"/>
            <a:pathLst>
              <a:path w="180" h="7495">
                <a:moveTo>
                  <a:pt x="0" y="0"/>
                </a:moveTo>
                <a:lnTo>
                  <a:pt x="180" y="0"/>
                </a:lnTo>
                <a:lnTo>
                  <a:pt x="180" y="7495"/>
                </a:lnTo>
                <a:lnTo>
                  <a:pt x="0" y="7495"/>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385" name="TextBox 384"/>
          <p:cNvSpPr txBox="1"/>
          <p:nvPr/>
        </p:nvSpPr>
        <p:spPr>
          <a:xfrm>
            <a:off x="593640" y="2212920"/>
            <a:ext cx="3750480" cy="301680"/>
          </a:xfrm>
          <a:prstGeom prst="rect">
            <a:avLst/>
          </a:prstGeom>
          <a:noFill/>
          <a:ln w="0">
            <a:noFill/>
          </a:ln>
        </p:spPr>
        <p:txBody>
          <a:bodyPr lIns="90000" tIns="45000" rIns="90000" bIns="45000" anchor="t">
            <a:noAutofit/>
          </a:bodyPr>
          <a:lstStyle/>
          <a:p>
            <a:r>
              <a:rPr lang="en-US" sz="1300" b="1" strike="noStrike" spc="-1">
                <a:solidFill>
                  <a:srgbClr val="182C48"/>
                </a:solidFill>
                <a:latin typeface="Calibri-Bold"/>
                <a:ea typeface="Calibri-Bold"/>
              </a:rPr>
              <a:t>Training Configuration</a:t>
            </a:r>
            <a:endParaRPr lang="en-US" sz="1300" b="0" strike="noStrike" spc="-1">
              <a:solidFill>
                <a:srgbClr val="000000"/>
              </a:solidFill>
              <a:latin typeface="Arial"/>
            </a:endParaRPr>
          </a:p>
        </p:txBody>
      </p:sp>
      <p:sp>
        <p:nvSpPr>
          <p:cNvPr id="386" name="Freeform 385"/>
          <p:cNvSpPr/>
          <p:nvPr/>
        </p:nvSpPr>
        <p:spPr>
          <a:xfrm>
            <a:off x="502920" y="2624400"/>
            <a:ext cx="3886920" cy="302400"/>
          </a:xfrm>
          <a:custGeom>
            <a:avLst/>
            <a:gdLst/>
            <a:ahLst/>
            <a:cxnLst/>
            <a:rect l="0" t="0" r="r" b="b"/>
            <a:pathLst>
              <a:path w="10797" h="840">
                <a:moveTo>
                  <a:pt x="0" y="0"/>
                </a:moveTo>
                <a:lnTo>
                  <a:pt x="10797" y="0"/>
                </a:lnTo>
                <a:lnTo>
                  <a:pt x="10797"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387" name="TextBox 386"/>
          <p:cNvSpPr txBox="1"/>
          <p:nvPr/>
        </p:nvSpPr>
        <p:spPr>
          <a:xfrm>
            <a:off x="639360" y="2670120"/>
            <a:ext cx="1007280" cy="238320"/>
          </a:xfrm>
          <a:prstGeom prst="rect">
            <a:avLst/>
          </a:prstGeom>
          <a:noFill/>
          <a:ln w="0">
            <a:noFill/>
          </a:ln>
        </p:spPr>
        <p:txBody>
          <a:bodyPr lIns="90000" tIns="45000" rIns="90000" bIns="45000" anchor="t">
            <a:noAutofit/>
          </a:bodyPr>
          <a:lstStyle/>
          <a:p>
            <a:r>
              <a:rPr lang="en-US" sz="1000" b="1" strike="noStrike" spc="-1">
                <a:solidFill>
                  <a:srgbClr val="2361EB"/>
                </a:solidFill>
                <a:latin typeface="Calibri-Bold"/>
                <a:ea typeface="Calibri-Bold"/>
              </a:rPr>
              <a:t>Optimizer</a:t>
            </a:r>
            <a:endParaRPr lang="en-US" sz="1000" b="0" strike="noStrike" spc="-1">
              <a:solidFill>
                <a:srgbClr val="000000"/>
              </a:solidFill>
              <a:latin typeface="Arial"/>
            </a:endParaRPr>
          </a:p>
        </p:txBody>
      </p:sp>
      <p:sp>
        <p:nvSpPr>
          <p:cNvPr id="388" name="TextBox 387"/>
          <p:cNvSpPr txBox="1"/>
          <p:nvPr/>
        </p:nvSpPr>
        <p:spPr>
          <a:xfrm>
            <a:off x="1828080" y="2670120"/>
            <a:ext cx="2109960" cy="398520"/>
          </a:xfrm>
          <a:prstGeom prst="rect">
            <a:avLst/>
          </a:prstGeom>
          <a:noFill/>
          <a:ln w="0">
            <a:noFill/>
          </a:ln>
        </p:spPr>
        <p:txBody>
          <a:bodyPr lIns="90000" tIns="45000" rIns="90000" bIns="45000" anchor="t">
            <a:noAutofit/>
          </a:bodyPr>
          <a:lstStyle/>
          <a:p>
            <a:r>
              <a:rPr lang="en-US" sz="900" b="0" strike="noStrike" spc="-1" dirty="0" err="1">
                <a:solidFill>
                  <a:srgbClr val="1C2739"/>
                </a:solidFill>
                <a:latin typeface="Calibri"/>
                <a:ea typeface="Calibri"/>
              </a:rPr>
              <a:t>AdamW</a:t>
            </a:r>
            <a:r>
              <a:rPr lang="en-US" sz="900" b="0" strike="noStrike" spc="-1" dirty="0">
                <a:solidFill>
                  <a:srgbClr val="1C2739"/>
                </a:solidFill>
                <a:latin typeface="Calibri"/>
                <a:ea typeface="Calibri"/>
              </a:rPr>
              <a:t>  (</a:t>
            </a:r>
            <a:r>
              <a:rPr lang="en-US" sz="900" b="0" strike="noStrike" spc="-1" dirty="0" err="1">
                <a:solidFill>
                  <a:srgbClr val="1C2739"/>
                </a:solidFill>
                <a:latin typeface="Calibri"/>
                <a:ea typeface="Calibri"/>
              </a:rPr>
              <a:t>lr</a:t>
            </a:r>
            <a:r>
              <a:rPr lang="en-US" sz="900" b="0" strike="noStrike" spc="-1" dirty="0">
                <a:solidFill>
                  <a:srgbClr val="1C2739"/>
                </a:solidFill>
                <a:latin typeface="Calibri"/>
                <a:ea typeface="Calibri"/>
              </a:rPr>
              <a:t>=5e-4, </a:t>
            </a:r>
            <a:r>
              <a:rPr lang="en-US" sz="900" b="0" strike="noStrike" spc="-1" dirty="0" err="1">
                <a:solidFill>
                  <a:srgbClr val="1C2739"/>
                </a:solidFill>
                <a:latin typeface="Calibri"/>
                <a:ea typeface="Calibri"/>
              </a:rPr>
              <a:t>weight_decay</a:t>
            </a:r>
            <a:r>
              <a:rPr lang="en-US" sz="900" b="0" strike="noStrike" spc="-1" dirty="0">
                <a:solidFill>
                  <a:srgbClr val="1C2739"/>
                </a:solidFill>
                <a:latin typeface="Calibri"/>
                <a:ea typeface="Calibri"/>
              </a:rPr>
              <a:t>=1e-4)</a:t>
            </a:r>
            <a:endParaRPr lang="en-US" sz="900" b="0" strike="noStrike" spc="-1" dirty="0">
              <a:solidFill>
                <a:srgbClr val="000000"/>
              </a:solidFill>
              <a:latin typeface="Arial"/>
            </a:endParaRPr>
          </a:p>
        </p:txBody>
      </p:sp>
      <p:sp>
        <p:nvSpPr>
          <p:cNvPr id="389" name="Freeform 388"/>
          <p:cNvSpPr/>
          <p:nvPr/>
        </p:nvSpPr>
        <p:spPr>
          <a:xfrm>
            <a:off x="502920" y="2962800"/>
            <a:ext cx="3886920" cy="302400"/>
          </a:xfrm>
          <a:custGeom>
            <a:avLst/>
            <a:gdLst/>
            <a:ahLst/>
            <a:cxnLst/>
            <a:rect l="0" t="0" r="r" b="b"/>
            <a:pathLst>
              <a:path w="10797" h="840">
                <a:moveTo>
                  <a:pt x="0" y="0"/>
                </a:moveTo>
                <a:lnTo>
                  <a:pt x="10797" y="0"/>
                </a:lnTo>
                <a:lnTo>
                  <a:pt x="10797"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390" name="TextBox 389"/>
          <p:cNvSpPr txBox="1"/>
          <p:nvPr/>
        </p:nvSpPr>
        <p:spPr>
          <a:xfrm>
            <a:off x="639360" y="3008520"/>
            <a:ext cx="1007280" cy="238320"/>
          </a:xfrm>
          <a:prstGeom prst="rect">
            <a:avLst/>
          </a:prstGeom>
          <a:noFill/>
          <a:ln w="0">
            <a:noFill/>
          </a:ln>
        </p:spPr>
        <p:txBody>
          <a:bodyPr lIns="90000" tIns="45000" rIns="90000" bIns="45000" anchor="t">
            <a:noAutofit/>
          </a:bodyPr>
          <a:lstStyle/>
          <a:p>
            <a:r>
              <a:rPr lang="en-US" sz="1000" b="1" strike="noStrike" spc="-1">
                <a:solidFill>
                  <a:srgbClr val="2361EB"/>
                </a:solidFill>
                <a:latin typeface="Calibri-Bold"/>
                <a:ea typeface="Calibri-Bold"/>
              </a:rPr>
              <a:t>Schedule</a:t>
            </a:r>
            <a:endParaRPr lang="en-US" sz="1000" b="0" strike="noStrike" spc="-1">
              <a:solidFill>
                <a:srgbClr val="000000"/>
              </a:solidFill>
              <a:latin typeface="Arial"/>
            </a:endParaRPr>
          </a:p>
        </p:txBody>
      </p:sp>
      <p:sp>
        <p:nvSpPr>
          <p:cNvPr id="391" name="TextBox 390"/>
          <p:cNvSpPr txBox="1"/>
          <p:nvPr/>
        </p:nvSpPr>
        <p:spPr>
          <a:xfrm>
            <a:off x="1828080" y="3008520"/>
            <a:ext cx="2109960" cy="244440"/>
          </a:xfrm>
          <a:prstGeom prst="rect">
            <a:avLst/>
          </a:prstGeom>
          <a:noFill/>
          <a:ln w="0">
            <a:noFill/>
          </a:ln>
        </p:spPr>
        <p:txBody>
          <a:bodyPr lIns="90000" tIns="45000" rIns="90000" bIns="45000" anchor="t">
            <a:noAutofit/>
          </a:bodyPr>
          <a:lstStyle/>
          <a:p>
            <a:r>
              <a:rPr lang="en-US" sz="1000" spc="-1" dirty="0" err="1">
                <a:solidFill>
                  <a:srgbClr val="1C2739"/>
                </a:solidFill>
                <a:latin typeface="Calibri"/>
                <a:ea typeface="Calibri"/>
              </a:rPr>
              <a:t>ReduceLROnPlateau</a:t>
            </a:r>
            <a:endParaRPr lang="en-US" sz="1000" b="0" strike="noStrike" spc="-1" dirty="0">
              <a:solidFill>
                <a:srgbClr val="000000"/>
              </a:solidFill>
              <a:latin typeface="Arial"/>
            </a:endParaRPr>
          </a:p>
        </p:txBody>
      </p:sp>
      <p:sp>
        <p:nvSpPr>
          <p:cNvPr id="392" name="Freeform 391"/>
          <p:cNvSpPr/>
          <p:nvPr/>
        </p:nvSpPr>
        <p:spPr>
          <a:xfrm>
            <a:off x="502920" y="3300840"/>
            <a:ext cx="3886920" cy="302400"/>
          </a:xfrm>
          <a:custGeom>
            <a:avLst/>
            <a:gdLst/>
            <a:ahLst/>
            <a:cxnLst/>
            <a:rect l="0" t="0" r="r" b="b"/>
            <a:pathLst>
              <a:path w="10797" h="840">
                <a:moveTo>
                  <a:pt x="0" y="0"/>
                </a:moveTo>
                <a:lnTo>
                  <a:pt x="10797" y="0"/>
                </a:lnTo>
                <a:lnTo>
                  <a:pt x="10797"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393" name="TextBox 392"/>
          <p:cNvSpPr txBox="1"/>
          <p:nvPr/>
        </p:nvSpPr>
        <p:spPr>
          <a:xfrm>
            <a:off x="639360" y="3346560"/>
            <a:ext cx="1007280" cy="238320"/>
          </a:xfrm>
          <a:prstGeom prst="rect">
            <a:avLst/>
          </a:prstGeom>
          <a:noFill/>
          <a:ln w="0">
            <a:noFill/>
          </a:ln>
        </p:spPr>
        <p:txBody>
          <a:bodyPr lIns="90000" tIns="45000" rIns="90000" bIns="45000" anchor="t">
            <a:noAutofit/>
          </a:bodyPr>
          <a:lstStyle/>
          <a:p>
            <a:r>
              <a:rPr lang="en-US" sz="1000" b="1" strike="noStrike" spc="-1">
                <a:solidFill>
                  <a:srgbClr val="2361EB"/>
                </a:solidFill>
                <a:latin typeface="Calibri-Bold"/>
                <a:ea typeface="Calibri-Bold"/>
              </a:rPr>
              <a:t>Epochs</a:t>
            </a:r>
            <a:endParaRPr lang="en-US" sz="1000" b="0" strike="noStrike" spc="-1">
              <a:solidFill>
                <a:srgbClr val="000000"/>
              </a:solidFill>
              <a:latin typeface="Arial"/>
            </a:endParaRPr>
          </a:p>
        </p:txBody>
      </p:sp>
      <p:sp>
        <p:nvSpPr>
          <p:cNvPr id="394" name="TextBox 393"/>
          <p:cNvSpPr txBox="1"/>
          <p:nvPr/>
        </p:nvSpPr>
        <p:spPr>
          <a:xfrm>
            <a:off x="1828080" y="3346560"/>
            <a:ext cx="210996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20</a:t>
            </a:r>
            <a:endParaRPr lang="en-US" sz="1000" b="0" strike="noStrike" spc="-1">
              <a:solidFill>
                <a:srgbClr val="000000"/>
              </a:solidFill>
              <a:latin typeface="Arial"/>
            </a:endParaRPr>
          </a:p>
        </p:txBody>
      </p:sp>
      <p:sp>
        <p:nvSpPr>
          <p:cNvPr id="395" name="Freeform 394"/>
          <p:cNvSpPr/>
          <p:nvPr/>
        </p:nvSpPr>
        <p:spPr>
          <a:xfrm>
            <a:off x="502920" y="3639240"/>
            <a:ext cx="3886920" cy="302400"/>
          </a:xfrm>
          <a:custGeom>
            <a:avLst/>
            <a:gdLst/>
            <a:ahLst/>
            <a:cxnLst/>
            <a:rect l="0" t="0" r="r" b="b"/>
            <a:pathLst>
              <a:path w="10797" h="840">
                <a:moveTo>
                  <a:pt x="0" y="0"/>
                </a:moveTo>
                <a:lnTo>
                  <a:pt x="10797" y="0"/>
                </a:lnTo>
                <a:lnTo>
                  <a:pt x="10797"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396" name="TextBox 395"/>
          <p:cNvSpPr txBox="1"/>
          <p:nvPr/>
        </p:nvSpPr>
        <p:spPr>
          <a:xfrm>
            <a:off x="639360" y="3684960"/>
            <a:ext cx="1007280" cy="238320"/>
          </a:xfrm>
          <a:prstGeom prst="rect">
            <a:avLst/>
          </a:prstGeom>
          <a:noFill/>
          <a:ln w="0">
            <a:noFill/>
          </a:ln>
        </p:spPr>
        <p:txBody>
          <a:bodyPr lIns="90000" tIns="45000" rIns="90000" bIns="45000" anchor="t">
            <a:noAutofit/>
          </a:bodyPr>
          <a:lstStyle/>
          <a:p>
            <a:r>
              <a:rPr lang="en-US" sz="1000" b="1" strike="noStrike" spc="-1">
                <a:solidFill>
                  <a:srgbClr val="2361EB"/>
                </a:solidFill>
                <a:latin typeface="Calibri-Bold"/>
                <a:ea typeface="Calibri-Bold"/>
              </a:rPr>
              <a:t>Batch size</a:t>
            </a:r>
            <a:endParaRPr lang="en-US" sz="1000" b="0" strike="noStrike" spc="-1">
              <a:solidFill>
                <a:srgbClr val="000000"/>
              </a:solidFill>
              <a:latin typeface="Arial"/>
            </a:endParaRPr>
          </a:p>
        </p:txBody>
      </p:sp>
      <p:sp>
        <p:nvSpPr>
          <p:cNvPr id="397" name="TextBox 396"/>
          <p:cNvSpPr txBox="1"/>
          <p:nvPr/>
        </p:nvSpPr>
        <p:spPr>
          <a:xfrm>
            <a:off x="1828080" y="3684960"/>
            <a:ext cx="210996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24</a:t>
            </a:r>
            <a:endParaRPr lang="en-US" sz="1000" b="0" strike="noStrike" spc="-1">
              <a:solidFill>
                <a:srgbClr val="000000"/>
              </a:solidFill>
              <a:latin typeface="Arial"/>
            </a:endParaRPr>
          </a:p>
        </p:txBody>
      </p:sp>
      <p:sp>
        <p:nvSpPr>
          <p:cNvPr id="398" name="Freeform 397"/>
          <p:cNvSpPr/>
          <p:nvPr/>
        </p:nvSpPr>
        <p:spPr>
          <a:xfrm>
            <a:off x="502920" y="3977640"/>
            <a:ext cx="3886920" cy="302400"/>
          </a:xfrm>
          <a:custGeom>
            <a:avLst/>
            <a:gdLst/>
            <a:ahLst/>
            <a:cxnLst/>
            <a:rect l="0" t="0" r="r" b="b"/>
            <a:pathLst>
              <a:path w="10797" h="840">
                <a:moveTo>
                  <a:pt x="0" y="0"/>
                </a:moveTo>
                <a:lnTo>
                  <a:pt x="10797" y="0"/>
                </a:lnTo>
                <a:lnTo>
                  <a:pt x="10797"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399" name="TextBox 398"/>
          <p:cNvSpPr txBox="1"/>
          <p:nvPr/>
        </p:nvSpPr>
        <p:spPr>
          <a:xfrm>
            <a:off x="639360" y="4023360"/>
            <a:ext cx="1007280" cy="238320"/>
          </a:xfrm>
          <a:prstGeom prst="rect">
            <a:avLst/>
          </a:prstGeom>
          <a:noFill/>
          <a:ln w="0">
            <a:noFill/>
          </a:ln>
        </p:spPr>
        <p:txBody>
          <a:bodyPr lIns="90000" tIns="45000" rIns="90000" bIns="45000" anchor="t">
            <a:noAutofit/>
          </a:bodyPr>
          <a:lstStyle/>
          <a:p>
            <a:r>
              <a:rPr lang="en-US" sz="1000" b="1" strike="noStrike" spc="-1">
                <a:solidFill>
                  <a:srgbClr val="2361EB"/>
                </a:solidFill>
                <a:latin typeface="Calibri-Bold"/>
                <a:ea typeface="Calibri-Bold"/>
              </a:rPr>
              <a:t>Loss</a:t>
            </a:r>
            <a:endParaRPr lang="en-US" sz="1000" b="0" strike="noStrike" spc="-1">
              <a:solidFill>
                <a:srgbClr val="000000"/>
              </a:solidFill>
              <a:latin typeface="Arial"/>
            </a:endParaRPr>
          </a:p>
        </p:txBody>
      </p:sp>
      <p:sp>
        <p:nvSpPr>
          <p:cNvPr id="400" name="TextBox 399"/>
          <p:cNvSpPr txBox="1"/>
          <p:nvPr/>
        </p:nvSpPr>
        <p:spPr>
          <a:xfrm>
            <a:off x="1828080" y="4023360"/>
            <a:ext cx="210996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CrossEntropy</a:t>
            </a:r>
            <a:endParaRPr lang="en-US" sz="1000" b="0" strike="noStrike" spc="-1">
              <a:solidFill>
                <a:srgbClr val="000000"/>
              </a:solidFill>
              <a:latin typeface="Arial"/>
            </a:endParaRPr>
          </a:p>
        </p:txBody>
      </p:sp>
      <p:sp>
        <p:nvSpPr>
          <p:cNvPr id="401" name="Freeform 400"/>
          <p:cNvSpPr/>
          <p:nvPr/>
        </p:nvSpPr>
        <p:spPr>
          <a:xfrm>
            <a:off x="502920" y="4316040"/>
            <a:ext cx="3886920" cy="302400"/>
          </a:xfrm>
          <a:custGeom>
            <a:avLst/>
            <a:gdLst/>
            <a:ahLst/>
            <a:cxnLst/>
            <a:rect l="0" t="0" r="r" b="b"/>
            <a:pathLst>
              <a:path w="10797" h="840">
                <a:moveTo>
                  <a:pt x="0" y="0"/>
                </a:moveTo>
                <a:lnTo>
                  <a:pt x="10797" y="0"/>
                </a:lnTo>
                <a:lnTo>
                  <a:pt x="10797"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402" name="TextBox 401"/>
          <p:cNvSpPr txBox="1"/>
          <p:nvPr/>
        </p:nvSpPr>
        <p:spPr>
          <a:xfrm>
            <a:off x="639360" y="4361760"/>
            <a:ext cx="1007280" cy="238320"/>
          </a:xfrm>
          <a:prstGeom prst="rect">
            <a:avLst/>
          </a:prstGeom>
          <a:noFill/>
          <a:ln w="0">
            <a:noFill/>
          </a:ln>
        </p:spPr>
        <p:txBody>
          <a:bodyPr lIns="90000" tIns="45000" rIns="90000" bIns="45000" anchor="t">
            <a:noAutofit/>
          </a:bodyPr>
          <a:lstStyle/>
          <a:p>
            <a:r>
              <a:rPr lang="en-US" sz="1000" b="1" strike="noStrike" spc="-1">
                <a:solidFill>
                  <a:srgbClr val="2361EB"/>
                </a:solidFill>
                <a:latin typeface="Calibri-Bold"/>
                <a:ea typeface="Calibri-Bold"/>
              </a:rPr>
              <a:t>Regulariz.</a:t>
            </a:r>
            <a:endParaRPr lang="en-US" sz="1000" b="0" strike="noStrike" spc="-1">
              <a:solidFill>
                <a:srgbClr val="000000"/>
              </a:solidFill>
              <a:latin typeface="Arial"/>
            </a:endParaRPr>
          </a:p>
        </p:txBody>
      </p:sp>
      <p:sp>
        <p:nvSpPr>
          <p:cNvPr id="403" name="TextBox 402"/>
          <p:cNvSpPr txBox="1"/>
          <p:nvPr/>
        </p:nvSpPr>
        <p:spPr>
          <a:xfrm>
            <a:off x="1828080" y="4361760"/>
            <a:ext cx="210996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Label smoothing=0.05, dropout=0.1</a:t>
            </a:r>
            <a:endParaRPr lang="en-US" sz="1000" b="0" strike="noStrike" spc="-1">
              <a:solidFill>
                <a:srgbClr val="000000"/>
              </a:solidFill>
              <a:latin typeface="Arial"/>
            </a:endParaRPr>
          </a:p>
        </p:txBody>
      </p:sp>
      <p:sp>
        <p:nvSpPr>
          <p:cNvPr id="404" name="Freeform 403"/>
          <p:cNvSpPr/>
          <p:nvPr/>
        </p:nvSpPr>
        <p:spPr>
          <a:xfrm>
            <a:off x="4709160" y="2103120"/>
            <a:ext cx="4069800" cy="2698200"/>
          </a:xfrm>
          <a:custGeom>
            <a:avLst/>
            <a:gdLst/>
            <a:ahLst/>
            <a:cxnLst/>
            <a:rect l="0" t="0" r="r" b="b"/>
            <a:pathLst>
              <a:path w="11305" h="7495">
                <a:moveTo>
                  <a:pt x="0" y="0"/>
                </a:moveTo>
                <a:lnTo>
                  <a:pt x="11305" y="0"/>
                </a:lnTo>
                <a:lnTo>
                  <a:pt x="11305" y="7495"/>
                </a:lnTo>
                <a:lnTo>
                  <a:pt x="0" y="7495"/>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405" name="Freeform 404"/>
          <p:cNvSpPr/>
          <p:nvPr/>
        </p:nvSpPr>
        <p:spPr>
          <a:xfrm>
            <a:off x="4709160" y="2103120"/>
            <a:ext cx="64800" cy="2698200"/>
          </a:xfrm>
          <a:custGeom>
            <a:avLst/>
            <a:gdLst/>
            <a:ahLst/>
            <a:cxnLst/>
            <a:rect l="0" t="0" r="r" b="b"/>
            <a:pathLst>
              <a:path w="180" h="7495">
                <a:moveTo>
                  <a:pt x="0" y="0"/>
                </a:moveTo>
                <a:lnTo>
                  <a:pt x="180" y="0"/>
                </a:lnTo>
                <a:lnTo>
                  <a:pt x="180" y="7495"/>
                </a:lnTo>
                <a:lnTo>
                  <a:pt x="0" y="7495"/>
                </a:lnTo>
                <a:lnTo>
                  <a:pt x="0" y="0"/>
                </a:lnTo>
                <a:close/>
              </a:path>
            </a:pathLst>
          </a:custGeom>
          <a:solidFill>
            <a:srgbClr val="0691B2"/>
          </a:solidFill>
          <a:ln w="12600">
            <a:solidFill>
              <a:srgbClr val="0691B2"/>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406" name="TextBox 405"/>
          <p:cNvSpPr txBox="1"/>
          <p:nvPr/>
        </p:nvSpPr>
        <p:spPr>
          <a:xfrm>
            <a:off x="4937040" y="2212920"/>
            <a:ext cx="3659040" cy="301680"/>
          </a:xfrm>
          <a:prstGeom prst="rect">
            <a:avLst/>
          </a:prstGeom>
          <a:noFill/>
          <a:ln w="0">
            <a:noFill/>
          </a:ln>
        </p:spPr>
        <p:txBody>
          <a:bodyPr lIns="90000" tIns="45000" rIns="90000" bIns="45000" anchor="t">
            <a:noAutofit/>
          </a:bodyPr>
          <a:lstStyle/>
          <a:p>
            <a:r>
              <a:rPr lang="en-US" sz="1300" b="1" strike="noStrike" spc="-1">
                <a:solidFill>
                  <a:srgbClr val="182C48"/>
                </a:solidFill>
                <a:latin typeface="Calibri-Bold"/>
                <a:ea typeface="Calibri-Bold"/>
              </a:rPr>
              <a:t>Architecture Detail</a:t>
            </a:r>
            <a:endParaRPr lang="en-US" sz="1300" b="0" strike="noStrike" spc="-1">
              <a:solidFill>
                <a:srgbClr val="000000"/>
              </a:solidFill>
              <a:latin typeface="Arial"/>
            </a:endParaRPr>
          </a:p>
        </p:txBody>
      </p:sp>
      <p:sp>
        <p:nvSpPr>
          <p:cNvPr id="407" name="Freeform 406"/>
          <p:cNvSpPr/>
          <p:nvPr/>
        </p:nvSpPr>
        <p:spPr>
          <a:xfrm>
            <a:off x="4846320" y="2624400"/>
            <a:ext cx="3795480" cy="302400"/>
          </a:xfrm>
          <a:custGeom>
            <a:avLst/>
            <a:gdLst/>
            <a:ahLst/>
            <a:cxnLst/>
            <a:rect l="0" t="0" r="r" b="b"/>
            <a:pathLst>
              <a:path w="10543" h="840">
                <a:moveTo>
                  <a:pt x="0" y="0"/>
                </a:moveTo>
                <a:lnTo>
                  <a:pt x="10543" y="0"/>
                </a:lnTo>
                <a:lnTo>
                  <a:pt x="10543"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408" name="TextBox 407"/>
          <p:cNvSpPr txBox="1"/>
          <p:nvPr/>
        </p:nvSpPr>
        <p:spPr>
          <a:xfrm>
            <a:off x="4982760" y="2670120"/>
            <a:ext cx="1260000" cy="386280"/>
          </a:xfrm>
          <a:prstGeom prst="rect">
            <a:avLst/>
          </a:prstGeom>
          <a:noFill/>
          <a:ln w="0">
            <a:noFill/>
          </a:ln>
        </p:spPr>
        <p:txBody>
          <a:bodyPr lIns="90000" tIns="45000" rIns="90000" bIns="45000" anchor="t">
            <a:noAutofit/>
          </a:bodyPr>
          <a:lstStyle/>
          <a:p>
            <a:r>
              <a:rPr lang="en-US" sz="1000" b="1" strike="noStrike" spc="-1" dirty="0">
                <a:solidFill>
                  <a:srgbClr val="0691B2"/>
                </a:solidFill>
                <a:latin typeface="Calibri-Bold"/>
                <a:ea typeface="Calibri-Bold"/>
              </a:rPr>
              <a:t>ConvNeXt Block</a:t>
            </a:r>
            <a:endParaRPr lang="en-US" sz="1000" b="0" strike="noStrike" spc="-1" dirty="0">
              <a:solidFill>
                <a:srgbClr val="000000"/>
              </a:solidFill>
              <a:latin typeface="Arial"/>
            </a:endParaRPr>
          </a:p>
        </p:txBody>
      </p:sp>
      <p:sp>
        <p:nvSpPr>
          <p:cNvPr id="409" name="TextBox 408"/>
          <p:cNvSpPr txBox="1"/>
          <p:nvPr/>
        </p:nvSpPr>
        <p:spPr>
          <a:xfrm>
            <a:off x="6445080" y="2670120"/>
            <a:ext cx="2109960" cy="244440"/>
          </a:xfrm>
          <a:prstGeom prst="rect">
            <a:avLst/>
          </a:prstGeom>
          <a:noFill/>
          <a:ln w="0">
            <a:noFill/>
          </a:ln>
        </p:spPr>
        <p:txBody>
          <a:bodyPr lIns="90000" tIns="45000" rIns="90000" bIns="45000" anchor="t">
            <a:noAutofit/>
          </a:bodyPr>
          <a:lstStyle/>
          <a:p>
            <a:r>
              <a:rPr lang="en-US" sz="900" b="0" strike="noStrike" spc="-1" dirty="0" err="1">
                <a:solidFill>
                  <a:srgbClr val="1C2739"/>
                </a:solidFill>
                <a:latin typeface="Calibri"/>
                <a:ea typeface="Calibri"/>
              </a:rPr>
              <a:t>DwConv→LayerNorm→Linear→GELU</a:t>
            </a:r>
            <a:endParaRPr lang="en-US" sz="900" b="0" strike="noStrike" spc="-1" dirty="0">
              <a:solidFill>
                <a:srgbClr val="000000"/>
              </a:solidFill>
              <a:latin typeface="Arial"/>
            </a:endParaRPr>
          </a:p>
        </p:txBody>
      </p:sp>
      <p:sp>
        <p:nvSpPr>
          <p:cNvPr id="410" name="Freeform 409"/>
          <p:cNvSpPr/>
          <p:nvPr/>
        </p:nvSpPr>
        <p:spPr>
          <a:xfrm>
            <a:off x="4846320" y="2962800"/>
            <a:ext cx="3795480" cy="302400"/>
          </a:xfrm>
          <a:custGeom>
            <a:avLst/>
            <a:gdLst/>
            <a:ahLst/>
            <a:cxnLst/>
            <a:rect l="0" t="0" r="r" b="b"/>
            <a:pathLst>
              <a:path w="10543" h="840">
                <a:moveTo>
                  <a:pt x="0" y="0"/>
                </a:moveTo>
                <a:lnTo>
                  <a:pt x="10543" y="0"/>
                </a:lnTo>
                <a:lnTo>
                  <a:pt x="10543"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411" name="TextBox 410"/>
          <p:cNvSpPr txBox="1"/>
          <p:nvPr/>
        </p:nvSpPr>
        <p:spPr>
          <a:xfrm>
            <a:off x="4982760" y="3008520"/>
            <a:ext cx="1260000" cy="238320"/>
          </a:xfrm>
          <a:prstGeom prst="rect">
            <a:avLst/>
          </a:prstGeom>
          <a:noFill/>
          <a:ln w="0">
            <a:noFill/>
          </a:ln>
        </p:spPr>
        <p:txBody>
          <a:bodyPr lIns="90000" tIns="45000" rIns="90000" bIns="45000" anchor="t">
            <a:noAutofit/>
          </a:bodyPr>
          <a:lstStyle/>
          <a:p>
            <a:r>
              <a:rPr lang="en-US" sz="1000" b="1" strike="noStrike" spc="-1">
                <a:solidFill>
                  <a:srgbClr val="0691B2"/>
                </a:solidFill>
                <a:latin typeface="Calibri-Bold"/>
                <a:ea typeface="Calibri-Bold"/>
              </a:rPr>
              <a:t>4 stages</a:t>
            </a:r>
            <a:endParaRPr lang="en-US" sz="1000" b="0" strike="noStrike" spc="-1">
              <a:solidFill>
                <a:srgbClr val="000000"/>
              </a:solidFill>
              <a:latin typeface="Arial"/>
            </a:endParaRPr>
          </a:p>
        </p:txBody>
      </p:sp>
      <p:sp>
        <p:nvSpPr>
          <p:cNvPr id="412" name="TextBox 411"/>
          <p:cNvSpPr txBox="1"/>
          <p:nvPr/>
        </p:nvSpPr>
        <p:spPr>
          <a:xfrm>
            <a:off x="6445080" y="3008520"/>
            <a:ext cx="210996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96→192→384→768 ch.</a:t>
            </a:r>
            <a:endParaRPr lang="en-US" sz="1000" b="0" strike="noStrike" spc="-1">
              <a:solidFill>
                <a:srgbClr val="000000"/>
              </a:solidFill>
              <a:latin typeface="Arial"/>
            </a:endParaRPr>
          </a:p>
        </p:txBody>
      </p:sp>
      <p:sp>
        <p:nvSpPr>
          <p:cNvPr id="413" name="Freeform 412"/>
          <p:cNvSpPr/>
          <p:nvPr/>
        </p:nvSpPr>
        <p:spPr>
          <a:xfrm>
            <a:off x="4846320" y="3300840"/>
            <a:ext cx="3795480" cy="302400"/>
          </a:xfrm>
          <a:custGeom>
            <a:avLst/>
            <a:gdLst/>
            <a:ahLst/>
            <a:cxnLst/>
            <a:rect l="0" t="0" r="r" b="b"/>
            <a:pathLst>
              <a:path w="10543" h="840">
                <a:moveTo>
                  <a:pt x="0" y="0"/>
                </a:moveTo>
                <a:lnTo>
                  <a:pt x="10543" y="0"/>
                </a:lnTo>
                <a:lnTo>
                  <a:pt x="10543"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414" name="TextBox 413"/>
          <p:cNvSpPr txBox="1"/>
          <p:nvPr/>
        </p:nvSpPr>
        <p:spPr>
          <a:xfrm>
            <a:off x="4982760" y="3346560"/>
            <a:ext cx="1260000" cy="238320"/>
          </a:xfrm>
          <a:prstGeom prst="rect">
            <a:avLst/>
          </a:prstGeom>
          <a:noFill/>
          <a:ln w="0">
            <a:noFill/>
          </a:ln>
        </p:spPr>
        <p:txBody>
          <a:bodyPr lIns="90000" tIns="45000" rIns="90000" bIns="45000" anchor="t">
            <a:noAutofit/>
          </a:bodyPr>
          <a:lstStyle/>
          <a:p>
            <a:r>
              <a:rPr lang="en-US" sz="1000" b="1" strike="noStrike" spc="-1">
                <a:solidFill>
                  <a:srgbClr val="0691B2"/>
                </a:solidFill>
                <a:latin typeface="Calibri-Bold"/>
                <a:ea typeface="Calibri-Bold"/>
              </a:rPr>
              <a:t>GAP</a:t>
            </a:r>
            <a:endParaRPr lang="en-US" sz="1000" b="0" strike="noStrike" spc="-1">
              <a:solidFill>
                <a:srgbClr val="000000"/>
              </a:solidFill>
              <a:latin typeface="Arial"/>
            </a:endParaRPr>
          </a:p>
        </p:txBody>
      </p:sp>
      <p:sp>
        <p:nvSpPr>
          <p:cNvPr id="415" name="TextBox 414"/>
          <p:cNvSpPr txBox="1"/>
          <p:nvPr/>
        </p:nvSpPr>
        <p:spPr>
          <a:xfrm>
            <a:off x="6445080" y="3346560"/>
            <a:ext cx="210996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GAP → LayerNorm → Linear(768,37)</a:t>
            </a:r>
            <a:endParaRPr lang="en-US" sz="1000" b="0" strike="noStrike" spc="-1">
              <a:solidFill>
                <a:srgbClr val="000000"/>
              </a:solidFill>
              <a:latin typeface="Arial"/>
            </a:endParaRPr>
          </a:p>
        </p:txBody>
      </p:sp>
      <p:sp>
        <p:nvSpPr>
          <p:cNvPr id="416" name="Freeform 415"/>
          <p:cNvSpPr/>
          <p:nvPr/>
        </p:nvSpPr>
        <p:spPr>
          <a:xfrm>
            <a:off x="4846320" y="3639240"/>
            <a:ext cx="3795480" cy="302400"/>
          </a:xfrm>
          <a:custGeom>
            <a:avLst/>
            <a:gdLst/>
            <a:ahLst/>
            <a:cxnLst/>
            <a:rect l="0" t="0" r="r" b="b"/>
            <a:pathLst>
              <a:path w="10543" h="840">
                <a:moveTo>
                  <a:pt x="0" y="0"/>
                </a:moveTo>
                <a:lnTo>
                  <a:pt x="10543" y="0"/>
                </a:lnTo>
                <a:lnTo>
                  <a:pt x="10543"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417" name="TextBox 416"/>
          <p:cNvSpPr txBox="1"/>
          <p:nvPr/>
        </p:nvSpPr>
        <p:spPr>
          <a:xfrm>
            <a:off x="4982760" y="3684960"/>
            <a:ext cx="1260000" cy="238320"/>
          </a:xfrm>
          <a:prstGeom prst="rect">
            <a:avLst/>
          </a:prstGeom>
          <a:noFill/>
          <a:ln w="0">
            <a:noFill/>
          </a:ln>
        </p:spPr>
        <p:txBody>
          <a:bodyPr lIns="90000" tIns="45000" rIns="90000" bIns="45000" anchor="t">
            <a:noAutofit/>
          </a:bodyPr>
          <a:lstStyle/>
          <a:p>
            <a:r>
              <a:rPr lang="en-US" sz="1000" b="1" strike="noStrike" spc="-1">
                <a:solidFill>
                  <a:srgbClr val="0691B2"/>
                </a:solidFill>
                <a:latin typeface="Calibri-Bold"/>
                <a:ea typeface="Calibri-Bold"/>
              </a:rPr>
              <a:t>Dropout</a:t>
            </a:r>
            <a:endParaRPr lang="en-US" sz="1000" b="0" strike="noStrike" spc="-1">
              <a:solidFill>
                <a:srgbClr val="000000"/>
              </a:solidFill>
              <a:latin typeface="Arial"/>
            </a:endParaRPr>
          </a:p>
        </p:txBody>
      </p:sp>
      <p:sp>
        <p:nvSpPr>
          <p:cNvPr id="418" name="TextBox 417"/>
          <p:cNvSpPr txBox="1"/>
          <p:nvPr/>
        </p:nvSpPr>
        <p:spPr>
          <a:xfrm>
            <a:off x="6445080" y="3684960"/>
            <a:ext cx="210996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Stochastic depth + label smoothing</a:t>
            </a:r>
            <a:endParaRPr lang="en-US" sz="1000" b="0" strike="noStrike" spc="-1">
              <a:solidFill>
                <a:srgbClr val="000000"/>
              </a:solidFill>
              <a:latin typeface="Arial"/>
            </a:endParaRPr>
          </a:p>
        </p:txBody>
      </p:sp>
      <p:sp>
        <p:nvSpPr>
          <p:cNvPr id="419" name="Freeform 418"/>
          <p:cNvSpPr/>
          <p:nvPr/>
        </p:nvSpPr>
        <p:spPr>
          <a:xfrm>
            <a:off x="4846320" y="3977640"/>
            <a:ext cx="3795480" cy="302400"/>
          </a:xfrm>
          <a:custGeom>
            <a:avLst/>
            <a:gdLst/>
            <a:ahLst/>
            <a:cxnLst/>
            <a:rect l="0" t="0" r="r" b="b"/>
            <a:pathLst>
              <a:path w="10543" h="840">
                <a:moveTo>
                  <a:pt x="0" y="0"/>
                </a:moveTo>
                <a:lnTo>
                  <a:pt x="10543" y="0"/>
                </a:lnTo>
                <a:lnTo>
                  <a:pt x="10543"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420" name="TextBox 419"/>
          <p:cNvSpPr txBox="1"/>
          <p:nvPr/>
        </p:nvSpPr>
        <p:spPr>
          <a:xfrm>
            <a:off x="4982760" y="4023360"/>
            <a:ext cx="1260000" cy="238320"/>
          </a:xfrm>
          <a:prstGeom prst="rect">
            <a:avLst/>
          </a:prstGeom>
          <a:noFill/>
          <a:ln w="0">
            <a:noFill/>
          </a:ln>
        </p:spPr>
        <p:txBody>
          <a:bodyPr lIns="90000" tIns="45000" rIns="90000" bIns="45000" anchor="t">
            <a:noAutofit/>
          </a:bodyPr>
          <a:lstStyle/>
          <a:p>
            <a:r>
              <a:rPr lang="en-US" sz="1000" b="1" strike="noStrike" spc="-1">
                <a:solidFill>
                  <a:srgbClr val="0691B2"/>
                </a:solidFill>
                <a:latin typeface="Calibri-Bold"/>
                <a:ea typeface="Calibri-Bold"/>
              </a:rPr>
              <a:t>Output</a:t>
            </a:r>
            <a:endParaRPr lang="en-US" sz="1000" b="0" strike="noStrike" spc="-1">
              <a:solidFill>
                <a:srgbClr val="000000"/>
              </a:solidFill>
              <a:latin typeface="Arial"/>
            </a:endParaRPr>
          </a:p>
        </p:txBody>
      </p:sp>
      <p:sp>
        <p:nvSpPr>
          <p:cNvPr id="421" name="TextBox 420"/>
          <p:cNvSpPr txBox="1"/>
          <p:nvPr/>
        </p:nvSpPr>
        <p:spPr>
          <a:xfrm>
            <a:off x="6445080" y="4023360"/>
            <a:ext cx="210996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Linear(768, 37) — last block unfrozen</a:t>
            </a:r>
            <a:endParaRPr lang="en-US" sz="1000" b="0" strike="noStrike" spc="-1">
              <a:solidFill>
                <a:srgbClr val="000000"/>
              </a:solidFill>
              <a:latin typeface="Arial"/>
            </a:endParaRPr>
          </a:p>
        </p:txBody>
      </p:sp>
      <p:sp>
        <p:nvSpPr>
          <p:cNvPr id="422" name="Freeform 421"/>
          <p:cNvSpPr/>
          <p:nvPr/>
        </p:nvSpPr>
        <p:spPr>
          <a:xfrm>
            <a:off x="4846320" y="4316040"/>
            <a:ext cx="3795480" cy="302400"/>
          </a:xfrm>
          <a:custGeom>
            <a:avLst/>
            <a:gdLst/>
            <a:ahLst/>
            <a:cxnLst/>
            <a:rect l="0" t="0" r="r" b="b"/>
            <a:pathLst>
              <a:path w="10543" h="840">
                <a:moveTo>
                  <a:pt x="0" y="0"/>
                </a:moveTo>
                <a:lnTo>
                  <a:pt x="10543" y="0"/>
                </a:lnTo>
                <a:lnTo>
                  <a:pt x="10543"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423" name="TextBox 422"/>
          <p:cNvSpPr txBox="1"/>
          <p:nvPr/>
        </p:nvSpPr>
        <p:spPr>
          <a:xfrm>
            <a:off x="4982760" y="4361760"/>
            <a:ext cx="1260000" cy="238320"/>
          </a:xfrm>
          <a:prstGeom prst="rect">
            <a:avLst/>
          </a:prstGeom>
          <a:noFill/>
          <a:ln w="0">
            <a:noFill/>
          </a:ln>
        </p:spPr>
        <p:txBody>
          <a:bodyPr lIns="90000" tIns="45000" rIns="90000" bIns="45000" anchor="t">
            <a:noAutofit/>
          </a:bodyPr>
          <a:lstStyle/>
          <a:p>
            <a:r>
              <a:rPr lang="en-US" sz="1000" b="1" strike="noStrike" spc="-1">
                <a:solidFill>
                  <a:srgbClr val="0691B2"/>
                </a:solidFill>
                <a:latin typeface="Calibri-Bold"/>
                <a:ea typeface="Calibri-Bold"/>
              </a:rPr>
              <a:t>Params</a:t>
            </a:r>
            <a:endParaRPr lang="en-US" sz="1000" b="0" strike="noStrike" spc="-1">
              <a:solidFill>
                <a:srgbClr val="000000"/>
              </a:solidFill>
              <a:latin typeface="Arial"/>
            </a:endParaRPr>
          </a:p>
        </p:txBody>
      </p:sp>
      <p:sp>
        <p:nvSpPr>
          <p:cNvPr id="424" name="TextBox 423"/>
          <p:cNvSpPr txBox="1"/>
          <p:nvPr/>
        </p:nvSpPr>
        <p:spPr>
          <a:xfrm>
            <a:off x="6445080" y="4361760"/>
            <a:ext cx="210996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~28.6M total / last_block strategy</a:t>
            </a:r>
            <a:endParaRPr lang="en-US" sz="1000" b="0" strike="noStrike" spc="-1">
              <a:solidFill>
                <a:srgbClr val="000000"/>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720" cy="55440"/>
          </a:xfrm>
          <a:prstGeom prst="rect">
            <a:avLst/>
          </a:prstGeom>
          <a:solidFill>
            <a:srgbClr val="2361EB"/>
          </a:solidFill>
        </p:spPr>
        <p:txBody>
          <a:bodyPr/>
          <a:lstStyle/>
          <a:p>
            <a:endParaRPr/>
          </a:p>
        </p:txBody>
      </p:sp>
      <p:sp>
        <p:nvSpPr>
          <p:cNvPr id="3" name="TextBox 2"/>
          <p:cNvSpPr txBox="1"/>
          <p:nvPr/>
        </p:nvSpPr>
        <p:spPr>
          <a:xfrm>
            <a:off x="502200" y="164520"/>
            <a:ext cx="8139600" cy="480000"/>
          </a:xfrm>
          <a:prstGeom prst="rect">
            <a:avLst/>
          </a:prstGeom>
          <a:noFill/>
          <a:ln w="0">
            <a:noFill/>
          </a:ln>
        </p:spPr>
        <p:txBody>
          <a:bodyPr lIns="90000" tIns="45000" rIns="90000" bIns="45000" anchor="t">
            <a:noAutofit/>
          </a:bodyPr>
          <a:lstStyle/>
          <a:p>
            <a:r>
              <a:rPr lang="en-US" sz="2600" b="1" strike="noStrike" spc="-1">
                <a:solidFill>
                  <a:srgbClr val="182C48"/>
                </a:solidFill>
                <a:latin typeface="Calibri-Bold"/>
              </a:rPr>
              <a:t>ConvNeXt-Tiny — Training Curves</a:t>
            </a:r>
          </a:p>
        </p:txBody>
      </p:sp>
      <p:sp>
        <p:nvSpPr>
          <p:cNvPr id="4" name="TextBox 3"/>
          <p:cNvSpPr txBox="1"/>
          <p:nvPr/>
        </p:nvSpPr>
        <p:spPr>
          <a:xfrm>
            <a:off x="502200" y="630000"/>
            <a:ext cx="8139600" cy="280000"/>
          </a:xfrm>
          <a:prstGeom prst="rect">
            <a:avLst/>
          </a:prstGeom>
          <a:noFill/>
          <a:ln w="0">
            <a:noFill/>
          </a:ln>
        </p:spPr>
        <p:txBody>
          <a:bodyPr lIns="90000" tIns="45000" rIns="90000" bIns="45000" anchor="t">
            <a:noAutofit/>
          </a:bodyPr>
          <a:lstStyle/>
          <a:p>
            <a:r>
              <a:rPr lang="en-US" sz="1200" b="0" i="1" strike="noStrike" spc="-1">
                <a:solidFill>
                  <a:srgbClr val="62728B"/>
                </a:solidFill>
                <a:latin typeface="Calibri-Italic"/>
              </a:rPr>
              <a:t>15 epochs · last-block fine-tuning · pre-trained ImageNet-1k</a:t>
            </a:r>
          </a:p>
        </p:txBody>
      </p:sp>
      <p:sp>
        <p:nvSpPr>
          <p:cNvPr id="5" name="Straight Connector 4"/>
          <p:cNvSpPr/>
          <p:nvPr/>
        </p:nvSpPr>
        <p:spPr>
          <a:xfrm>
            <a:off x="457200" y="940000"/>
            <a:ext cx="8229600" cy="0"/>
          </a:xfrm>
          <a:prstGeom prst="line">
            <a:avLst/>
          </a:prstGeom>
          <a:ln w="12600">
            <a:solidFill>
              <a:srgbClr val="E2E8F0"/>
            </a:solidFill>
            <a:round/>
          </a:ln>
        </p:spPr>
        <p:txBody>
          <a:bodyPr/>
          <a:lstStyle/>
          <a:p>
            <a:endParaRPr/>
          </a:p>
        </p:txBody>
      </p:sp>
      <p:pic>
        <p:nvPicPr>
          <p:cNvPr id="6" name="acc_chart"/>
          <p:cNvPicPr>
            <a:picLocks noChangeAspect="1"/>
          </p:cNvPicPr>
          <p:nvPr/>
        </p:nvPicPr>
        <p:blipFill>
          <a:blip r:embed="rId2"/>
          <a:stretch>
            <a:fillRect/>
          </a:stretch>
        </p:blipFill>
        <p:spPr>
          <a:xfrm>
            <a:off x="274320" y="990000"/>
            <a:ext cx="4297680" cy="3890000"/>
          </a:xfrm>
          <a:prstGeom prst="rect">
            <a:avLst/>
          </a:prstGeom>
        </p:spPr>
      </p:pic>
      <p:pic>
        <p:nvPicPr>
          <p:cNvPr id="7" name="loss_chart"/>
          <p:cNvPicPr>
            <a:picLocks noChangeAspect="1"/>
          </p:cNvPicPr>
          <p:nvPr/>
        </p:nvPicPr>
        <p:blipFill>
          <a:blip r:embed="rId3"/>
          <a:stretch>
            <a:fillRect/>
          </a:stretch>
        </p:blipFill>
        <p:spPr>
          <a:xfrm>
            <a:off x="4572720" y="990000"/>
            <a:ext cx="4297680" cy="3890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425" name="Freeform 424"/>
          <p:cNvSpPr/>
          <p:nvPr/>
        </p:nvSpPr>
        <p:spPr>
          <a:xfrm>
            <a:off x="0" y="0"/>
            <a:ext cx="9144720" cy="55440"/>
          </a:xfrm>
          <a:custGeom>
            <a:avLst/>
            <a:gdLst/>
            <a:ahLst/>
            <a:cxnLst/>
            <a:rect l="0" t="0" r="r" b="b"/>
            <a:pathLst>
              <a:path w="25402" h="154">
                <a:moveTo>
                  <a:pt x="0" y="0"/>
                </a:moveTo>
                <a:lnTo>
                  <a:pt x="25402" y="0"/>
                </a:lnTo>
                <a:lnTo>
                  <a:pt x="25402" y="154"/>
                </a:lnTo>
                <a:lnTo>
                  <a:pt x="0" y="154"/>
                </a:lnTo>
                <a:lnTo>
                  <a:pt x="0" y="0"/>
                </a:lnTo>
                <a:close/>
              </a:path>
            </a:pathLst>
          </a:custGeom>
          <a:solidFill>
            <a:srgbClr val="2361EB"/>
          </a:solidFill>
          <a:ln w="12600">
            <a:solidFill>
              <a:srgbClr val="2361EB"/>
            </a:solidFill>
            <a:round/>
          </a:ln>
        </p:spPr>
        <p:txBody>
          <a:bodyPr lIns="96120" tIns="4320" rIns="96120" bIns="4320" anchor="t">
            <a:noAutofit/>
          </a:bodyPr>
          <a:lstStyle/>
          <a:p>
            <a:endParaRPr lang="en-US" sz="1800" b="0" strike="noStrike" spc="-1">
              <a:solidFill>
                <a:srgbClr val="FFFFFF"/>
              </a:solidFill>
              <a:latin typeface="Arial"/>
            </a:endParaRPr>
          </a:p>
        </p:txBody>
      </p:sp>
      <p:sp>
        <p:nvSpPr>
          <p:cNvPr id="426" name="TextBox 425"/>
          <p:cNvSpPr txBox="1"/>
          <p:nvPr/>
        </p:nvSpPr>
        <p:spPr>
          <a:xfrm>
            <a:off x="502200" y="164520"/>
            <a:ext cx="8139600" cy="502920"/>
          </a:xfrm>
          <a:prstGeom prst="rect">
            <a:avLst/>
          </a:prstGeom>
          <a:noFill/>
          <a:ln w="0">
            <a:noFill/>
          </a:ln>
        </p:spPr>
        <p:txBody>
          <a:bodyPr lIns="90000" tIns="45000" rIns="90000" bIns="45000" anchor="t">
            <a:noAutofit/>
          </a:bodyPr>
          <a:lstStyle/>
          <a:p>
            <a:r>
              <a:rPr lang="en-US" sz="2600" b="1" strike="noStrike" spc="-1">
                <a:solidFill>
                  <a:srgbClr val="182C48"/>
                </a:solidFill>
                <a:latin typeface="Calibri-Bold"/>
                <a:ea typeface="Calibri-Bold"/>
              </a:rPr>
              <a:t>ConvNeXt-Tiny — Results</a:t>
            </a:r>
            <a:endParaRPr lang="en-US" sz="2600" b="0" strike="noStrike" spc="-1">
              <a:solidFill>
                <a:srgbClr val="000000"/>
              </a:solidFill>
              <a:latin typeface="Arial"/>
            </a:endParaRPr>
          </a:p>
        </p:txBody>
      </p:sp>
      <p:sp>
        <p:nvSpPr>
          <p:cNvPr id="427" name="TextBox 426"/>
          <p:cNvSpPr txBox="1"/>
          <p:nvPr/>
        </p:nvSpPr>
        <p:spPr>
          <a:xfrm>
            <a:off x="502200" y="658440"/>
            <a:ext cx="8139600" cy="292680"/>
          </a:xfrm>
          <a:prstGeom prst="rect">
            <a:avLst/>
          </a:prstGeom>
          <a:noFill/>
          <a:ln w="0">
            <a:noFill/>
          </a:ln>
        </p:spPr>
        <p:txBody>
          <a:bodyPr lIns="90000" tIns="45000" rIns="90000" bIns="45000" anchor="t">
            <a:noAutofit/>
          </a:bodyPr>
          <a:lstStyle/>
          <a:p>
            <a:r>
              <a:rPr lang="en-US" sz="1200" b="0" i="1" strike="noStrike" spc="-1">
                <a:solidFill>
                  <a:srgbClr val="62728B"/>
                </a:solidFill>
                <a:latin typeface="Calibri-Italic"/>
                <a:ea typeface="Calibri-Italic"/>
              </a:rPr>
              <a:t>20 epochs · last_block fine-tuning · ImageNet-1k</a:t>
            </a:r>
            <a:endParaRPr lang="en-US" sz="1200" b="0" strike="noStrike" spc="-1">
              <a:solidFill>
                <a:srgbClr val="000000"/>
              </a:solidFill>
              <a:latin typeface="Arial"/>
            </a:endParaRPr>
          </a:p>
        </p:txBody>
      </p:sp>
      <p:sp>
        <p:nvSpPr>
          <p:cNvPr id="428" name="Straight Connector 427"/>
          <p:cNvSpPr/>
          <p:nvPr/>
        </p:nvSpPr>
        <p:spPr>
          <a:xfrm>
            <a:off x="457200" y="960120"/>
            <a:ext cx="8229600" cy="0"/>
          </a:xfrm>
          <a:prstGeom prst="line">
            <a:avLst/>
          </a:prstGeom>
          <a:ln w="12600">
            <a:solidFill>
              <a:srgbClr val="E2E8F0"/>
            </a:solidFill>
            <a:round/>
          </a:ln>
        </p:spPr>
        <p:style>
          <a:lnRef idx="0">
            <a:scrgbClr r="0" g="0" b="0"/>
          </a:lnRef>
          <a:fillRef idx="0">
            <a:scrgbClr r="0" g="0" b="0"/>
          </a:fillRef>
          <a:effectRef idx="0">
            <a:scrgbClr r="0" g="0" b="0"/>
          </a:effectRef>
          <a:fontRef idx="minor"/>
        </p:style>
        <p:txBody>
          <a:bodyPr lIns="96120" tIns="-51120" rIns="96120" bIns="-51120" anchor="t">
            <a:noAutofit/>
          </a:bodyPr>
          <a:lstStyle/>
          <a:p>
            <a:endParaRPr lang="en-US" sz="1800" b="0" strike="noStrike" spc="-1">
              <a:solidFill>
                <a:srgbClr val="000000"/>
              </a:solidFill>
              <a:latin typeface="Arial"/>
            </a:endParaRPr>
          </a:p>
        </p:txBody>
      </p:sp>
      <p:sp>
        <p:nvSpPr>
          <p:cNvPr id="429" name="Freeform 428"/>
          <p:cNvSpPr/>
          <p:nvPr/>
        </p:nvSpPr>
        <p:spPr>
          <a:xfrm>
            <a:off x="365760" y="1097280"/>
            <a:ext cx="2698200" cy="960840"/>
          </a:xfrm>
          <a:custGeom>
            <a:avLst/>
            <a:gdLst/>
            <a:ahLst/>
            <a:cxnLst/>
            <a:rect l="0" t="0" r="r" b="b"/>
            <a:pathLst>
              <a:path w="7495" h="2669">
                <a:moveTo>
                  <a:pt x="0" y="0"/>
                </a:moveTo>
                <a:lnTo>
                  <a:pt x="7495" y="0"/>
                </a:lnTo>
                <a:lnTo>
                  <a:pt x="7495" y="2669"/>
                </a:lnTo>
                <a:lnTo>
                  <a:pt x="0" y="2669"/>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430" name="Freeform 429"/>
          <p:cNvSpPr/>
          <p:nvPr/>
        </p:nvSpPr>
        <p:spPr>
          <a:xfrm>
            <a:off x="365760" y="1097280"/>
            <a:ext cx="64800" cy="960840"/>
          </a:xfrm>
          <a:custGeom>
            <a:avLst/>
            <a:gdLst/>
            <a:ahLst/>
            <a:cxnLst/>
            <a:rect l="0" t="0" r="r" b="b"/>
            <a:pathLst>
              <a:path w="180" h="2669">
                <a:moveTo>
                  <a:pt x="0" y="0"/>
                </a:moveTo>
                <a:lnTo>
                  <a:pt x="180" y="0"/>
                </a:lnTo>
                <a:lnTo>
                  <a:pt x="180" y="2669"/>
                </a:lnTo>
                <a:lnTo>
                  <a:pt x="0" y="2669"/>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431" name="TextBox 430"/>
          <p:cNvSpPr txBox="1"/>
          <p:nvPr/>
        </p:nvSpPr>
        <p:spPr>
          <a:xfrm>
            <a:off x="538920" y="1188720"/>
            <a:ext cx="2424600" cy="537840"/>
          </a:xfrm>
          <a:prstGeom prst="rect">
            <a:avLst/>
          </a:prstGeom>
          <a:noFill/>
          <a:ln w="0">
            <a:noFill/>
          </a:ln>
        </p:spPr>
        <p:txBody>
          <a:bodyPr lIns="90000" tIns="45000" rIns="90000" bIns="45000" anchor="t">
            <a:noAutofit/>
          </a:bodyPr>
          <a:lstStyle/>
          <a:p>
            <a:r>
              <a:rPr lang="en-US" sz="2400" b="1" strike="noStrike" spc="-1">
                <a:solidFill>
                  <a:srgbClr val="2361EB"/>
                </a:solidFill>
                <a:latin typeface="Calibri-Bold"/>
                <a:ea typeface="Calibri-Bold"/>
              </a:rPr>
              <a:t>96.88%</a:t>
            </a:r>
            <a:endParaRPr lang="en-US" sz="2400" b="0" strike="noStrike" spc="-1">
              <a:solidFill>
                <a:srgbClr val="000000"/>
              </a:solidFill>
              <a:latin typeface="Arial"/>
            </a:endParaRPr>
          </a:p>
        </p:txBody>
      </p:sp>
      <p:sp>
        <p:nvSpPr>
          <p:cNvPr id="432" name="TextBox 431"/>
          <p:cNvSpPr txBox="1"/>
          <p:nvPr/>
        </p:nvSpPr>
        <p:spPr>
          <a:xfrm>
            <a:off x="538920" y="1711800"/>
            <a:ext cx="2424600" cy="398520"/>
          </a:xfrm>
          <a:prstGeom prst="rect">
            <a:avLst/>
          </a:prstGeom>
          <a:noFill/>
          <a:ln w="0">
            <a:noFill/>
          </a:ln>
        </p:spPr>
        <p:txBody>
          <a:bodyPr lIns="90000" tIns="45000" rIns="90000" bIns="45000" anchor="t">
            <a:noAutofit/>
          </a:bodyPr>
          <a:lstStyle/>
          <a:p>
            <a:r>
              <a:rPr lang="en-US" sz="1000" b="0" strike="noStrike" spc="-1">
                <a:solidFill>
                  <a:srgbClr val="62728B"/>
                </a:solidFill>
                <a:latin typeface="Calibri"/>
                <a:ea typeface="Calibri"/>
              </a:rPr>
              <a:t>Best Val Accuracy</a:t>
            </a:r>
            <a:endParaRPr lang="en-US" sz="1000" b="0" strike="noStrike" spc="-1">
              <a:solidFill>
                <a:srgbClr val="000000"/>
              </a:solidFill>
              <a:latin typeface="Arial"/>
            </a:endParaRPr>
          </a:p>
          <a:p>
            <a:r>
              <a:rPr lang="en-US" sz="1000" b="0" strike="noStrike" spc="-1">
                <a:solidFill>
                  <a:srgbClr val="62728B"/>
                </a:solidFill>
                <a:latin typeface="Calibri"/>
                <a:ea typeface="Calibri"/>
              </a:rPr>
              <a:t>(epoch 20)</a:t>
            </a:r>
            <a:endParaRPr lang="en-US" sz="1000" b="0" strike="noStrike" spc="-1">
              <a:solidFill>
                <a:srgbClr val="000000"/>
              </a:solidFill>
              <a:latin typeface="Arial"/>
            </a:endParaRPr>
          </a:p>
        </p:txBody>
      </p:sp>
      <p:sp>
        <p:nvSpPr>
          <p:cNvPr id="433" name="Freeform 432"/>
          <p:cNvSpPr/>
          <p:nvPr/>
        </p:nvSpPr>
        <p:spPr>
          <a:xfrm>
            <a:off x="3200400" y="1097280"/>
            <a:ext cx="2698200" cy="960840"/>
          </a:xfrm>
          <a:custGeom>
            <a:avLst/>
            <a:gdLst/>
            <a:ahLst/>
            <a:cxnLst/>
            <a:rect l="0" t="0" r="r" b="b"/>
            <a:pathLst>
              <a:path w="7495" h="2669">
                <a:moveTo>
                  <a:pt x="0" y="0"/>
                </a:moveTo>
                <a:lnTo>
                  <a:pt x="7495" y="0"/>
                </a:lnTo>
                <a:lnTo>
                  <a:pt x="7495" y="2669"/>
                </a:lnTo>
                <a:lnTo>
                  <a:pt x="0" y="2669"/>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434" name="Freeform 433"/>
          <p:cNvSpPr/>
          <p:nvPr/>
        </p:nvSpPr>
        <p:spPr>
          <a:xfrm>
            <a:off x="3200400" y="1097280"/>
            <a:ext cx="64800" cy="960840"/>
          </a:xfrm>
          <a:custGeom>
            <a:avLst/>
            <a:gdLst/>
            <a:ahLst/>
            <a:cxnLst/>
            <a:rect l="0" t="0" r="r" b="b"/>
            <a:pathLst>
              <a:path w="180" h="2669">
                <a:moveTo>
                  <a:pt x="0" y="0"/>
                </a:moveTo>
                <a:lnTo>
                  <a:pt x="180" y="0"/>
                </a:lnTo>
                <a:lnTo>
                  <a:pt x="180" y="2669"/>
                </a:lnTo>
                <a:lnTo>
                  <a:pt x="0" y="2669"/>
                </a:lnTo>
                <a:lnTo>
                  <a:pt x="0" y="0"/>
                </a:lnTo>
                <a:close/>
              </a:path>
            </a:pathLst>
          </a:custGeom>
          <a:solidFill>
            <a:srgbClr val="0691B2"/>
          </a:solidFill>
          <a:ln w="12600">
            <a:solidFill>
              <a:srgbClr val="0691B2"/>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435" name="TextBox 434"/>
          <p:cNvSpPr txBox="1"/>
          <p:nvPr/>
        </p:nvSpPr>
        <p:spPr>
          <a:xfrm>
            <a:off x="3373560" y="1188720"/>
            <a:ext cx="2424600" cy="537840"/>
          </a:xfrm>
          <a:prstGeom prst="rect">
            <a:avLst/>
          </a:prstGeom>
          <a:noFill/>
          <a:ln w="0">
            <a:noFill/>
          </a:ln>
        </p:spPr>
        <p:txBody>
          <a:bodyPr lIns="90000" tIns="45000" rIns="90000" bIns="45000" anchor="t">
            <a:noAutofit/>
          </a:bodyPr>
          <a:lstStyle/>
          <a:p>
            <a:r>
              <a:rPr lang="en-US" sz="2400" b="1" strike="noStrike" spc="-1">
                <a:solidFill>
                  <a:srgbClr val="0691B2"/>
                </a:solidFill>
                <a:latin typeface="Calibri-Bold"/>
                <a:ea typeface="Calibri-Bold"/>
              </a:rPr>
              <a:t>94.06%</a:t>
            </a:r>
            <a:endParaRPr lang="en-US" sz="2400" b="0" strike="noStrike" spc="-1">
              <a:solidFill>
                <a:srgbClr val="000000"/>
              </a:solidFill>
              <a:latin typeface="Arial"/>
            </a:endParaRPr>
          </a:p>
        </p:txBody>
      </p:sp>
      <p:sp>
        <p:nvSpPr>
          <p:cNvPr id="436" name="TextBox 435"/>
          <p:cNvSpPr txBox="1"/>
          <p:nvPr/>
        </p:nvSpPr>
        <p:spPr>
          <a:xfrm>
            <a:off x="3373560" y="1711800"/>
            <a:ext cx="2424600" cy="398520"/>
          </a:xfrm>
          <a:prstGeom prst="rect">
            <a:avLst/>
          </a:prstGeom>
          <a:noFill/>
          <a:ln w="0">
            <a:noFill/>
          </a:ln>
        </p:spPr>
        <p:txBody>
          <a:bodyPr lIns="90000" tIns="45000" rIns="90000" bIns="45000" anchor="t">
            <a:noAutofit/>
          </a:bodyPr>
          <a:lstStyle/>
          <a:p>
            <a:r>
              <a:rPr lang="en-US" sz="1000" b="0" strike="noStrike" spc="-1">
                <a:solidFill>
                  <a:srgbClr val="62728B"/>
                </a:solidFill>
                <a:latin typeface="Calibri"/>
                <a:ea typeface="Calibri"/>
              </a:rPr>
              <a:t>Test Accuracy</a:t>
            </a:r>
            <a:endParaRPr lang="en-US" sz="1000" b="0" strike="noStrike" spc="-1">
              <a:solidFill>
                <a:srgbClr val="000000"/>
              </a:solidFill>
              <a:latin typeface="Arial"/>
            </a:endParaRPr>
          </a:p>
          <a:p>
            <a:r>
              <a:rPr lang="nl-NL" sz="1000" b="0" strike="noStrike" spc="-1">
                <a:solidFill>
                  <a:srgbClr val="62728B"/>
                </a:solidFill>
                <a:latin typeface="Calibri"/>
                <a:ea typeface="Calibri"/>
              </a:rPr>
              <a:t>(</a:t>
            </a:r>
            <a:r>
              <a:rPr lang="en-US" sz="1000" b="0" strike="noStrike" spc="-1">
                <a:solidFill>
                  <a:srgbClr val="62728B"/>
                </a:solidFill>
                <a:latin typeface="Calibri"/>
                <a:ea typeface="Calibri"/>
              </a:rPr>
              <a:t>precision 94.18% / recall 94.00%</a:t>
            </a:r>
            <a:r>
              <a:rPr lang="nl-NL" sz="1000" b="0" strike="noStrike" spc="-1">
                <a:solidFill>
                  <a:srgbClr val="62728B"/>
                </a:solidFill>
                <a:latin typeface="Calibri"/>
                <a:ea typeface="Calibri"/>
              </a:rPr>
              <a:t>)</a:t>
            </a:r>
            <a:endParaRPr lang="en-US" sz="1000" b="0" strike="noStrike" spc="-1">
              <a:solidFill>
                <a:srgbClr val="000000"/>
              </a:solidFill>
              <a:latin typeface="Arial"/>
            </a:endParaRPr>
          </a:p>
        </p:txBody>
      </p:sp>
      <p:sp>
        <p:nvSpPr>
          <p:cNvPr id="437" name="Freeform 436"/>
          <p:cNvSpPr/>
          <p:nvPr/>
        </p:nvSpPr>
        <p:spPr>
          <a:xfrm>
            <a:off x="6035040" y="1097280"/>
            <a:ext cx="2698200" cy="960840"/>
          </a:xfrm>
          <a:custGeom>
            <a:avLst/>
            <a:gdLst/>
            <a:ahLst/>
            <a:cxnLst/>
            <a:rect l="0" t="0" r="r" b="b"/>
            <a:pathLst>
              <a:path w="7495" h="2669">
                <a:moveTo>
                  <a:pt x="0" y="0"/>
                </a:moveTo>
                <a:lnTo>
                  <a:pt x="7495" y="0"/>
                </a:lnTo>
                <a:lnTo>
                  <a:pt x="7495" y="2669"/>
                </a:lnTo>
                <a:lnTo>
                  <a:pt x="0" y="2669"/>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438" name="Freeform 437"/>
          <p:cNvSpPr/>
          <p:nvPr/>
        </p:nvSpPr>
        <p:spPr>
          <a:xfrm>
            <a:off x="6035040" y="1097280"/>
            <a:ext cx="64800" cy="960840"/>
          </a:xfrm>
          <a:custGeom>
            <a:avLst/>
            <a:gdLst/>
            <a:ahLst/>
            <a:cxnLst/>
            <a:rect l="0" t="0" r="r" b="b"/>
            <a:pathLst>
              <a:path w="180" h="2669">
                <a:moveTo>
                  <a:pt x="0" y="0"/>
                </a:moveTo>
                <a:lnTo>
                  <a:pt x="180" y="0"/>
                </a:lnTo>
                <a:lnTo>
                  <a:pt x="180" y="2669"/>
                </a:lnTo>
                <a:lnTo>
                  <a:pt x="0" y="2669"/>
                </a:lnTo>
                <a:lnTo>
                  <a:pt x="0" y="0"/>
                </a:lnTo>
                <a:close/>
              </a:path>
            </a:pathLst>
          </a:custGeom>
          <a:solidFill>
            <a:srgbClr val="D97504"/>
          </a:solidFill>
          <a:ln w="12600">
            <a:solidFill>
              <a:srgbClr val="D97504"/>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439" name="TextBox 438"/>
          <p:cNvSpPr txBox="1"/>
          <p:nvPr/>
        </p:nvSpPr>
        <p:spPr>
          <a:xfrm>
            <a:off x="6208200" y="1188720"/>
            <a:ext cx="2424600" cy="537840"/>
          </a:xfrm>
          <a:prstGeom prst="rect">
            <a:avLst/>
          </a:prstGeom>
          <a:noFill/>
          <a:ln w="0">
            <a:noFill/>
          </a:ln>
        </p:spPr>
        <p:txBody>
          <a:bodyPr lIns="90000" tIns="45000" rIns="90000" bIns="45000" anchor="t">
            <a:noAutofit/>
          </a:bodyPr>
          <a:lstStyle/>
          <a:p>
            <a:r>
              <a:rPr lang="en-US" sz="2400" b="1" strike="noStrike" spc="-1">
                <a:solidFill>
                  <a:srgbClr val="D97504"/>
                </a:solidFill>
                <a:latin typeface="Calibri-Bold"/>
                <a:ea typeface="Calibri-Bold"/>
              </a:rPr>
              <a:t>2.82 pp</a:t>
            </a:r>
            <a:endParaRPr lang="en-US" sz="2400" b="0" strike="noStrike" spc="-1">
              <a:solidFill>
                <a:srgbClr val="000000"/>
              </a:solidFill>
              <a:latin typeface="Arial"/>
            </a:endParaRPr>
          </a:p>
        </p:txBody>
      </p:sp>
      <p:sp>
        <p:nvSpPr>
          <p:cNvPr id="440" name="TextBox 439"/>
          <p:cNvSpPr txBox="1"/>
          <p:nvPr/>
        </p:nvSpPr>
        <p:spPr>
          <a:xfrm>
            <a:off x="6208200" y="1711800"/>
            <a:ext cx="2424600" cy="398520"/>
          </a:xfrm>
          <a:prstGeom prst="rect">
            <a:avLst/>
          </a:prstGeom>
          <a:noFill/>
          <a:ln w="0">
            <a:noFill/>
          </a:ln>
        </p:spPr>
        <p:txBody>
          <a:bodyPr lIns="90000" tIns="45000" rIns="90000" bIns="45000" anchor="t">
            <a:noAutofit/>
          </a:bodyPr>
          <a:lstStyle/>
          <a:p>
            <a:r>
              <a:rPr lang="en-US" sz="1000" b="0" strike="noStrike" spc="-1">
                <a:solidFill>
                  <a:srgbClr val="62728B"/>
                </a:solidFill>
                <a:latin typeface="Calibri"/>
                <a:ea typeface="Calibri"/>
              </a:rPr>
              <a:t>Generalization Gap</a:t>
            </a:r>
            <a:endParaRPr lang="en-US" sz="1000" b="0" strike="noStrike" spc="-1">
              <a:solidFill>
                <a:srgbClr val="000000"/>
              </a:solidFill>
              <a:latin typeface="Arial"/>
            </a:endParaRPr>
          </a:p>
          <a:p>
            <a:r>
              <a:rPr lang="en-US" sz="1000" b="0" strike="noStrike" spc="-1">
                <a:solidFill>
                  <a:srgbClr val="62728B"/>
                </a:solidFill>
                <a:latin typeface="Calibri"/>
                <a:ea typeface="Calibri"/>
              </a:rPr>
              <a:t>(very low</a:t>
            </a:r>
            <a:r>
              <a:rPr lang="nl-NL" sz="1000" b="0" strike="noStrike" spc="-1">
                <a:solidFill>
                  <a:srgbClr val="62728B"/>
                </a:solidFill>
                <a:latin typeface="Calibri"/>
                <a:ea typeface="Calibri"/>
              </a:rPr>
              <a:t> overfitting</a:t>
            </a:r>
            <a:r>
              <a:rPr lang="en-US" sz="1000" b="0" strike="noStrike" spc="-1">
                <a:solidFill>
                  <a:srgbClr val="62728B"/>
                </a:solidFill>
                <a:latin typeface="Calibri"/>
                <a:ea typeface="Calibri"/>
              </a:rPr>
              <a:t>)</a:t>
            </a:r>
            <a:endParaRPr lang="en-US" sz="1000" b="0" strike="noStrike" spc="-1">
              <a:solidFill>
                <a:srgbClr val="000000"/>
              </a:solidFill>
              <a:latin typeface="Arial"/>
            </a:endParaRPr>
          </a:p>
        </p:txBody>
      </p:sp>
      <p:sp>
        <p:nvSpPr>
          <p:cNvPr id="441" name="Freeform 440"/>
          <p:cNvSpPr/>
          <p:nvPr/>
        </p:nvSpPr>
        <p:spPr>
          <a:xfrm>
            <a:off x="365760" y="2212920"/>
            <a:ext cx="4115520" cy="2561040"/>
          </a:xfrm>
          <a:custGeom>
            <a:avLst/>
            <a:gdLst/>
            <a:ahLst/>
            <a:cxnLst/>
            <a:rect l="0" t="0" r="r" b="b"/>
            <a:pathLst>
              <a:path w="11432" h="7114">
                <a:moveTo>
                  <a:pt x="0" y="0"/>
                </a:moveTo>
                <a:lnTo>
                  <a:pt x="11432" y="0"/>
                </a:lnTo>
                <a:lnTo>
                  <a:pt x="11432" y="7114"/>
                </a:lnTo>
                <a:lnTo>
                  <a:pt x="0" y="7114"/>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442" name="Freeform 441"/>
          <p:cNvSpPr/>
          <p:nvPr/>
        </p:nvSpPr>
        <p:spPr>
          <a:xfrm>
            <a:off x="365760" y="2212920"/>
            <a:ext cx="64800" cy="2561040"/>
          </a:xfrm>
          <a:custGeom>
            <a:avLst/>
            <a:gdLst/>
            <a:ahLst/>
            <a:cxnLst/>
            <a:rect l="0" t="0" r="r" b="b"/>
            <a:pathLst>
              <a:path w="180" h="7114">
                <a:moveTo>
                  <a:pt x="0" y="0"/>
                </a:moveTo>
                <a:lnTo>
                  <a:pt x="180" y="0"/>
                </a:lnTo>
                <a:lnTo>
                  <a:pt x="180" y="7114"/>
                </a:lnTo>
                <a:lnTo>
                  <a:pt x="0" y="7114"/>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443" name="TextBox 442"/>
          <p:cNvSpPr txBox="1"/>
          <p:nvPr/>
        </p:nvSpPr>
        <p:spPr>
          <a:xfrm>
            <a:off x="593640" y="2304360"/>
            <a:ext cx="3704760" cy="301680"/>
          </a:xfrm>
          <a:prstGeom prst="rect">
            <a:avLst/>
          </a:prstGeom>
          <a:noFill/>
          <a:ln w="0">
            <a:noFill/>
          </a:ln>
        </p:spPr>
        <p:txBody>
          <a:bodyPr lIns="90000" tIns="45000" rIns="90000" bIns="45000" anchor="t">
            <a:noAutofit/>
          </a:bodyPr>
          <a:lstStyle/>
          <a:p>
            <a:r>
              <a:rPr lang="en-US" sz="1200" b="1" strike="noStrike" spc="-1">
                <a:solidFill>
                  <a:srgbClr val="182C48"/>
                </a:solidFill>
                <a:latin typeface="Calibri-Bold"/>
                <a:ea typeface="Calibri-Bold"/>
              </a:rPr>
              <a:t>Training Curves — Observations</a:t>
            </a:r>
            <a:endParaRPr lang="en-US" sz="1200" b="0" strike="noStrike" spc="-1">
              <a:solidFill>
                <a:srgbClr val="000000"/>
              </a:solidFill>
              <a:latin typeface="Arial"/>
            </a:endParaRPr>
          </a:p>
        </p:txBody>
      </p:sp>
      <p:sp>
        <p:nvSpPr>
          <p:cNvPr id="444" name="TextBox 443"/>
          <p:cNvSpPr txBox="1"/>
          <p:nvPr/>
        </p:nvSpPr>
        <p:spPr>
          <a:xfrm>
            <a:off x="685080" y="2679120"/>
            <a:ext cx="3659040" cy="1125000"/>
          </a:xfrm>
          <a:prstGeom prst="rect">
            <a:avLst/>
          </a:prstGeom>
          <a:noFill/>
          <a:ln w="0">
            <a:noFill/>
          </a:ln>
        </p:spPr>
        <p:txBody>
          <a:bodyPr lIns="90000" tIns="45000" rIns="90000" bIns="45000" anchor="t">
            <a:noAutofit/>
          </a:bodyPr>
          <a:lstStyle/>
          <a:p>
            <a:r>
              <a:rPr lang="en-US" sz="1100" b="0" strike="noStrike" spc="-1" dirty="0">
                <a:solidFill>
                  <a:srgbClr val="1C2739"/>
                </a:solidFill>
                <a:latin typeface="Calibri"/>
                <a:ea typeface="Calibri"/>
              </a:rPr>
              <a:t>ConvNeXt converges quickly due to strong pre-training</a:t>
            </a:r>
            <a:endParaRPr lang="en-US" sz="1100" b="0" strike="noStrike" spc="-1" dirty="0">
              <a:solidFill>
                <a:srgbClr val="000000"/>
              </a:solidFill>
              <a:latin typeface="Arial"/>
            </a:endParaRPr>
          </a:p>
          <a:p>
            <a:r>
              <a:rPr lang="en-US" sz="1100" b="0" strike="noStrike" spc="-1" dirty="0">
                <a:solidFill>
                  <a:srgbClr val="1C2739"/>
                </a:solidFill>
                <a:latin typeface="Calibri"/>
                <a:ea typeface="Calibri"/>
              </a:rPr>
              <a:t>Stochastic depth regularization reduces overfitting</a:t>
            </a:r>
            <a:endParaRPr lang="en-US" sz="1100" b="0" strike="noStrike" spc="-1" dirty="0">
              <a:solidFill>
                <a:srgbClr val="000000"/>
              </a:solidFill>
              <a:latin typeface="Arial"/>
            </a:endParaRPr>
          </a:p>
          <a:p>
            <a:r>
              <a:rPr lang="en-US" sz="1100" b="0" strike="noStrike" spc="-1" dirty="0">
                <a:solidFill>
                  <a:srgbClr val="1C2739"/>
                </a:solidFill>
                <a:latin typeface="Calibri"/>
                <a:ea typeface="Calibri"/>
              </a:rPr>
              <a:t>Test/</a:t>
            </a:r>
            <a:r>
              <a:rPr lang="en-US" sz="1100" b="0" strike="noStrike" spc="-1" dirty="0" err="1">
                <a:solidFill>
                  <a:srgbClr val="1C2739"/>
                </a:solidFill>
                <a:latin typeface="Calibri"/>
                <a:ea typeface="Calibri"/>
              </a:rPr>
              <a:t>val</a:t>
            </a:r>
            <a:r>
              <a:rPr lang="en-US" sz="1100" b="0" strike="noStrike" spc="-1" dirty="0">
                <a:solidFill>
                  <a:srgbClr val="1C2739"/>
                </a:solidFill>
                <a:latin typeface="Calibri"/>
                <a:ea typeface="Calibri"/>
              </a:rPr>
              <a:t> gap 2.82 pp — very low overfitting</a:t>
            </a:r>
            <a:endParaRPr lang="en-US" sz="1100" b="0" strike="noStrike" spc="-1" dirty="0">
              <a:solidFill>
                <a:srgbClr val="000000"/>
              </a:solidFill>
              <a:latin typeface="Arial"/>
            </a:endParaRPr>
          </a:p>
          <a:p>
            <a:r>
              <a:rPr lang="en-US" sz="1100" b="0" strike="noStrike" spc="-1" dirty="0">
                <a:solidFill>
                  <a:srgbClr val="1C2739"/>
                </a:solidFill>
                <a:latin typeface="Calibri"/>
                <a:ea typeface="Calibri"/>
              </a:rPr>
              <a:t>Modern CNN architecture generalizes well on fine-grained</a:t>
            </a:r>
            <a:r>
              <a:rPr lang="nl-NL" sz="1100" b="0" strike="noStrike" spc="-1" dirty="0">
                <a:solidFill>
                  <a:srgbClr val="1C2739"/>
                </a:solidFill>
                <a:latin typeface="Calibri"/>
                <a:ea typeface="Calibri"/>
              </a:rPr>
              <a:t> </a:t>
            </a:r>
            <a:r>
              <a:rPr lang="en-US" sz="1100" b="0" strike="noStrike" spc="-1" dirty="0">
                <a:solidFill>
                  <a:srgbClr val="1C2739"/>
                </a:solidFill>
                <a:latin typeface="Calibri"/>
                <a:ea typeface="Calibri"/>
              </a:rPr>
              <a:t>task</a:t>
            </a:r>
            <a:endParaRPr lang="en-US" sz="1100" b="0" strike="noStrike" spc="-1" dirty="0">
              <a:solidFill>
                <a:srgbClr val="000000"/>
              </a:solidFill>
              <a:latin typeface="Arial"/>
            </a:endParaRPr>
          </a:p>
          <a:p>
            <a:r>
              <a:rPr lang="en-US" sz="1100" b="0" strike="noStrike" spc="-1" dirty="0">
                <a:solidFill>
                  <a:srgbClr val="1C2739"/>
                </a:solidFill>
                <a:latin typeface="Calibri"/>
                <a:ea typeface="Calibri"/>
              </a:rPr>
              <a:t>Best tradeoff between accuracy and training cost</a:t>
            </a:r>
            <a:endParaRPr lang="en-US" sz="1100" b="0" strike="noStrike" spc="-1" dirty="0">
              <a:solidFill>
                <a:srgbClr val="000000"/>
              </a:solidFill>
              <a:latin typeface="Arial"/>
            </a:endParaRPr>
          </a:p>
        </p:txBody>
      </p:sp>
      <p:sp>
        <p:nvSpPr>
          <p:cNvPr id="445" name="Freeform 444"/>
          <p:cNvSpPr/>
          <p:nvPr/>
        </p:nvSpPr>
        <p:spPr>
          <a:xfrm>
            <a:off x="4663440" y="2212920"/>
            <a:ext cx="4115520" cy="2561040"/>
          </a:xfrm>
          <a:custGeom>
            <a:avLst/>
            <a:gdLst/>
            <a:ahLst/>
            <a:cxnLst/>
            <a:rect l="0" t="0" r="r" b="b"/>
            <a:pathLst>
              <a:path w="11432" h="7114">
                <a:moveTo>
                  <a:pt x="0" y="0"/>
                </a:moveTo>
                <a:lnTo>
                  <a:pt x="11432" y="0"/>
                </a:lnTo>
                <a:lnTo>
                  <a:pt x="11432" y="7114"/>
                </a:lnTo>
                <a:lnTo>
                  <a:pt x="0" y="7114"/>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446" name="Freeform 445"/>
          <p:cNvSpPr/>
          <p:nvPr/>
        </p:nvSpPr>
        <p:spPr>
          <a:xfrm>
            <a:off x="4663440" y="2212920"/>
            <a:ext cx="64800" cy="2561040"/>
          </a:xfrm>
          <a:custGeom>
            <a:avLst/>
            <a:gdLst/>
            <a:ahLst/>
            <a:cxnLst/>
            <a:rect l="0" t="0" r="r" b="b"/>
            <a:pathLst>
              <a:path w="180" h="7114">
                <a:moveTo>
                  <a:pt x="0" y="0"/>
                </a:moveTo>
                <a:lnTo>
                  <a:pt x="180" y="0"/>
                </a:lnTo>
                <a:lnTo>
                  <a:pt x="180" y="7114"/>
                </a:lnTo>
                <a:lnTo>
                  <a:pt x="0" y="7114"/>
                </a:lnTo>
                <a:lnTo>
                  <a:pt x="0" y="0"/>
                </a:lnTo>
                <a:close/>
              </a:path>
            </a:pathLst>
          </a:custGeom>
          <a:solidFill>
            <a:srgbClr val="7A38ED"/>
          </a:solidFill>
          <a:ln w="12600">
            <a:solidFill>
              <a:srgbClr val="7A38ED"/>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447" name="TextBox 446"/>
          <p:cNvSpPr txBox="1"/>
          <p:nvPr/>
        </p:nvSpPr>
        <p:spPr>
          <a:xfrm>
            <a:off x="4891320" y="2304360"/>
            <a:ext cx="3659040" cy="301680"/>
          </a:xfrm>
          <a:prstGeom prst="rect">
            <a:avLst/>
          </a:prstGeom>
          <a:noFill/>
          <a:ln w="0">
            <a:noFill/>
          </a:ln>
        </p:spPr>
        <p:txBody>
          <a:bodyPr lIns="90000" tIns="45000" rIns="90000" bIns="45000" anchor="t">
            <a:noAutofit/>
          </a:bodyPr>
          <a:lstStyle/>
          <a:p>
            <a:r>
              <a:rPr lang="en-US" sz="1200" b="1" strike="noStrike" spc="-1">
                <a:solidFill>
                  <a:srgbClr val="182C48"/>
                </a:solidFill>
                <a:latin typeface="Calibri-Bold"/>
                <a:ea typeface="Calibri-Bold"/>
              </a:rPr>
              <a:t>Ablation Experiments</a:t>
            </a:r>
            <a:endParaRPr lang="en-US" sz="1200" b="0" strike="noStrike" spc="-1">
              <a:solidFill>
                <a:srgbClr val="000000"/>
              </a:solidFill>
              <a:latin typeface="Arial"/>
            </a:endParaRPr>
          </a:p>
        </p:txBody>
      </p:sp>
      <p:sp>
        <p:nvSpPr>
          <p:cNvPr id="448" name="Freeform 447"/>
          <p:cNvSpPr/>
          <p:nvPr/>
        </p:nvSpPr>
        <p:spPr>
          <a:xfrm>
            <a:off x="4827960" y="2679120"/>
            <a:ext cx="3786480" cy="275040"/>
          </a:xfrm>
          <a:custGeom>
            <a:avLst/>
            <a:gdLst/>
            <a:ahLst/>
            <a:cxnLst/>
            <a:rect l="0" t="0" r="r" b="b"/>
            <a:pathLst>
              <a:path w="10518" h="764">
                <a:moveTo>
                  <a:pt x="0" y="0"/>
                </a:moveTo>
                <a:lnTo>
                  <a:pt x="10518" y="0"/>
                </a:lnTo>
                <a:lnTo>
                  <a:pt x="10518" y="764"/>
                </a:lnTo>
                <a:lnTo>
                  <a:pt x="0" y="764"/>
                </a:lnTo>
                <a:lnTo>
                  <a:pt x="0" y="0"/>
                </a:lnTo>
                <a:close/>
              </a:path>
            </a:pathLst>
          </a:custGeom>
          <a:solidFill>
            <a:srgbClr val="182C48"/>
          </a:solidFill>
          <a:ln w="12600">
            <a:solidFill>
              <a:srgbClr val="182C48"/>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449" name="TextBox 448"/>
          <p:cNvSpPr txBox="1"/>
          <p:nvPr/>
        </p:nvSpPr>
        <p:spPr>
          <a:xfrm>
            <a:off x="4937040" y="2679120"/>
            <a:ext cx="1738800" cy="274320"/>
          </a:xfrm>
          <a:prstGeom prst="rect">
            <a:avLst/>
          </a:prstGeom>
          <a:noFill/>
          <a:ln w="0">
            <a:noFill/>
          </a:ln>
        </p:spPr>
        <p:txBody>
          <a:bodyPr lIns="90000" tIns="45000" rIns="90000" bIns="45000" anchor="t">
            <a:noAutofit/>
          </a:bodyPr>
          <a:lstStyle/>
          <a:p>
            <a:r>
              <a:rPr lang="en-US" sz="900" b="1" strike="noStrike" spc="-1">
                <a:solidFill>
                  <a:srgbClr val="FFFFFF"/>
                </a:solidFill>
                <a:latin typeface="Calibri-Bold"/>
                <a:ea typeface="Calibri-Bold"/>
              </a:rPr>
              <a:t>Configuration</a:t>
            </a:r>
            <a:endParaRPr lang="en-US" sz="900" b="0" strike="noStrike" spc="-1">
              <a:solidFill>
                <a:srgbClr val="000000"/>
              </a:solidFill>
              <a:latin typeface="Arial"/>
            </a:endParaRPr>
          </a:p>
        </p:txBody>
      </p:sp>
      <p:sp>
        <p:nvSpPr>
          <p:cNvPr id="450" name="TextBox 449"/>
          <p:cNvSpPr txBox="1"/>
          <p:nvPr/>
        </p:nvSpPr>
        <p:spPr>
          <a:xfrm>
            <a:off x="6811560" y="2679120"/>
            <a:ext cx="732960" cy="274320"/>
          </a:xfrm>
          <a:prstGeom prst="rect">
            <a:avLst/>
          </a:prstGeom>
          <a:noFill/>
          <a:ln w="0">
            <a:noFill/>
          </a:ln>
        </p:spPr>
        <p:txBody>
          <a:bodyPr lIns="90000" tIns="45000" rIns="90000" bIns="45000" anchor="t">
            <a:noAutofit/>
          </a:bodyPr>
          <a:lstStyle/>
          <a:p>
            <a:r>
              <a:rPr lang="en-US" sz="900" b="1" strike="noStrike" spc="-1">
                <a:solidFill>
                  <a:srgbClr val="FFFFFF"/>
                </a:solidFill>
                <a:latin typeface="Calibri-Bold"/>
                <a:ea typeface="Calibri-Bold"/>
              </a:rPr>
              <a:t>Test Acc</a:t>
            </a:r>
            <a:endParaRPr lang="en-US" sz="900" b="0" strike="noStrike" spc="-1">
              <a:solidFill>
                <a:srgbClr val="000000"/>
              </a:solidFill>
              <a:latin typeface="Arial"/>
            </a:endParaRPr>
          </a:p>
        </p:txBody>
      </p:sp>
      <p:sp>
        <p:nvSpPr>
          <p:cNvPr id="451" name="TextBox 450"/>
          <p:cNvSpPr txBox="1"/>
          <p:nvPr/>
        </p:nvSpPr>
        <p:spPr>
          <a:xfrm>
            <a:off x="7680240" y="2679120"/>
            <a:ext cx="732960" cy="274320"/>
          </a:xfrm>
          <a:prstGeom prst="rect">
            <a:avLst/>
          </a:prstGeom>
          <a:noFill/>
          <a:ln w="0">
            <a:noFill/>
          </a:ln>
        </p:spPr>
        <p:txBody>
          <a:bodyPr lIns="90000" tIns="45000" rIns="90000" bIns="45000" anchor="t">
            <a:noAutofit/>
          </a:bodyPr>
          <a:lstStyle/>
          <a:p>
            <a:r>
              <a:rPr lang="en-US" sz="900" b="1" strike="noStrike" spc="-1">
                <a:solidFill>
                  <a:srgbClr val="FFFFFF"/>
                </a:solidFill>
                <a:latin typeface="Calibri-Bold"/>
                <a:ea typeface="Calibri-Bold"/>
              </a:rPr>
              <a:t>Note</a:t>
            </a:r>
            <a:endParaRPr lang="en-US" sz="900" b="0" strike="noStrike" spc="-1">
              <a:solidFill>
                <a:srgbClr val="000000"/>
              </a:solidFill>
              <a:latin typeface="Arial"/>
            </a:endParaRPr>
          </a:p>
        </p:txBody>
      </p:sp>
      <p:sp>
        <p:nvSpPr>
          <p:cNvPr id="452" name="Freeform 451"/>
          <p:cNvSpPr/>
          <p:nvPr/>
        </p:nvSpPr>
        <p:spPr>
          <a:xfrm>
            <a:off x="4827960" y="2990160"/>
            <a:ext cx="3786480" cy="302400"/>
          </a:xfrm>
          <a:custGeom>
            <a:avLst/>
            <a:gdLst/>
            <a:ahLst/>
            <a:cxnLst/>
            <a:rect l="0" t="0" r="r" b="b"/>
            <a:pathLst>
              <a:path w="10518" h="840">
                <a:moveTo>
                  <a:pt x="0" y="0"/>
                </a:moveTo>
                <a:lnTo>
                  <a:pt x="10518" y="0"/>
                </a:lnTo>
                <a:lnTo>
                  <a:pt x="10518"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453" name="TextBox 452"/>
          <p:cNvSpPr txBox="1"/>
          <p:nvPr/>
        </p:nvSpPr>
        <p:spPr>
          <a:xfrm>
            <a:off x="4937040" y="3035880"/>
            <a:ext cx="1693080" cy="229320"/>
          </a:xfrm>
          <a:prstGeom prst="rect">
            <a:avLst/>
          </a:prstGeom>
          <a:noFill/>
          <a:ln w="0">
            <a:noFill/>
          </a:ln>
        </p:spPr>
        <p:txBody>
          <a:bodyPr lIns="90000" tIns="45000" rIns="90000" bIns="45000" anchor="t">
            <a:noAutofit/>
          </a:bodyPr>
          <a:lstStyle/>
          <a:p>
            <a:r>
              <a:rPr lang="en-US" sz="900" spc="-1" dirty="0">
                <a:solidFill>
                  <a:srgbClr val="1C2739"/>
                </a:solidFill>
                <a:latin typeface="Calibri"/>
                <a:ea typeface="Calibri"/>
              </a:rPr>
              <a:t>Exp2 — </a:t>
            </a:r>
            <a:r>
              <a:rPr lang="en-US" sz="900" spc="-1" dirty="0" err="1">
                <a:solidFill>
                  <a:srgbClr val="1C2739"/>
                </a:solidFill>
                <a:latin typeface="Calibri"/>
                <a:ea typeface="Calibri"/>
              </a:rPr>
              <a:t>lr</a:t>
            </a:r>
            <a:r>
              <a:rPr lang="en-US" sz="900" spc="-1" dirty="0">
                <a:solidFill>
                  <a:srgbClr val="1C2739"/>
                </a:solidFill>
                <a:latin typeface="Calibri"/>
                <a:ea typeface="Calibri"/>
              </a:rPr>
              <a:t>=5e-4, </a:t>
            </a:r>
            <a:r>
              <a:rPr lang="en-US" sz="900" spc="-1" dirty="0" err="1">
                <a:solidFill>
                  <a:srgbClr val="1C2739"/>
                </a:solidFill>
                <a:latin typeface="Calibri"/>
                <a:ea typeface="Calibri"/>
              </a:rPr>
              <a:t>img</a:t>
            </a:r>
            <a:r>
              <a:rPr lang="en-US" sz="900" spc="-1" dirty="0">
                <a:solidFill>
                  <a:srgbClr val="1C2739"/>
                </a:solidFill>
                <a:latin typeface="Calibri"/>
                <a:ea typeface="Calibri"/>
              </a:rPr>
              <a:t>=256, ep=20</a:t>
            </a:r>
            <a:endParaRPr lang="en-US" sz="900" b="0" strike="noStrike" spc="-1" dirty="0">
              <a:solidFill>
                <a:srgbClr val="000000"/>
              </a:solidFill>
              <a:latin typeface="Arial"/>
            </a:endParaRPr>
          </a:p>
        </p:txBody>
      </p:sp>
      <p:sp>
        <p:nvSpPr>
          <p:cNvPr id="454" name="TextBox 453"/>
          <p:cNvSpPr txBox="1"/>
          <p:nvPr/>
        </p:nvSpPr>
        <p:spPr>
          <a:xfrm>
            <a:off x="6811560" y="3035880"/>
            <a:ext cx="732960" cy="224640"/>
          </a:xfrm>
          <a:prstGeom prst="rect">
            <a:avLst/>
          </a:prstGeom>
          <a:noFill/>
          <a:ln w="0">
            <a:noFill/>
          </a:ln>
        </p:spPr>
        <p:txBody>
          <a:bodyPr lIns="90000" tIns="45000" rIns="90000" bIns="45000" anchor="t">
            <a:noAutofit/>
          </a:bodyPr>
          <a:lstStyle/>
          <a:p>
            <a:r>
              <a:rPr lang="en-US" sz="900" b="1" strike="noStrike" spc="-1">
                <a:solidFill>
                  <a:srgbClr val="039667"/>
                </a:solidFill>
                <a:latin typeface="Calibri-Bold"/>
                <a:ea typeface="Calibri-Bold"/>
              </a:rPr>
              <a:t>94.06%</a:t>
            </a:r>
            <a:endParaRPr lang="en-US" sz="900" b="0" strike="noStrike" spc="-1">
              <a:solidFill>
                <a:srgbClr val="000000"/>
              </a:solidFill>
              <a:latin typeface="Arial"/>
            </a:endParaRPr>
          </a:p>
        </p:txBody>
      </p:sp>
      <p:sp>
        <p:nvSpPr>
          <p:cNvPr id="455" name="TextBox 454"/>
          <p:cNvSpPr txBox="1"/>
          <p:nvPr/>
        </p:nvSpPr>
        <p:spPr>
          <a:xfrm>
            <a:off x="7680240" y="3035880"/>
            <a:ext cx="732960" cy="229320"/>
          </a:xfrm>
          <a:prstGeom prst="rect">
            <a:avLst/>
          </a:prstGeom>
          <a:noFill/>
          <a:ln w="0">
            <a:noFill/>
          </a:ln>
        </p:spPr>
        <p:txBody>
          <a:bodyPr lIns="90000" tIns="45000" rIns="90000" bIns="45000" anchor="t">
            <a:noAutofit/>
          </a:bodyPr>
          <a:lstStyle/>
          <a:p>
            <a:r>
              <a:rPr lang="en-US" sz="900" b="0" strike="noStrike" spc="-1">
                <a:solidFill>
                  <a:srgbClr val="62728B"/>
                </a:solidFill>
                <a:latin typeface="Calibri"/>
                <a:ea typeface="Calibri"/>
              </a:rPr>
              <a:t>✅ Best</a:t>
            </a:r>
            <a:endParaRPr lang="en-US" sz="900" b="0" strike="noStrike" spc="-1">
              <a:solidFill>
                <a:srgbClr val="000000"/>
              </a:solidFill>
              <a:latin typeface="Arial"/>
            </a:endParaRPr>
          </a:p>
        </p:txBody>
      </p:sp>
      <p:sp>
        <p:nvSpPr>
          <p:cNvPr id="456" name="Freeform 455"/>
          <p:cNvSpPr/>
          <p:nvPr/>
        </p:nvSpPr>
        <p:spPr>
          <a:xfrm>
            <a:off x="4827960" y="3328560"/>
            <a:ext cx="3786480" cy="302400"/>
          </a:xfrm>
          <a:custGeom>
            <a:avLst/>
            <a:gdLst/>
            <a:ahLst/>
            <a:cxnLst/>
            <a:rect l="0" t="0" r="r" b="b"/>
            <a:pathLst>
              <a:path w="10518" h="840">
                <a:moveTo>
                  <a:pt x="0" y="0"/>
                </a:moveTo>
                <a:lnTo>
                  <a:pt x="10518" y="0"/>
                </a:lnTo>
                <a:lnTo>
                  <a:pt x="10518"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457" name="TextBox 456"/>
          <p:cNvSpPr txBox="1"/>
          <p:nvPr/>
        </p:nvSpPr>
        <p:spPr>
          <a:xfrm>
            <a:off x="4937040" y="3374280"/>
            <a:ext cx="1693080" cy="229320"/>
          </a:xfrm>
          <a:prstGeom prst="rect">
            <a:avLst/>
          </a:prstGeom>
          <a:noFill/>
          <a:ln w="0">
            <a:noFill/>
          </a:ln>
        </p:spPr>
        <p:txBody>
          <a:bodyPr lIns="90000" tIns="45000" rIns="90000" bIns="45000" anchor="t">
            <a:noAutofit/>
          </a:bodyPr>
          <a:lstStyle/>
          <a:p>
            <a:r>
              <a:rPr lang="en-US" sz="900" b="0" strike="noStrike" spc="-1" dirty="0">
                <a:solidFill>
                  <a:srgbClr val="1C2739"/>
                </a:solidFill>
                <a:latin typeface="Calibri"/>
                <a:ea typeface="Calibri"/>
              </a:rPr>
              <a:t>exp1 — </a:t>
            </a:r>
            <a:r>
              <a:rPr lang="en-US" sz="900" b="0" strike="noStrike" spc="-1" dirty="0" err="1">
                <a:solidFill>
                  <a:srgbClr val="1C2739"/>
                </a:solidFill>
                <a:latin typeface="Calibri"/>
                <a:ea typeface="Calibri"/>
              </a:rPr>
              <a:t>lr</a:t>
            </a:r>
            <a:r>
              <a:rPr lang="en-US" sz="900" b="0" strike="noStrike" spc="-1" dirty="0">
                <a:solidFill>
                  <a:srgbClr val="1C2739"/>
                </a:solidFill>
                <a:latin typeface="Calibri"/>
                <a:ea typeface="Calibri"/>
              </a:rPr>
              <a:t>=5e-4, </a:t>
            </a:r>
            <a:r>
              <a:rPr lang="en-US" sz="900" b="0" strike="noStrike" spc="-1" dirty="0" err="1">
                <a:solidFill>
                  <a:srgbClr val="1C2739"/>
                </a:solidFill>
                <a:latin typeface="Calibri"/>
                <a:ea typeface="Calibri"/>
              </a:rPr>
              <a:t>img</a:t>
            </a:r>
            <a:r>
              <a:rPr lang="en-US" sz="900" b="0" strike="noStrike" spc="-1" dirty="0">
                <a:solidFill>
                  <a:srgbClr val="1C2739"/>
                </a:solidFill>
                <a:latin typeface="Calibri"/>
                <a:ea typeface="Calibri"/>
              </a:rPr>
              <a:t>=224</a:t>
            </a:r>
            <a:endParaRPr lang="en-US" sz="900" b="0" strike="noStrike" spc="-1" dirty="0">
              <a:solidFill>
                <a:srgbClr val="000000"/>
              </a:solidFill>
              <a:latin typeface="Arial"/>
            </a:endParaRPr>
          </a:p>
        </p:txBody>
      </p:sp>
      <p:sp>
        <p:nvSpPr>
          <p:cNvPr id="458" name="TextBox 457"/>
          <p:cNvSpPr txBox="1"/>
          <p:nvPr/>
        </p:nvSpPr>
        <p:spPr>
          <a:xfrm>
            <a:off x="6811560" y="3374280"/>
            <a:ext cx="732960" cy="224640"/>
          </a:xfrm>
          <a:prstGeom prst="rect">
            <a:avLst/>
          </a:prstGeom>
          <a:noFill/>
          <a:ln w="0">
            <a:noFill/>
          </a:ln>
        </p:spPr>
        <p:txBody>
          <a:bodyPr lIns="90000" tIns="45000" rIns="90000" bIns="45000" anchor="t">
            <a:noAutofit/>
          </a:bodyPr>
          <a:lstStyle/>
          <a:p>
            <a:r>
              <a:rPr lang="en-US" sz="900" b="1" strike="noStrike" spc="-1">
                <a:solidFill>
                  <a:srgbClr val="525252"/>
                </a:solidFill>
                <a:latin typeface="Calibri-Bold"/>
                <a:ea typeface="Calibri-Bold"/>
              </a:rPr>
              <a:t>93.30%</a:t>
            </a:r>
            <a:endParaRPr lang="en-US" sz="900" b="0" strike="noStrike" spc="-1">
              <a:solidFill>
                <a:srgbClr val="000000"/>
              </a:solidFill>
              <a:latin typeface="Arial"/>
            </a:endParaRPr>
          </a:p>
        </p:txBody>
      </p:sp>
      <p:sp>
        <p:nvSpPr>
          <p:cNvPr id="459" name="TextBox 458"/>
          <p:cNvSpPr txBox="1"/>
          <p:nvPr/>
        </p:nvSpPr>
        <p:spPr>
          <a:xfrm>
            <a:off x="7680240" y="3374280"/>
            <a:ext cx="732960" cy="229320"/>
          </a:xfrm>
          <a:prstGeom prst="rect">
            <a:avLst/>
          </a:prstGeom>
          <a:noFill/>
          <a:ln w="0">
            <a:noFill/>
          </a:ln>
        </p:spPr>
        <p:txBody>
          <a:bodyPr lIns="90000" tIns="45000" rIns="90000" bIns="45000" anchor="t">
            <a:noAutofit/>
          </a:bodyPr>
          <a:lstStyle/>
          <a:p>
            <a:r>
              <a:rPr lang="en-US" sz="900" b="0" strike="noStrike" spc="-1">
                <a:solidFill>
                  <a:srgbClr val="62728B"/>
                </a:solidFill>
                <a:latin typeface="Calibri"/>
                <a:ea typeface="Calibri"/>
              </a:rPr>
              <a:t>smaller img</a:t>
            </a:r>
            <a:endParaRPr lang="en-US" sz="900" b="0" strike="noStrike" spc="-1">
              <a:solidFill>
                <a:srgbClr val="000000"/>
              </a:solidFill>
              <a:latin typeface="Arial"/>
            </a:endParaRPr>
          </a:p>
        </p:txBody>
      </p:sp>
      <p:sp>
        <p:nvSpPr>
          <p:cNvPr id="460" name="Freeform 459"/>
          <p:cNvSpPr/>
          <p:nvPr/>
        </p:nvSpPr>
        <p:spPr>
          <a:xfrm>
            <a:off x="4827960" y="3666600"/>
            <a:ext cx="3786480" cy="302400"/>
          </a:xfrm>
          <a:custGeom>
            <a:avLst/>
            <a:gdLst/>
            <a:ahLst/>
            <a:cxnLst/>
            <a:rect l="0" t="0" r="r" b="b"/>
            <a:pathLst>
              <a:path w="10518" h="840">
                <a:moveTo>
                  <a:pt x="0" y="0"/>
                </a:moveTo>
                <a:lnTo>
                  <a:pt x="10518" y="0"/>
                </a:lnTo>
                <a:lnTo>
                  <a:pt x="10518"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461" name="TextBox 460"/>
          <p:cNvSpPr txBox="1"/>
          <p:nvPr/>
        </p:nvSpPr>
        <p:spPr>
          <a:xfrm>
            <a:off x="4937040" y="3712320"/>
            <a:ext cx="1693080" cy="229320"/>
          </a:xfrm>
          <a:prstGeom prst="rect">
            <a:avLst/>
          </a:prstGeom>
          <a:noFill/>
          <a:ln w="0">
            <a:noFill/>
          </a:ln>
        </p:spPr>
        <p:txBody>
          <a:bodyPr lIns="90000" tIns="45000" rIns="90000" bIns="45000" anchor="t">
            <a:noAutofit/>
          </a:bodyPr>
          <a:lstStyle/>
          <a:p>
            <a:r>
              <a:rPr lang="en-US" sz="900" b="0" strike="noStrike" spc="-1">
                <a:solidFill>
                  <a:srgbClr val="1C2739"/>
                </a:solidFill>
                <a:latin typeface="Calibri"/>
                <a:ea typeface="Calibri"/>
              </a:rPr>
              <a:t>exp3 — classifier only</a:t>
            </a:r>
            <a:endParaRPr lang="en-US" sz="900" b="0" strike="noStrike" spc="-1">
              <a:solidFill>
                <a:srgbClr val="000000"/>
              </a:solidFill>
              <a:latin typeface="Arial"/>
            </a:endParaRPr>
          </a:p>
        </p:txBody>
      </p:sp>
      <p:sp>
        <p:nvSpPr>
          <p:cNvPr id="462" name="TextBox 461"/>
          <p:cNvSpPr txBox="1"/>
          <p:nvPr/>
        </p:nvSpPr>
        <p:spPr>
          <a:xfrm>
            <a:off x="6811560" y="3712320"/>
            <a:ext cx="732960" cy="224640"/>
          </a:xfrm>
          <a:prstGeom prst="rect">
            <a:avLst/>
          </a:prstGeom>
          <a:noFill/>
          <a:ln w="0">
            <a:noFill/>
          </a:ln>
        </p:spPr>
        <p:txBody>
          <a:bodyPr lIns="90000" tIns="45000" rIns="90000" bIns="45000" anchor="t">
            <a:noAutofit/>
          </a:bodyPr>
          <a:lstStyle/>
          <a:p>
            <a:r>
              <a:rPr lang="en-US" sz="900" b="1" strike="noStrike" spc="-1">
                <a:solidFill>
                  <a:srgbClr val="525252"/>
                </a:solidFill>
                <a:latin typeface="Calibri-Bold"/>
                <a:ea typeface="Calibri-Bold"/>
              </a:rPr>
              <a:t>92.48%</a:t>
            </a:r>
            <a:endParaRPr lang="en-US" sz="900" b="0" strike="noStrike" spc="-1">
              <a:solidFill>
                <a:srgbClr val="000000"/>
              </a:solidFill>
              <a:latin typeface="Arial"/>
            </a:endParaRPr>
          </a:p>
        </p:txBody>
      </p:sp>
      <p:sp>
        <p:nvSpPr>
          <p:cNvPr id="463" name="TextBox 462"/>
          <p:cNvSpPr txBox="1"/>
          <p:nvPr/>
        </p:nvSpPr>
        <p:spPr>
          <a:xfrm>
            <a:off x="7680240" y="3712320"/>
            <a:ext cx="732960" cy="229320"/>
          </a:xfrm>
          <a:prstGeom prst="rect">
            <a:avLst/>
          </a:prstGeom>
          <a:noFill/>
          <a:ln w="0">
            <a:noFill/>
          </a:ln>
        </p:spPr>
        <p:txBody>
          <a:bodyPr lIns="90000" tIns="45000" rIns="90000" bIns="45000" anchor="t">
            <a:noAutofit/>
          </a:bodyPr>
          <a:lstStyle/>
          <a:p>
            <a:r>
              <a:rPr lang="en-US" sz="900" b="0" strike="noStrike" spc="-1">
                <a:solidFill>
                  <a:srgbClr val="62728B"/>
                </a:solidFill>
                <a:latin typeface="Calibri"/>
                <a:ea typeface="Calibri"/>
              </a:rPr>
              <a:t>head only</a:t>
            </a:r>
            <a:endParaRPr lang="en-US" sz="900" b="0" strike="noStrike" spc="-1">
              <a:solidFill>
                <a:srgbClr val="000000"/>
              </a:solidFill>
              <a:latin typeface="Arial"/>
            </a:endParaRPr>
          </a:p>
        </p:txBody>
      </p:sp>
      <p:sp>
        <p:nvSpPr>
          <p:cNvPr id="464" name="Freeform 463"/>
          <p:cNvSpPr/>
          <p:nvPr/>
        </p:nvSpPr>
        <p:spPr>
          <a:xfrm>
            <a:off x="4827960" y="4005000"/>
            <a:ext cx="3786480" cy="302400"/>
          </a:xfrm>
          <a:custGeom>
            <a:avLst/>
            <a:gdLst/>
            <a:ahLst/>
            <a:cxnLst/>
            <a:rect l="0" t="0" r="r" b="b"/>
            <a:pathLst>
              <a:path w="10518" h="840">
                <a:moveTo>
                  <a:pt x="0" y="0"/>
                </a:moveTo>
                <a:lnTo>
                  <a:pt x="10518" y="0"/>
                </a:lnTo>
                <a:lnTo>
                  <a:pt x="10518"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465" name="TextBox 464"/>
          <p:cNvSpPr txBox="1"/>
          <p:nvPr/>
        </p:nvSpPr>
        <p:spPr>
          <a:xfrm>
            <a:off x="4937040" y="4050720"/>
            <a:ext cx="1693080" cy="229320"/>
          </a:xfrm>
          <a:prstGeom prst="rect">
            <a:avLst/>
          </a:prstGeom>
          <a:noFill/>
          <a:ln w="0">
            <a:noFill/>
          </a:ln>
        </p:spPr>
        <p:txBody>
          <a:bodyPr lIns="90000" tIns="45000" rIns="90000" bIns="45000" anchor="t">
            <a:noAutofit/>
          </a:bodyPr>
          <a:lstStyle/>
          <a:p>
            <a:r>
              <a:rPr lang="en-US" sz="900" b="0" strike="noStrike" spc="-1">
                <a:solidFill>
                  <a:srgbClr val="1C2739"/>
                </a:solidFill>
                <a:latin typeface="Calibri"/>
                <a:ea typeface="Calibri"/>
              </a:rPr>
              <a:t>exp4 — last_two_blocks</a:t>
            </a:r>
            <a:endParaRPr lang="en-US" sz="900" b="0" strike="noStrike" spc="-1">
              <a:solidFill>
                <a:srgbClr val="000000"/>
              </a:solidFill>
              <a:latin typeface="Arial"/>
            </a:endParaRPr>
          </a:p>
        </p:txBody>
      </p:sp>
      <p:sp>
        <p:nvSpPr>
          <p:cNvPr id="466" name="TextBox 465"/>
          <p:cNvSpPr txBox="1"/>
          <p:nvPr/>
        </p:nvSpPr>
        <p:spPr>
          <a:xfrm>
            <a:off x="6811560" y="4050720"/>
            <a:ext cx="732960" cy="224640"/>
          </a:xfrm>
          <a:prstGeom prst="rect">
            <a:avLst/>
          </a:prstGeom>
          <a:noFill/>
          <a:ln w="0">
            <a:noFill/>
          </a:ln>
        </p:spPr>
        <p:txBody>
          <a:bodyPr lIns="90000" tIns="45000" rIns="90000" bIns="45000" anchor="t">
            <a:noAutofit/>
          </a:bodyPr>
          <a:lstStyle/>
          <a:p>
            <a:r>
              <a:rPr lang="en-US" sz="900" b="1" strike="noStrike" spc="-1">
                <a:solidFill>
                  <a:srgbClr val="525252"/>
                </a:solidFill>
                <a:latin typeface="Calibri-Bold"/>
                <a:ea typeface="Calibri-Bold"/>
              </a:rPr>
              <a:t>93.87%</a:t>
            </a:r>
            <a:endParaRPr lang="en-US" sz="900" b="0" strike="noStrike" spc="-1">
              <a:solidFill>
                <a:srgbClr val="000000"/>
              </a:solidFill>
              <a:latin typeface="Arial"/>
            </a:endParaRPr>
          </a:p>
        </p:txBody>
      </p:sp>
      <p:sp>
        <p:nvSpPr>
          <p:cNvPr id="467" name="TextBox 466"/>
          <p:cNvSpPr txBox="1"/>
          <p:nvPr/>
        </p:nvSpPr>
        <p:spPr>
          <a:xfrm>
            <a:off x="7680240" y="4050720"/>
            <a:ext cx="732960" cy="368280"/>
          </a:xfrm>
          <a:prstGeom prst="rect">
            <a:avLst/>
          </a:prstGeom>
          <a:noFill/>
          <a:ln w="0">
            <a:noFill/>
          </a:ln>
        </p:spPr>
        <p:txBody>
          <a:bodyPr lIns="90000" tIns="45000" rIns="90000" bIns="45000" anchor="t">
            <a:noAutofit/>
          </a:bodyPr>
          <a:lstStyle/>
          <a:p>
            <a:r>
              <a:rPr lang="en-US" sz="900" b="0" strike="noStrike" spc="-1">
                <a:solidFill>
                  <a:srgbClr val="62728B"/>
                </a:solidFill>
                <a:latin typeface="Calibri"/>
                <a:ea typeface="Calibri"/>
              </a:rPr>
              <a:t>💀 more lyr</a:t>
            </a:r>
            <a:endParaRPr lang="en-US" sz="900" b="0" strike="noStrike" spc="-1">
              <a:solidFill>
                <a:srgbClr val="000000"/>
              </a:solidFill>
              <a:latin typeface="Arial"/>
            </a:endParaRPr>
          </a:p>
        </p:txBody>
      </p:sp>
      <p:sp>
        <p:nvSpPr>
          <p:cNvPr id="468" name="Freeform 467"/>
          <p:cNvSpPr/>
          <p:nvPr/>
        </p:nvSpPr>
        <p:spPr>
          <a:xfrm>
            <a:off x="4827960" y="4343400"/>
            <a:ext cx="3786480" cy="302400"/>
          </a:xfrm>
          <a:custGeom>
            <a:avLst/>
            <a:gdLst/>
            <a:ahLst/>
            <a:cxnLst/>
            <a:rect l="0" t="0" r="r" b="b"/>
            <a:pathLst>
              <a:path w="10518" h="840">
                <a:moveTo>
                  <a:pt x="0" y="0"/>
                </a:moveTo>
                <a:lnTo>
                  <a:pt x="10518" y="0"/>
                </a:lnTo>
                <a:lnTo>
                  <a:pt x="10518"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469" name="TextBox 468"/>
          <p:cNvSpPr txBox="1"/>
          <p:nvPr/>
        </p:nvSpPr>
        <p:spPr>
          <a:xfrm>
            <a:off x="4937040" y="4389120"/>
            <a:ext cx="1693080" cy="229320"/>
          </a:xfrm>
          <a:prstGeom prst="rect">
            <a:avLst/>
          </a:prstGeom>
          <a:noFill/>
          <a:ln w="0">
            <a:noFill/>
          </a:ln>
        </p:spPr>
        <p:txBody>
          <a:bodyPr lIns="90000" tIns="45000" rIns="90000" bIns="45000" anchor="t">
            <a:noAutofit/>
          </a:bodyPr>
          <a:lstStyle/>
          <a:p>
            <a:r>
              <a:rPr lang="en-US" sz="900" b="0" strike="noStrike" spc="-1">
                <a:solidFill>
                  <a:srgbClr val="1C2739"/>
                </a:solidFill>
                <a:latin typeface="Calibri"/>
                <a:ea typeface="Calibri"/>
              </a:rPr>
              <a:t>exp5 — full finetune</a:t>
            </a:r>
            <a:endParaRPr lang="en-US" sz="900" b="0" strike="noStrike" spc="-1">
              <a:solidFill>
                <a:srgbClr val="000000"/>
              </a:solidFill>
              <a:latin typeface="Arial"/>
            </a:endParaRPr>
          </a:p>
        </p:txBody>
      </p:sp>
      <p:sp>
        <p:nvSpPr>
          <p:cNvPr id="470" name="TextBox 469"/>
          <p:cNvSpPr txBox="1"/>
          <p:nvPr/>
        </p:nvSpPr>
        <p:spPr>
          <a:xfrm>
            <a:off x="6811560" y="4389120"/>
            <a:ext cx="732960" cy="224640"/>
          </a:xfrm>
          <a:prstGeom prst="rect">
            <a:avLst/>
          </a:prstGeom>
          <a:noFill/>
          <a:ln w="0">
            <a:noFill/>
          </a:ln>
        </p:spPr>
        <p:txBody>
          <a:bodyPr lIns="90000" tIns="45000" rIns="90000" bIns="45000" anchor="t">
            <a:noAutofit/>
          </a:bodyPr>
          <a:lstStyle/>
          <a:p>
            <a:r>
              <a:rPr lang="en-US" sz="900" b="1" strike="noStrike" spc="-1">
                <a:solidFill>
                  <a:srgbClr val="525252"/>
                </a:solidFill>
                <a:latin typeface="Calibri-Bold"/>
                <a:ea typeface="Calibri-Bold"/>
              </a:rPr>
              <a:t>92.37%</a:t>
            </a:r>
            <a:endParaRPr lang="en-US" sz="900" b="0" strike="noStrike" spc="-1">
              <a:solidFill>
                <a:srgbClr val="000000"/>
              </a:solidFill>
              <a:latin typeface="Arial"/>
            </a:endParaRPr>
          </a:p>
        </p:txBody>
      </p:sp>
      <p:sp>
        <p:nvSpPr>
          <p:cNvPr id="471" name="TextBox 470"/>
          <p:cNvSpPr txBox="1"/>
          <p:nvPr/>
        </p:nvSpPr>
        <p:spPr>
          <a:xfrm>
            <a:off x="7680240" y="4389120"/>
            <a:ext cx="732960" cy="229320"/>
          </a:xfrm>
          <a:prstGeom prst="rect">
            <a:avLst/>
          </a:prstGeom>
          <a:noFill/>
          <a:ln w="0">
            <a:noFill/>
          </a:ln>
        </p:spPr>
        <p:txBody>
          <a:bodyPr lIns="90000" tIns="45000" rIns="90000" bIns="45000" anchor="t">
            <a:noAutofit/>
          </a:bodyPr>
          <a:lstStyle/>
          <a:p>
            <a:r>
              <a:rPr lang="en-US" sz="900" b="0" strike="noStrike" spc="-1">
                <a:solidFill>
                  <a:srgbClr val="62728B"/>
                </a:solidFill>
                <a:latin typeface="Calibri"/>
                <a:ea typeface="Calibri"/>
              </a:rPr>
              <a:t>all layers</a:t>
            </a:r>
            <a:endParaRPr lang="en-US" sz="900" b="0" strike="noStrike" spc="-1">
              <a:solidFill>
                <a:srgbClr val="000000"/>
              </a:solidFill>
              <a:latin typeface="Arial"/>
            </a:endParaRPr>
          </a:p>
        </p:txBody>
      </p:sp>
      <p:sp>
        <p:nvSpPr>
          <p:cNvPr id="472" name="Freeform 471"/>
          <p:cNvSpPr/>
          <p:nvPr/>
        </p:nvSpPr>
        <p:spPr>
          <a:xfrm>
            <a:off x="365760" y="4709160"/>
            <a:ext cx="8413200" cy="293400"/>
          </a:xfrm>
          <a:custGeom>
            <a:avLst/>
            <a:gdLst/>
            <a:ahLst/>
            <a:cxnLst/>
            <a:rect l="0" t="0" r="r" b="b"/>
            <a:pathLst>
              <a:path w="23370" h="815">
                <a:moveTo>
                  <a:pt x="0" y="0"/>
                </a:moveTo>
                <a:lnTo>
                  <a:pt x="23370" y="0"/>
                </a:lnTo>
                <a:lnTo>
                  <a:pt x="23370" y="815"/>
                </a:lnTo>
                <a:lnTo>
                  <a:pt x="0" y="815"/>
                </a:lnTo>
                <a:lnTo>
                  <a:pt x="0" y="0"/>
                </a:lnTo>
                <a:close/>
              </a:path>
            </a:pathLst>
          </a:custGeom>
          <a:solidFill>
            <a:srgbClr val="EDE9FE"/>
          </a:solidFill>
          <a:ln w="12600">
            <a:solidFill>
              <a:srgbClr val="7A38ED"/>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473" name="TextBox 472"/>
          <p:cNvSpPr txBox="1"/>
          <p:nvPr/>
        </p:nvSpPr>
        <p:spPr>
          <a:xfrm>
            <a:off x="547920" y="4709160"/>
            <a:ext cx="8048160" cy="386280"/>
          </a:xfrm>
          <a:prstGeom prst="rect">
            <a:avLst/>
          </a:prstGeom>
          <a:noFill/>
          <a:ln w="0">
            <a:noFill/>
          </a:ln>
        </p:spPr>
        <p:txBody>
          <a:bodyPr lIns="90000" tIns="45000" rIns="90000" bIns="45000" anchor="t">
            <a:noAutofit/>
          </a:bodyPr>
          <a:lstStyle/>
          <a:p>
            <a:r>
              <a:rPr lang="en-US" sz="1000" b="1" strike="noStrike" spc="-1">
                <a:solidFill>
                  <a:srgbClr val="7A38ED"/>
                </a:solidFill>
                <a:latin typeface="Calibri-Bold"/>
                <a:ea typeface="Calibri-Bold"/>
              </a:rPr>
              <a:t>🔑  256px input gave the largest accuracy boost (+0.76% test). last_block strategy avoids overfitting efficiently.</a:t>
            </a:r>
            <a:endParaRPr lang="en-US" sz="1000" b="0" strike="noStrike" spc="-1">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474" name="Freeform 473"/>
          <p:cNvSpPr/>
          <p:nvPr/>
        </p:nvSpPr>
        <p:spPr>
          <a:xfrm>
            <a:off x="0" y="0"/>
            <a:ext cx="9144720" cy="55440"/>
          </a:xfrm>
          <a:custGeom>
            <a:avLst/>
            <a:gdLst/>
            <a:ahLst/>
            <a:cxnLst/>
            <a:rect l="0" t="0" r="r" b="b"/>
            <a:pathLst>
              <a:path w="25402" h="154">
                <a:moveTo>
                  <a:pt x="0" y="0"/>
                </a:moveTo>
                <a:lnTo>
                  <a:pt x="25402" y="0"/>
                </a:lnTo>
                <a:lnTo>
                  <a:pt x="25402" y="154"/>
                </a:lnTo>
                <a:lnTo>
                  <a:pt x="0" y="154"/>
                </a:lnTo>
                <a:lnTo>
                  <a:pt x="0" y="0"/>
                </a:lnTo>
                <a:close/>
              </a:path>
            </a:pathLst>
          </a:custGeom>
          <a:solidFill>
            <a:srgbClr val="2361EB"/>
          </a:solidFill>
          <a:ln w="12600">
            <a:solidFill>
              <a:srgbClr val="2361EB"/>
            </a:solidFill>
            <a:round/>
          </a:ln>
        </p:spPr>
        <p:txBody>
          <a:bodyPr lIns="96120" tIns="4320" rIns="96120" bIns="4320" anchor="t">
            <a:noAutofit/>
          </a:bodyPr>
          <a:lstStyle/>
          <a:p>
            <a:endParaRPr lang="en-US" sz="1800" b="0" strike="noStrike" spc="-1">
              <a:solidFill>
                <a:srgbClr val="FFFFFF"/>
              </a:solidFill>
              <a:latin typeface="Arial"/>
            </a:endParaRPr>
          </a:p>
        </p:txBody>
      </p:sp>
      <p:sp>
        <p:nvSpPr>
          <p:cNvPr id="475" name="TextBox 474"/>
          <p:cNvSpPr txBox="1"/>
          <p:nvPr/>
        </p:nvSpPr>
        <p:spPr>
          <a:xfrm>
            <a:off x="502200" y="164520"/>
            <a:ext cx="8139600" cy="502920"/>
          </a:xfrm>
          <a:prstGeom prst="rect">
            <a:avLst/>
          </a:prstGeom>
          <a:noFill/>
          <a:ln w="0">
            <a:noFill/>
          </a:ln>
        </p:spPr>
        <p:txBody>
          <a:bodyPr lIns="90000" tIns="45000" rIns="90000" bIns="45000" anchor="t">
            <a:noAutofit/>
          </a:bodyPr>
          <a:lstStyle/>
          <a:p>
            <a:r>
              <a:rPr lang="en-US" sz="2600" b="1" strike="noStrike" spc="-1">
                <a:solidFill>
                  <a:srgbClr val="182C48"/>
                </a:solidFill>
                <a:latin typeface="Calibri-Bold"/>
                <a:ea typeface="Calibri-Bold"/>
              </a:rPr>
              <a:t>ViT Base Patch16-224</a:t>
            </a:r>
            <a:r>
              <a:rPr lang="nl-NL" sz="2600" b="1" strike="noStrike" spc="-1">
                <a:solidFill>
                  <a:srgbClr val="182C48"/>
                </a:solidFill>
                <a:latin typeface="Calibri-Bold"/>
                <a:ea typeface="Calibri-Bold"/>
              </a:rPr>
              <a:t> </a:t>
            </a:r>
            <a:r>
              <a:rPr lang="en-US" sz="2600" b="1" strike="noStrike" spc="-1">
                <a:solidFill>
                  <a:srgbClr val="182C48"/>
                </a:solidFill>
                <a:latin typeface="Calibri-Bold"/>
                <a:ea typeface="Calibri-Bold"/>
              </a:rPr>
              <a:t>— Architecture</a:t>
            </a:r>
            <a:endParaRPr lang="en-US" sz="2600" b="0" strike="noStrike" spc="-1">
              <a:solidFill>
                <a:srgbClr val="000000"/>
              </a:solidFill>
              <a:latin typeface="Arial"/>
            </a:endParaRPr>
          </a:p>
        </p:txBody>
      </p:sp>
      <p:sp>
        <p:nvSpPr>
          <p:cNvPr id="476" name="TextBox 475"/>
          <p:cNvSpPr txBox="1"/>
          <p:nvPr/>
        </p:nvSpPr>
        <p:spPr>
          <a:xfrm>
            <a:off x="502200" y="658440"/>
            <a:ext cx="8139600" cy="292680"/>
          </a:xfrm>
          <a:prstGeom prst="rect">
            <a:avLst/>
          </a:prstGeom>
          <a:noFill/>
          <a:ln w="0">
            <a:noFill/>
          </a:ln>
        </p:spPr>
        <p:txBody>
          <a:bodyPr lIns="90000" tIns="45000" rIns="90000" bIns="45000" anchor="t">
            <a:noAutofit/>
          </a:bodyPr>
          <a:lstStyle/>
          <a:p>
            <a:r>
              <a:rPr lang="en-US" sz="1200" b="0" i="1" strike="noStrike" spc="-1">
                <a:solidFill>
                  <a:srgbClr val="62728B"/>
                </a:solidFill>
                <a:latin typeface="Calibri-Italic"/>
                <a:ea typeface="Calibri-Italic"/>
              </a:rPr>
              <a:t>Vision Transformer pre-trained on ImageNet-21k</a:t>
            </a:r>
            <a:endParaRPr lang="en-US" sz="1200" b="0" strike="noStrike" spc="-1">
              <a:solidFill>
                <a:srgbClr val="000000"/>
              </a:solidFill>
              <a:latin typeface="Arial"/>
            </a:endParaRPr>
          </a:p>
        </p:txBody>
      </p:sp>
      <p:sp>
        <p:nvSpPr>
          <p:cNvPr id="477" name="Straight Connector 476"/>
          <p:cNvSpPr/>
          <p:nvPr/>
        </p:nvSpPr>
        <p:spPr>
          <a:xfrm>
            <a:off x="457200" y="960120"/>
            <a:ext cx="8229600" cy="0"/>
          </a:xfrm>
          <a:prstGeom prst="line">
            <a:avLst/>
          </a:prstGeom>
          <a:ln w="12600">
            <a:solidFill>
              <a:srgbClr val="E2E8F0"/>
            </a:solidFill>
            <a:round/>
          </a:ln>
        </p:spPr>
        <p:style>
          <a:lnRef idx="0">
            <a:scrgbClr r="0" g="0" b="0"/>
          </a:lnRef>
          <a:fillRef idx="0">
            <a:scrgbClr r="0" g="0" b="0"/>
          </a:fillRef>
          <a:effectRef idx="0">
            <a:scrgbClr r="0" g="0" b="0"/>
          </a:effectRef>
          <a:fontRef idx="minor"/>
        </p:style>
        <p:txBody>
          <a:bodyPr lIns="96120" tIns="-51120" rIns="96120" bIns="-51120" anchor="t">
            <a:noAutofit/>
          </a:bodyPr>
          <a:lstStyle/>
          <a:p>
            <a:endParaRPr lang="en-US" sz="1800" b="0" strike="noStrike" spc="-1">
              <a:solidFill>
                <a:srgbClr val="000000"/>
              </a:solidFill>
              <a:latin typeface="Arial"/>
            </a:endParaRPr>
          </a:p>
        </p:txBody>
      </p:sp>
      <p:sp>
        <p:nvSpPr>
          <p:cNvPr id="478" name="Freeform 477"/>
          <p:cNvSpPr/>
          <p:nvPr/>
        </p:nvSpPr>
        <p:spPr>
          <a:xfrm>
            <a:off x="274320" y="1097280"/>
            <a:ext cx="1280880" cy="823680"/>
          </a:xfrm>
          <a:custGeom>
            <a:avLst/>
            <a:gdLst/>
            <a:ahLst/>
            <a:cxnLst/>
            <a:rect l="0" t="0" r="r" b="b"/>
            <a:pathLst>
              <a:path w="3558" h="2288">
                <a:moveTo>
                  <a:pt x="0" y="0"/>
                </a:moveTo>
                <a:lnTo>
                  <a:pt x="3558" y="0"/>
                </a:lnTo>
                <a:lnTo>
                  <a:pt x="3558" y="2288"/>
                </a:lnTo>
                <a:lnTo>
                  <a:pt x="0" y="2288"/>
                </a:lnTo>
                <a:lnTo>
                  <a:pt x="0" y="0"/>
                </a:lnTo>
                <a:close/>
              </a:path>
            </a:pathLst>
          </a:custGeom>
          <a:solidFill>
            <a:srgbClr val="62728B"/>
          </a:solidFill>
          <a:ln w="12600">
            <a:solidFill>
              <a:srgbClr val="62728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479" name="TextBox 478"/>
          <p:cNvSpPr txBox="1"/>
          <p:nvPr/>
        </p:nvSpPr>
        <p:spPr>
          <a:xfrm>
            <a:off x="356040" y="1097280"/>
            <a:ext cx="1117080" cy="822960"/>
          </a:xfrm>
          <a:prstGeom prst="rect">
            <a:avLst/>
          </a:prstGeom>
          <a:noFill/>
          <a:ln w="0">
            <a:noFill/>
          </a:ln>
        </p:spPr>
        <p:txBody>
          <a:bodyPr lIns="90000" tIns="45000" rIns="90000" bIns="45000" anchor="t">
            <a:noAutofit/>
          </a:bodyPr>
          <a:lstStyle/>
          <a:p>
            <a:pPr algn="ctr"/>
            <a:r>
              <a:rPr lang="en-US" sz="900" b="1" strike="noStrike" spc="-1">
                <a:solidFill>
                  <a:srgbClr val="FFFFFF"/>
                </a:solidFill>
                <a:latin typeface="Calibri-Bold"/>
                <a:ea typeface="Calibri-Bold"/>
              </a:rPr>
              <a:t>Input</a:t>
            </a:r>
            <a:endParaRPr lang="en-US" sz="900" b="0" strike="noStrike" spc="-1">
              <a:solidFill>
                <a:srgbClr val="000000"/>
              </a:solidFill>
              <a:latin typeface="Arial"/>
            </a:endParaRPr>
          </a:p>
          <a:p>
            <a:pPr algn="ctr"/>
            <a:r>
              <a:rPr lang="en-US" sz="900" b="1" strike="noStrike" spc="-1">
                <a:solidFill>
                  <a:srgbClr val="FFFFFF"/>
                </a:solidFill>
                <a:latin typeface="Calibri-Bold"/>
                <a:ea typeface="Calibri-Bold"/>
              </a:rPr>
              <a:t>224×224</a:t>
            </a:r>
            <a:endParaRPr lang="en-US" sz="900" b="0" strike="noStrike" spc="-1">
              <a:solidFill>
                <a:srgbClr val="000000"/>
              </a:solidFill>
              <a:latin typeface="Arial"/>
            </a:endParaRPr>
          </a:p>
        </p:txBody>
      </p:sp>
      <p:sp>
        <p:nvSpPr>
          <p:cNvPr id="480" name="Straight Connector 479"/>
          <p:cNvSpPr/>
          <p:nvPr/>
        </p:nvSpPr>
        <p:spPr>
          <a:xfrm>
            <a:off x="1554480" y="1508760"/>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481" name="Freeform 480"/>
          <p:cNvSpPr/>
          <p:nvPr/>
        </p:nvSpPr>
        <p:spPr>
          <a:xfrm>
            <a:off x="1710000" y="1097280"/>
            <a:ext cx="1280880" cy="823680"/>
          </a:xfrm>
          <a:custGeom>
            <a:avLst/>
            <a:gdLst/>
            <a:ahLst/>
            <a:cxnLst/>
            <a:rect l="0" t="0" r="r" b="b"/>
            <a:pathLst>
              <a:path w="3558" h="2288">
                <a:moveTo>
                  <a:pt x="0" y="0"/>
                </a:moveTo>
                <a:lnTo>
                  <a:pt x="3558" y="0"/>
                </a:lnTo>
                <a:lnTo>
                  <a:pt x="3558" y="2288"/>
                </a:lnTo>
                <a:lnTo>
                  <a:pt x="0" y="2288"/>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482" name="TextBox 481"/>
          <p:cNvSpPr txBox="1"/>
          <p:nvPr/>
        </p:nvSpPr>
        <p:spPr>
          <a:xfrm>
            <a:off x="1791360" y="1097280"/>
            <a:ext cx="1117080" cy="822960"/>
          </a:xfrm>
          <a:prstGeom prst="rect">
            <a:avLst/>
          </a:prstGeom>
          <a:noFill/>
          <a:ln w="0">
            <a:noFill/>
          </a:ln>
        </p:spPr>
        <p:txBody>
          <a:bodyPr lIns="90000" tIns="45000" rIns="90000" bIns="45000" anchor="t">
            <a:noAutofit/>
          </a:bodyPr>
          <a:lstStyle/>
          <a:p>
            <a:pPr algn="ctr"/>
            <a:r>
              <a:rPr lang="en-US" sz="900" b="1" strike="noStrike" spc="-1">
                <a:solidFill>
                  <a:srgbClr val="FFFFFF"/>
                </a:solidFill>
                <a:latin typeface="Calibri-Bold"/>
                <a:ea typeface="Calibri-Bold"/>
              </a:rPr>
              <a:t>Patch Embed</a:t>
            </a:r>
            <a:endParaRPr lang="en-US" sz="900" b="0" strike="noStrike" spc="-1">
              <a:solidFill>
                <a:srgbClr val="000000"/>
              </a:solidFill>
              <a:latin typeface="Arial"/>
            </a:endParaRPr>
          </a:p>
          <a:p>
            <a:pPr algn="ctr"/>
            <a:r>
              <a:rPr lang="en-US" sz="900" b="1" strike="noStrike" spc="-1">
                <a:solidFill>
                  <a:srgbClr val="FFFFFF"/>
                </a:solidFill>
                <a:latin typeface="Calibri-Bold"/>
                <a:ea typeface="Calibri-Bold"/>
              </a:rPr>
              <a:t>196 tokens</a:t>
            </a:r>
            <a:endParaRPr lang="en-US" sz="900" b="0" strike="noStrike" spc="-1">
              <a:solidFill>
                <a:srgbClr val="000000"/>
              </a:solidFill>
              <a:latin typeface="Arial"/>
            </a:endParaRPr>
          </a:p>
        </p:txBody>
      </p:sp>
      <p:sp>
        <p:nvSpPr>
          <p:cNvPr id="483" name="Straight Connector 482"/>
          <p:cNvSpPr/>
          <p:nvPr/>
        </p:nvSpPr>
        <p:spPr>
          <a:xfrm>
            <a:off x="2990160" y="1508760"/>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484" name="Freeform 483"/>
          <p:cNvSpPr/>
          <p:nvPr/>
        </p:nvSpPr>
        <p:spPr>
          <a:xfrm>
            <a:off x="3145680" y="1097280"/>
            <a:ext cx="1280880" cy="823680"/>
          </a:xfrm>
          <a:custGeom>
            <a:avLst/>
            <a:gdLst/>
            <a:ahLst/>
            <a:cxnLst/>
            <a:rect l="0" t="0" r="r" b="b"/>
            <a:pathLst>
              <a:path w="3558" h="2288">
                <a:moveTo>
                  <a:pt x="0" y="0"/>
                </a:moveTo>
                <a:lnTo>
                  <a:pt x="3558" y="0"/>
                </a:lnTo>
                <a:lnTo>
                  <a:pt x="3558" y="2288"/>
                </a:lnTo>
                <a:lnTo>
                  <a:pt x="0" y="2288"/>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485" name="TextBox 484"/>
          <p:cNvSpPr txBox="1"/>
          <p:nvPr/>
        </p:nvSpPr>
        <p:spPr>
          <a:xfrm>
            <a:off x="3227040" y="1097280"/>
            <a:ext cx="1117080" cy="822960"/>
          </a:xfrm>
          <a:prstGeom prst="rect">
            <a:avLst/>
          </a:prstGeom>
          <a:noFill/>
          <a:ln w="0">
            <a:noFill/>
          </a:ln>
        </p:spPr>
        <p:txBody>
          <a:bodyPr lIns="90000" tIns="45000" rIns="90000" bIns="45000" anchor="t">
            <a:noAutofit/>
          </a:bodyPr>
          <a:lstStyle/>
          <a:p>
            <a:pPr algn="ctr"/>
            <a:r>
              <a:rPr lang="en-US" sz="900" b="1" strike="noStrike" spc="-1">
                <a:solidFill>
                  <a:srgbClr val="FFFFFF"/>
                </a:solidFill>
                <a:latin typeface="Calibri-Bold"/>
                <a:ea typeface="Calibri-Bold"/>
              </a:rPr>
              <a:t>Blocks 1–11</a:t>
            </a:r>
            <a:endParaRPr lang="en-US" sz="900" b="0" strike="noStrike" spc="-1">
              <a:solidFill>
                <a:srgbClr val="000000"/>
              </a:solidFill>
              <a:latin typeface="Arial"/>
            </a:endParaRPr>
          </a:p>
          <a:p>
            <a:pPr algn="ctr"/>
            <a:r>
              <a:rPr lang="en-US" sz="900" b="1" strike="noStrike" spc="-1">
                <a:solidFill>
                  <a:srgbClr val="FFFFFF"/>
                </a:solidFill>
                <a:latin typeface="Calibri-Bold"/>
                <a:ea typeface="Calibri-Bold"/>
              </a:rPr>
              <a:t>frozen</a:t>
            </a:r>
            <a:endParaRPr lang="en-US" sz="900" b="0" strike="noStrike" spc="-1">
              <a:solidFill>
                <a:srgbClr val="000000"/>
              </a:solidFill>
              <a:latin typeface="Arial"/>
            </a:endParaRPr>
          </a:p>
        </p:txBody>
      </p:sp>
      <p:sp>
        <p:nvSpPr>
          <p:cNvPr id="486" name="Straight Connector 485"/>
          <p:cNvSpPr/>
          <p:nvPr/>
        </p:nvSpPr>
        <p:spPr>
          <a:xfrm>
            <a:off x="4425840" y="1508760"/>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487" name="Freeform 486"/>
          <p:cNvSpPr/>
          <p:nvPr/>
        </p:nvSpPr>
        <p:spPr>
          <a:xfrm>
            <a:off x="4581000" y="1097280"/>
            <a:ext cx="1280880" cy="823680"/>
          </a:xfrm>
          <a:custGeom>
            <a:avLst/>
            <a:gdLst/>
            <a:ahLst/>
            <a:cxnLst/>
            <a:rect l="0" t="0" r="r" b="b"/>
            <a:pathLst>
              <a:path w="3558" h="2288">
                <a:moveTo>
                  <a:pt x="0" y="0"/>
                </a:moveTo>
                <a:lnTo>
                  <a:pt x="3558" y="0"/>
                </a:lnTo>
                <a:lnTo>
                  <a:pt x="3558" y="2288"/>
                </a:lnTo>
                <a:lnTo>
                  <a:pt x="0" y="2288"/>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488" name="TextBox 487"/>
          <p:cNvSpPr txBox="1"/>
          <p:nvPr/>
        </p:nvSpPr>
        <p:spPr>
          <a:xfrm>
            <a:off x="4662720" y="1097280"/>
            <a:ext cx="1117080" cy="822960"/>
          </a:xfrm>
          <a:prstGeom prst="rect">
            <a:avLst/>
          </a:prstGeom>
          <a:noFill/>
          <a:ln w="0">
            <a:noFill/>
          </a:ln>
        </p:spPr>
        <p:txBody>
          <a:bodyPr lIns="90000" tIns="45000" rIns="90000" bIns="45000" anchor="t">
            <a:noAutofit/>
          </a:bodyPr>
          <a:lstStyle/>
          <a:p>
            <a:pPr algn="ctr"/>
            <a:r>
              <a:rPr lang="en-US" sz="900" b="1" strike="noStrike" spc="-1">
                <a:solidFill>
                  <a:srgbClr val="FFFFFF"/>
                </a:solidFill>
                <a:latin typeface="Calibri-Bold"/>
                <a:ea typeface="Calibri-Bold"/>
              </a:rPr>
              <a:t>Block 12</a:t>
            </a:r>
            <a:endParaRPr lang="en-US" sz="900" b="0" strike="noStrike" spc="-1">
              <a:solidFill>
                <a:srgbClr val="000000"/>
              </a:solidFill>
              <a:latin typeface="Arial"/>
            </a:endParaRPr>
          </a:p>
          <a:p>
            <a:pPr algn="ctr"/>
            <a:r>
              <a:rPr lang="en-US" sz="900" b="1" strike="noStrike" spc="-1">
                <a:solidFill>
                  <a:srgbClr val="FFFFFF"/>
                </a:solidFill>
                <a:latin typeface="Calibri-Bold"/>
                <a:ea typeface="Calibri-Bold"/>
              </a:rPr>
              <a:t>fine-tuned</a:t>
            </a:r>
            <a:endParaRPr lang="en-US" sz="900" b="0" strike="noStrike" spc="-1">
              <a:solidFill>
                <a:srgbClr val="000000"/>
              </a:solidFill>
              <a:latin typeface="Arial"/>
            </a:endParaRPr>
          </a:p>
        </p:txBody>
      </p:sp>
      <p:sp>
        <p:nvSpPr>
          <p:cNvPr id="489" name="Straight Connector 488"/>
          <p:cNvSpPr/>
          <p:nvPr/>
        </p:nvSpPr>
        <p:spPr>
          <a:xfrm>
            <a:off x="5861160" y="1508760"/>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490" name="Freeform 489"/>
          <p:cNvSpPr/>
          <p:nvPr/>
        </p:nvSpPr>
        <p:spPr>
          <a:xfrm>
            <a:off x="6016680" y="1097280"/>
            <a:ext cx="1280880" cy="823680"/>
          </a:xfrm>
          <a:custGeom>
            <a:avLst/>
            <a:gdLst/>
            <a:ahLst/>
            <a:cxnLst/>
            <a:rect l="0" t="0" r="r" b="b"/>
            <a:pathLst>
              <a:path w="3558" h="2288">
                <a:moveTo>
                  <a:pt x="0" y="0"/>
                </a:moveTo>
                <a:lnTo>
                  <a:pt x="3558" y="0"/>
                </a:lnTo>
                <a:lnTo>
                  <a:pt x="3558" y="2288"/>
                </a:lnTo>
                <a:lnTo>
                  <a:pt x="0" y="2288"/>
                </a:lnTo>
                <a:lnTo>
                  <a:pt x="0" y="0"/>
                </a:lnTo>
                <a:close/>
              </a:path>
            </a:pathLst>
          </a:custGeom>
          <a:solidFill>
            <a:srgbClr val="0691B2"/>
          </a:solidFill>
          <a:ln w="12600">
            <a:solidFill>
              <a:srgbClr val="0691B2"/>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491" name="TextBox 490"/>
          <p:cNvSpPr txBox="1"/>
          <p:nvPr/>
        </p:nvSpPr>
        <p:spPr>
          <a:xfrm>
            <a:off x="6098400" y="1097280"/>
            <a:ext cx="1117080" cy="822960"/>
          </a:xfrm>
          <a:prstGeom prst="rect">
            <a:avLst/>
          </a:prstGeom>
          <a:noFill/>
          <a:ln w="0">
            <a:noFill/>
          </a:ln>
        </p:spPr>
        <p:txBody>
          <a:bodyPr lIns="90000" tIns="45000" rIns="90000" bIns="45000" anchor="t">
            <a:noAutofit/>
          </a:bodyPr>
          <a:lstStyle/>
          <a:p>
            <a:pPr algn="ctr"/>
            <a:r>
              <a:rPr lang="en-US" sz="900" b="1" strike="noStrike" spc="-1">
                <a:solidFill>
                  <a:srgbClr val="FFFFFF"/>
                </a:solidFill>
                <a:latin typeface="Calibri-Bold"/>
                <a:ea typeface="Calibri-Bold"/>
              </a:rPr>
              <a:t>[CLS] Token</a:t>
            </a:r>
            <a:endParaRPr lang="en-US" sz="900" b="0" strike="noStrike" spc="-1">
              <a:solidFill>
                <a:srgbClr val="000000"/>
              </a:solidFill>
              <a:latin typeface="Arial"/>
            </a:endParaRPr>
          </a:p>
          <a:p>
            <a:pPr algn="ctr"/>
            <a:r>
              <a:rPr lang="en-US" sz="900" b="1" strike="noStrike" spc="-1">
                <a:solidFill>
                  <a:srgbClr val="FFFFFF"/>
                </a:solidFill>
                <a:latin typeface="Calibri-Bold"/>
                <a:ea typeface="Calibri-Bold"/>
              </a:rPr>
              <a:t>+ Head</a:t>
            </a:r>
            <a:endParaRPr lang="en-US" sz="900" b="0" strike="noStrike" spc="-1">
              <a:solidFill>
                <a:srgbClr val="000000"/>
              </a:solidFill>
              <a:latin typeface="Arial"/>
            </a:endParaRPr>
          </a:p>
        </p:txBody>
      </p:sp>
      <p:sp>
        <p:nvSpPr>
          <p:cNvPr id="492" name="Straight Connector 491"/>
          <p:cNvSpPr/>
          <p:nvPr/>
        </p:nvSpPr>
        <p:spPr>
          <a:xfrm>
            <a:off x="7296840" y="1508760"/>
            <a:ext cx="155160" cy="0"/>
          </a:xfrm>
          <a:prstGeom prst="line">
            <a:avLst/>
          </a:prstGeom>
          <a:ln w="19080">
            <a:solidFill>
              <a:srgbClr val="62728B"/>
            </a:solidFill>
            <a:round/>
          </a:ln>
        </p:spPr>
        <p:style>
          <a:lnRef idx="0">
            <a:scrgbClr r="0" g="0" b="0"/>
          </a:lnRef>
          <a:fillRef idx="0">
            <a:scrgbClr r="0" g="0" b="0"/>
          </a:fillRef>
          <a:effectRef idx="0">
            <a:scrgbClr r="0" g="0" b="0"/>
          </a:effectRef>
          <a:fontRef idx="minor"/>
        </p:style>
        <p:txBody>
          <a:bodyPr lIns="99360" tIns="-54360" rIns="99360" bIns="-54360" anchor="t">
            <a:noAutofit/>
          </a:bodyPr>
          <a:lstStyle/>
          <a:p>
            <a:endParaRPr lang="en-US" sz="1800" b="0" strike="noStrike" spc="-1">
              <a:solidFill>
                <a:srgbClr val="000000"/>
              </a:solidFill>
              <a:latin typeface="Arial"/>
            </a:endParaRPr>
          </a:p>
        </p:txBody>
      </p:sp>
      <p:sp>
        <p:nvSpPr>
          <p:cNvPr id="493" name="Freeform 492"/>
          <p:cNvSpPr/>
          <p:nvPr/>
        </p:nvSpPr>
        <p:spPr>
          <a:xfrm>
            <a:off x="7452360" y="1097280"/>
            <a:ext cx="1280880" cy="823680"/>
          </a:xfrm>
          <a:custGeom>
            <a:avLst/>
            <a:gdLst/>
            <a:ahLst/>
            <a:cxnLst/>
            <a:rect l="0" t="0" r="r" b="b"/>
            <a:pathLst>
              <a:path w="3558" h="2288">
                <a:moveTo>
                  <a:pt x="0" y="0"/>
                </a:moveTo>
                <a:lnTo>
                  <a:pt x="3558" y="0"/>
                </a:lnTo>
                <a:lnTo>
                  <a:pt x="3558" y="2288"/>
                </a:lnTo>
                <a:lnTo>
                  <a:pt x="0" y="2288"/>
                </a:lnTo>
                <a:lnTo>
                  <a:pt x="0" y="0"/>
                </a:lnTo>
                <a:close/>
              </a:path>
            </a:pathLst>
          </a:custGeom>
          <a:solidFill>
            <a:srgbClr val="039667"/>
          </a:solidFill>
          <a:ln w="12600">
            <a:solidFill>
              <a:srgbClr val="039667"/>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494" name="TextBox 493"/>
          <p:cNvSpPr txBox="1"/>
          <p:nvPr/>
        </p:nvSpPr>
        <p:spPr>
          <a:xfrm>
            <a:off x="7534080" y="1097280"/>
            <a:ext cx="1117080" cy="822960"/>
          </a:xfrm>
          <a:prstGeom prst="rect">
            <a:avLst/>
          </a:prstGeom>
          <a:noFill/>
          <a:ln w="0">
            <a:noFill/>
          </a:ln>
        </p:spPr>
        <p:txBody>
          <a:bodyPr lIns="90000" tIns="45000" rIns="90000" bIns="45000" anchor="t">
            <a:noAutofit/>
          </a:bodyPr>
          <a:lstStyle/>
          <a:p>
            <a:pPr algn="ctr"/>
            <a:r>
              <a:rPr lang="en-US" sz="900" b="1" strike="noStrike" spc="-1">
                <a:solidFill>
                  <a:srgbClr val="FFFFFF"/>
                </a:solidFill>
                <a:latin typeface="Calibri-Bold"/>
                <a:ea typeface="Calibri-Bold"/>
              </a:rPr>
              <a:t>FC</a:t>
            </a:r>
            <a:endParaRPr lang="en-US" sz="900" b="0" strike="noStrike" spc="-1">
              <a:solidFill>
                <a:srgbClr val="000000"/>
              </a:solidFill>
              <a:latin typeface="Arial"/>
            </a:endParaRPr>
          </a:p>
          <a:p>
            <a:pPr algn="ctr"/>
            <a:r>
              <a:rPr lang="en-US" sz="900" b="1" strike="noStrike" spc="-1">
                <a:solidFill>
                  <a:srgbClr val="FFFFFF"/>
                </a:solidFill>
                <a:latin typeface="Calibri-Bold"/>
                <a:ea typeface="Calibri-Bold"/>
              </a:rPr>
              <a:t>37 classes</a:t>
            </a:r>
            <a:endParaRPr lang="en-US" sz="900" b="0" strike="noStrike" spc="-1">
              <a:solidFill>
                <a:srgbClr val="000000"/>
              </a:solidFill>
              <a:latin typeface="Arial"/>
            </a:endParaRPr>
          </a:p>
        </p:txBody>
      </p:sp>
      <p:sp>
        <p:nvSpPr>
          <p:cNvPr id="495" name="Freeform 494"/>
          <p:cNvSpPr/>
          <p:nvPr/>
        </p:nvSpPr>
        <p:spPr>
          <a:xfrm>
            <a:off x="365760" y="2103120"/>
            <a:ext cx="4161240" cy="2698200"/>
          </a:xfrm>
          <a:custGeom>
            <a:avLst/>
            <a:gdLst/>
            <a:ahLst/>
            <a:cxnLst/>
            <a:rect l="0" t="0" r="r" b="b"/>
            <a:pathLst>
              <a:path w="11559" h="7495">
                <a:moveTo>
                  <a:pt x="0" y="0"/>
                </a:moveTo>
                <a:lnTo>
                  <a:pt x="11559" y="0"/>
                </a:lnTo>
                <a:lnTo>
                  <a:pt x="11559" y="7495"/>
                </a:lnTo>
                <a:lnTo>
                  <a:pt x="0" y="7495"/>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496" name="Freeform 495"/>
          <p:cNvSpPr/>
          <p:nvPr/>
        </p:nvSpPr>
        <p:spPr>
          <a:xfrm>
            <a:off x="365760" y="2103120"/>
            <a:ext cx="64800" cy="2698200"/>
          </a:xfrm>
          <a:custGeom>
            <a:avLst/>
            <a:gdLst/>
            <a:ahLst/>
            <a:cxnLst/>
            <a:rect l="0" t="0" r="r" b="b"/>
            <a:pathLst>
              <a:path w="180" h="7495">
                <a:moveTo>
                  <a:pt x="0" y="0"/>
                </a:moveTo>
                <a:lnTo>
                  <a:pt x="180" y="0"/>
                </a:lnTo>
                <a:lnTo>
                  <a:pt x="180" y="7495"/>
                </a:lnTo>
                <a:lnTo>
                  <a:pt x="0" y="7495"/>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497" name="TextBox 496"/>
          <p:cNvSpPr txBox="1"/>
          <p:nvPr/>
        </p:nvSpPr>
        <p:spPr>
          <a:xfrm>
            <a:off x="593640" y="2212920"/>
            <a:ext cx="3750480" cy="301680"/>
          </a:xfrm>
          <a:prstGeom prst="rect">
            <a:avLst/>
          </a:prstGeom>
          <a:noFill/>
          <a:ln w="0">
            <a:noFill/>
          </a:ln>
        </p:spPr>
        <p:txBody>
          <a:bodyPr lIns="90000" tIns="45000" rIns="90000" bIns="45000" anchor="t">
            <a:noAutofit/>
          </a:bodyPr>
          <a:lstStyle/>
          <a:p>
            <a:r>
              <a:rPr lang="en-US" sz="1300" b="1" strike="noStrike" spc="-1">
                <a:solidFill>
                  <a:srgbClr val="182C48"/>
                </a:solidFill>
                <a:latin typeface="Calibri-Bold"/>
                <a:ea typeface="Calibri-Bold"/>
              </a:rPr>
              <a:t>Training Configuration</a:t>
            </a:r>
            <a:endParaRPr lang="en-US" sz="1300" b="0" strike="noStrike" spc="-1">
              <a:solidFill>
                <a:srgbClr val="000000"/>
              </a:solidFill>
              <a:latin typeface="Arial"/>
            </a:endParaRPr>
          </a:p>
        </p:txBody>
      </p:sp>
      <p:sp>
        <p:nvSpPr>
          <p:cNvPr id="498" name="Freeform 497"/>
          <p:cNvSpPr/>
          <p:nvPr/>
        </p:nvSpPr>
        <p:spPr>
          <a:xfrm>
            <a:off x="502920" y="2624400"/>
            <a:ext cx="3886920" cy="302400"/>
          </a:xfrm>
          <a:custGeom>
            <a:avLst/>
            <a:gdLst/>
            <a:ahLst/>
            <a:cxnLst/>
            <a:rect l="0" t="0" r="r" b="b"/>
            <a:pathLst>
              <a:path w="10797" h="840">
                <a:moveTo>
                  <a:pt x="0" y="0"/>
                </a:moveTo>
                <a:lnTo>
                  <a:pt x="10797" y="0"/>
                </a:lnTo>
                <a:lnTo>
                  <a:pt x="10797"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499" name="TextBox 498"/>
          <p:cNvSpPr txBox="1"/>
          <p:nvPr/>
        </p:nvSpPr>
        <p:spPr>
          <a:xfrm>
            <a:off x="639360" y="2670120"/>
            <a:ext cx="1007280" cy="238320"/>
          </a:xfrm>
          <a:prstGeom prst="rect">
            <a:avLst/>
          </a:prstGeom>
          <a:noFill/>
          <a:ln w="0">
            <a:noFill/>
          </a:ln>
        </p:spPr>
        <p:txBody>
          <a:bodyPr lIns="90000" tIns="45000" rIns="90000" bIns="45000" anchor="t">
            <a:noAutofit/>
          </a:bodyPr>
          <a:lstStyle/>
          <a:p>
            <a:r>
              <a:rPr lang="en-US" sz="1000" b="1" strike="noStrike" spc="-1">
                <a:solidFill>
                  <a:srgbClr val="2361EB"/>
                </a:solidFill>
                <a:latin typeface="Calibri-Bold"/>
                <a:ea typeface="Calibri-Bold"/>
              </a:rPr>
              <a:t>Optimizer</a:t>
            </a:r>
            <a:endParaRPr lang="en-US" sz="1000" b="0" strike="noStrike" spc="-1">
              <a:solidFill>
                <a:srgbClr val="000000"/>
              </a:solidFill>
              <a:latin typeface="Arial"/>
            </a:endParaRPr>
          </a:p>
        </p:txBody>
      </p:sp>
      <p:sp>
        <p:nvSpPr>
          <p:cNvPr id="500" name="TextBox 499"/>
          <p:cNvSpPr txBox="1"/>
          <p:nvPr/>
        </p:nvSpPr>
        <p:spPr>
          <a:xfrm>
            <a:off x="1828080" y="2670120"/>
            <a:ext cx="205992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AdamW  (lr=1e-4, wd=5e-4)</a:t>
            </a:r>
            <a:endParaRPr lang="en-US" sz="1000" b="0" strike="noStrike" spc="-1">
              <a:solidFill>
                <a:srgbClr val="000000"/>
              </a:solidFill>
              <a:latin typeface="Arial"/>
            </a:endParaRPr>
          </a:p>
        </p:txBody>
      </p:sp>
      <p:sp>
        <p:nvSpPr>
          <p:cNvPr id="501" name="Freeform 500"/>
          <p:cNvSpPr/>
          <p:nvPr/>
        </p:nvSpPr>
        <p:spPr>
          <a:xfrm>
            <a:off x="502920" y="2962800"/>
            <a:ext cx="3886920" cy="302400"/>
          </a:xfrm>
          <a:custGeom>
            <a:avLst/>
            <a:gdLst/>
            <a:ahLst/>
            <a:cxnLst/>
            <a:rect l="0" t="0" r="r" b="b"/>
            <a:pathLst>
              <a:path w="10797" h="840">
                <a:moveTo>
                  <a:pt x="0" y="0"/>
                </a:moveTo>
                <a:lnTo>
                  <a:pt x="10797" y="0"/>
                </a:lnTo>
                <a:lnTo>
                  <a:pt x="10797"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502" name="TextBox 501"/>
          <p:cNvSpPr txBox="1"/>
          <p:nvPr/>
        </p:nvSpPr>
        <p:spPr>
          <a:xfrm>
            <a:off x="639360" y="3008520"/>
            <a:ext cx="1007280" cy="238320"/>
          </a:xfrm>
          <a:prstGeom prst="rect">
            <a:avLst/>
          </a:prstGeom>
          <a:noFill/>
          <a:ln w="0">
            <a:noFill/>
          </a:ln>
        </p:spPr>
        <p:txBody>
          <a:bodyPr lIns="90000" tIns="45000" rIns="90000" bIns="45000" anchor="t">
            <a:noAutofit/>
          </a:bodyPr>
          <a:lstStyle/>
          <a:p>
            <a:r>
              <a:rPr lang="en-US" sz="1000" b="1" strike="noStrike" spc="-1">
                <a:solidFill>
                  <a:srgbClr val="2361EB"/>
                </a:solidFill>
                <a:latin typeface="Calibri-Bold"/>
                <a:ea typeface="Calibri-Bold"/>
              </a:rPr>
              <a:t>Schedule</a:t>
            </a:r>
            <a:endParaRPr lang="en-US" sz="1000" b="0" strike="noStrike" spc="-1">
              <a:solidFill>
                <a:srgbClr val="000000"/>
              </a:solidFill>
              <a:latin typeface="Arial"/>
            </a:endParaRPr>
          </a:p>
        </p:txBody>
      </p:sp>
      <p:sp>
        <p:nvSpPr>
          <p:cNvPr id="503" name="TextBox 502"/>
          <p:cNvSpPr txBox="1"/>
          <p:nvPr/>
        </p:nvSpPr>
        <p:spPr>
          <a:xfrm>
            <a:off x="1828080" y="3008520"/>
            <a:ext cx="205992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ReduceLROnPlateau</a:t>
            </a:r>
            <a:endParaRPr lang="en-US" sz="1000" b="0" strike="noStrike" spc="-1">
              <a:solidFill>
                <a:srgbClr val="000000"/>
              </a:solidFill>
              <a:latin typeface="Arial"/>
            </a:endParaRPr>
          </a:p>
        </p:txBody>
      </p:sp>
      <p:sp>
        <p:nvSpPr>
          <p:cNvPr id="504" name="Freeform 503"/>
          <p:cNvSpPr/>
          <p:nvPr/>
        </p:nvSpPr>
        <p:spPr>
          <a:xfrm>
            <a:off x="502920" y="3300840"/>
            <a:ext cx="3886920" cy="302400"/>
          </a:xfrm>
          <a:custGeom>
            <a:avLst/>
            <a:gdLst/>
            <a:ahLst/>
            <a:cxnLst/>
            <a:rect l="0" t="0" r="r" b="b"/>
            <a:pathLst>
              <a:path w="10797" h="840">
                <a:moveTo>
                  <a:pt x="0" y="0"/>
                </a:moveTo>
                <a:lnTo>
                  <a:pt x="10797" y="0"/>
                </a:lnTo>
                <a:lnTo>
                  <a:pt x="10797"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505" name="TextBox 504"/>
          <p:cNvSpPr txBox="1"/>
          <p:nvPr/>
        </p:nvSpPr>
        <p:spPr>
          <a:xfrm>
            <a:off x="639360" y="3346560"/>
            <a:ext cx="1007280" cy="238320"/>
          </a:xfrm>
          <a:prstGeom prst="rect">
            <a:avLst/>
          </a:prstGeom>
          <a:noFill/>
          <a:ln w="0">
            <a:noFill/>
          </a:ln>
        </p:spPr>
        <p:txBody>
          <a:bodyPr lIns="90000" tIns="45000" rIns="90000" bIns="45000" anchor="t">
            <a:noAutofit/>
          </a:bodyPr>
          <a:lstStyle/>
          <a:p>
            <a:r>
              <a:rPr lang="en-US" sz="1000" b="1" strike="noStrike" spc="-1">
                <a:solidFill>
                  <a:srgbClr val="2361EB"/>
                </a:solidFill>
                <a:latin typeface="Calibri-Bold"/>
                <a:ea typeface="Calibri-Bold"/>
              </a:rPr>
              <a:t>Epochs</a:t>
            </a:r>
            <a:endParaRPr lang="en-US" sz="1000" b="0" strike="noStrike" spc="-1">
              <a:solidFill>
                <a:srgbClr val="000000"/>
              </a:solidFill>
              <a:latin typeface="Arial"/>
            </a:endParaRPr>
          </a:p>
        </p:txBody>
      </p:sp>
      <p:sp>
        <p:nvSpPr>
          <p:cNvPr id="506" name="TextBox 505"/>
          <p:cNvSpPr txBox="1"/>
          <p:nvPr/>
        </p:nvSpPr>
        <p:spPr>
          <a:xfrm>
            <a:off x="1828080" y="3346560"/>
            <a:ext cx="205992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25</a:t>
            </a:r>
            <a:endParaRPr lang="en-US" sz="1000" b="0" strike="noStrike" spc="-1">
              <a:solidFill>
                <a:srgbClr val="000000"/>
              </a:solidFill>
              <a:latin typeface="Arial"/>
            </a:endParaRPr>
          </a:p>
        </p:txBody>
      </p:sp>
      <p:sp>
        <p:nvSpPr>
          <p:cNvPr id="507" name="Freeform 506"/>
          <p:cNvSpPr/>
          <p:nvPr/>
        </p:nvSpPr>
        <p:spPr>
          <a:xfrm>
            <a:off x="502920" y="3639240"/>
            <a:ext cx="3886920" cy="302400"/>
          </a:xfrm>
          <a:custGeom>
            <a:avLst/>
            <a:gdLst/>
            <a:ahLst/>
            <a:cxnLst/>
            <a:rect l="0" t="0" r="r" b="b"/>
            <a:pathLst>
              <a:path w="10797" h="840">
                <a:moveTo>
                  <a:pt x="0" y="0"/>
                </a:moveTo>
                <a:lnTo>
                  <a:pt x="10797" y="0"/>
                </a:lnTo>
                <a:lnTo>
                  <a:pt x="10797"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508" name="TextBox 507"/>
          <p:cNvSpPr txBox="1"/>
          <p:nvPr/>
        </p:nvSpPr>
        <p:spPr>
          <a:xfrm>
            <a:off x="639360" y="3684960"/>
            <a:ext cx="1007280" cy="238320"/>
          </a:xfrm>
          <a:prstGeom prst="rect">
            <a:avLst/>
          </a:prstGeom>
          <a:noFill/>
          <a:ln w="0">
            <a:noFill/>
          </a:ln>
        </p:spPr>
        <p:txBody>
          <a:bodyPr lIns="90000" tIns="45000" rIns="90000" bIns="45000" anchor="t">
            <a:noAutofit/>
          </a:bodyPr>
          <a:lstStyle/>
          <a:p>
            <a:r>
              <a:rPr lang="en-US" sz="1000" b="1" strike="noStrike" spc="-1">
                <a:solidFill>
                  <a:srgbClr val="2361EB"/>
                </a:solidFill>
                <a:latin typeface="Calibri-Bold"/>
                <a:ea typeface="Calibri-Bold"/>
              </a:rPr>
              <a:t>Batch size</a:t>
            </a:r>
            <a:endParaRPr lang="en-US" sz="1000" b="0" strike="noStrike" spc="-1">
              <a:solidFill>
                <a:srgbClr val="000000"/>
              </a:solidFill>
              <a:latin typeface="Arial"/>
            </a:endParaRPr>
          </a:p>
        </p:txBody>
      </p:sp>
      <p:sp>
        <p:nvSpPr>
          <p:cNvPr id="509" name="TextBox 508"/>
          <p:cNvSpPr txBox="1"/>
          <p:nvPr/>
        </p:nvSpPr>
        <p:spPr>
          <a:xfrm>
            <a:off x="1828080" y="3684960"/>
            <a:ext cx="205992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16</a:t>
            </a:r>
            <a:endParaRPr lang="en-US" sz="1000" b="0" strike="noStrike" spc="-1">
              <a:solidFill>
                <a:srgbClr val="000000"/>
              </a:solidFill>
              <a:latin typeface="Arial"/>
            </a:endParaRPr>
          </a:p>
        </p:txBody>
      </p:sp>
      <p:sp>
        <p:nvSpPr>
          <p:cNvPr id="510" name="Freeform 509"/>
          <p:cNvSpPr/>
          <p:nvPr/>
        </p:nvSpPr>
        <p:spPr>
          <a:xfrm>
            <a:off x="502920" y="3977640"/>
            <a:ext cx="3886920" cy="302400"/>
          </a:xfrm>
          <a:custGeom>
            <a:avLst/>
            <a:gdLst/>
            <a:ahLst/>
            <a:cxnLst/>
            <a:rect l="0" t="0" r="r" b="b"/>
            <a:pathLst>
              <a:path w="10797" h="840">
                <a:moveTo>
                  <a:pt x="0" y="0"/>
                </a:moveTo>
                <a:lnTo>
                  <a:pt x="10797" y="0"/>
                </a:lnTo>
                <a:lnTo>
                  <a:pt x="10797"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511" name="TextBox 510"/>
          <p:cNvSpPr txBox="1"/>
          <p:nvPr/>
        </p:nvSpPr>
        <p:spPr>
          <a:xfrm>
            <a:off x="639360" y="4023360"/>
            <a:ext cx="1007280" cy="238320"/>
          </a:xfrm>
          <a:prstGeom prst="rect">
            <a:avLst/>
          </a:prstGeom>
          <a:noFill/>
          <a:ln w="0">
            <a:noFill/>
          </a:ln>
        </p:spPr>
        <p:txBody>
          <a:bodyPr lIns="90000" tIns="45000" rIns="90000" bIns="45000" anchor="t">
            <a:noAutofit/>
          </a:bodyPr>
          <a:lstStyle/>
          <a:p>
            <a:r>
              <a:rPr lang="en-US" sz="1000" b="1" strike="noStrike" spc="-1">
                <a:solidFill>
                  <a:srgbClr val="2361EB"/>
                </a:solidFill>
                <a:latin typeface="Calibri-Bold"/>
                <a:ea typeface="Calibri-Bold"/>
              </a:rPr>
              <a:t>Loss</a:t>
            </a:r>
            <a:endParaRPr lang="en-US" sz="1000" b="0" strike="noStrike" spc="-1">
              <a:solidFill>
                <a:srgbClr val="000000"/>
              </a:solidFill>
              <a:latin typeface="Arial"/>
            </a:endParaRPr>
          </a:p>
        </p:txBody>
      </p:sp>
      <p:sp>
        <p:nvSpPr>
          <p:cNvPr id="512" name="TextBox 511"/>
          <p:cNvSpPr txBox="1"/>
          <p:nvPr/>
        </p:nvSpPr>
        <p:spPr>
          <a:xfrm>
            <a:off x="1828080" y="4023360"/>
            <a:ext cx="205992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CrossEntropy</a:t>
            </a:r>
            <a:endParaRPr lang="en-US" sz="1000" b="0" strike="noStrike" spc="-1">
              <a:solidFill>
                <a:srgbClr val="000000"/>
              </a:solidFill>
              <a:latin typeface="Arial"/>
            </a:endParaRPr>
          </a:p>
        </p:txBody>
      </p:sp>
      <p:sp>
        <p:nvSpPr>
          <p:cNvPr id="513" name="Freeform 512"/>
          <p:cNvSpPr/>
          <p:nvPr/>
        </p:nvSpPr>
        <p:spPr>
          <a:xfrm>
            <a:off x="502920" y="4316040"/>
            <a:ext cx="3886920" cy="302400"/>
          </a:xfrm>
          <a:custGeom>
            <a:avLst/>
            <a:gdLst/>
            <a:ahLst/>
            <a:cxnLst/>
            <a:rect l="0" t="0" r="r" b="b"/>
            <a:pathLst>
              <a:path w="10797" h="840">
                <a:moveTo>
                  <a:pt x="0" y="0"/>
                </a:moveTo>
                <a:lnTo>
                  <a:pt x="10797" y="0"/>
                </a:lnTo>
                <a:lnTo>
                  <a:pt x="10797"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514" name="TextBox 513"/>
          <p:cNvSpPr txBox="1"/>
          <p:nvPr/>
        </p:nvSpPr>
        <p:spPr>
          <a:xfrm>
            <a:off x="639360" y="4361760"/>
            <a:ext cx="1007280" cy="238320"/>
          </a:xfrm>
          <a:prstGeom prst="rect">
            <a:avLst/>
          </a:prstGeom>
          <a:noFill/>
          <a:ln w="0">
            <a:noFill/>
          </a:ln>
        </p:spPr>
        <p:txBody>
          <a:bodyPr lIns="90000" tIns="45000" rIns="90000" bIns="45000" anchor="t">
            <a:noAutofit/>
          </a:bodyPr>
          <a:lstStyle/>
          <a:p>
            <a:r>
              <a:rPr lang="en-US" sz="1000" b="1" strike="noStrike" spc="-1">
                <a:solidFill>
                  <a:srgbClr val="2361EB"/>
                </a:solidFill>
                <a:latin typeface="Calibri-Bold"/>
                <a:ea typeface="Calibri-Bold"/>
              </a:rPr>
              <a:t>Regulariz.</a:t>
            </a:r>
            <a:endParaRPr lang="en-US" sz="1000" b="0" strike="noStrike" spc="-1">
              <a:solidFill>
                <a:srgbClr val="000000"/>
              </a:solidFill>
              <a:latin typeface="Arial"/>
            </a:endParaRPr>
          </a:p>
        </p:txBody>
      </p:sp>
      <p:sp>
        <p:nvSpPr>
          <p:cNvPr id="515" name="TextBox 514"/>
          <p:cNvSpPr txBox="1"/>
          <p:nvPr/>
        </p:nvSpPr>
        <p:spPr>
          <a:xfrm>
            <a:off x="1828080" y="4361760"/>
            <a:ext cx="205992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Label smoothing=0.05, last_block</a:t>
            </a:r>
            <a:endParaRPr lang="en-US" sz="1000" b="0" strike="noStrike" spc="-1">
              <a:solidFill>
                <a:srgbClr val="000000"/>
              </a:solidFill>
              <a:latin typeface="Arial"/>
            </a:endParaRPr>
          </a:p>
        </p:txBody>
      </p:sp>
      <p:sp>
        <p:nvSpPr>
          <p:cNvPr id="516" name="Freeform 515"/>
          <p:cNvSpPr/>
          <p:nvPr/>
        </p:nvSpPr>
        <p:spPr>
          <a:xfrm>
            <a:off x="4709160" y="2103120"/>
            <a:ext cx="4069800" cy="2698200"/>
          </a:xfrm>
          <a:custGeom>
            <a:avLst/>
            <a:gdLst/>
            <a:ahLst/>
            <a:cxnLst/>
            <a:rect l="0" t="0" r="r" b="b"/>
            <a:pathLst>
              <a:path w="11305" h="7495">
                <a:moveTo>
                  <a:pt x="0" y="0"/>
                </a:moveTo>
                <a:lnTo>
                  <a:pt x="11305" y="0"/>
                </a:lnTo>
                <a:lnTo>
                  <a:pt x="11305" y="7495"/>
                </a:lnTo>
                <a:lnTo>
                  <a:pt x="0" y="7495"/>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517" name="Freeform 516"/>
          <p:cNvSpPr/>
          <p:nvPr/>
        </p:nvSpPr>
        <p:spPr>
          <a:xfrm>
            <a:off x="4709160" y="2103120"/>
            <a:ext cx="64800" cy="2698200"/>
          </a:xfrm>
          <a:custGeom>
            <a:avLst/>
            <a:gdLst/>
            <a:ahLst/>
            <a:cxnLst/>
            <a:rect l="0" t="0" r="r" b="b"/>
            <a:pathLst>
              <a:path w="180" h="7495">
                <a:moveTo>
                  <a:pt x="0" y="0"/>
                </a:moveTo>
                <a:lnTo>
                  <a:pt x="180" y="0"/>
                </a:lnTo>
                <a:lnTo>
                  <a:pt x="180" y="7495"/>
                </a:lnTo>
                <a:lnTo>
                  <a:pt x="0" y="7495"/>
                </a:lnTo>
                <a:lnTo>
                  <a:pt x="0" y="0"/>
                </a:lnTo>
                <a:close/>
              </a:path>
            </a:pathLst>
          </a:custGeom>
          <a:solidFill>
            <a:srgbClr val="0691B2"/>
          </a:solidFill>
          <a:ln w="12600">
            <a:solidFill>
              <a:srgbClr val="0691B2"/>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518" name="TextBox 517"/>
          <p:cNvSpPr txBox="1"/>
          <p:nvPr/>
        </p:nvSpPr>
        <p:spPr>
          <a:xfrm>
            <a:off x="4937040" y="2212920"/>
            <a:ext cx="3659040" cy="301680"/>
          </a:xfrm>
          <a:prstGeom prst="rect">
            <a:avLst/>
          </a:prstGeom>
          <a:noFill/>
          <a:ln w="0">
            <a:noFill/>
          </a:ln>
        </p:spPr>
        <p:txBody>
          <a:bodyPr lIns="90000" tIns="45000" rIns="90000" bIns="45000" anchor="t">
            <a:noAutofit/>
          </a:bodyPr>
          <a:lstStyle/>
          <a:p>
            <a:r>
              <a:rPr lang="en-US" sz="1300" b="1" strike="noStrike" spc="-1">
                <a:solidFill>
                  <a:srgbClr val="182C48"/>
                </a:solidFill>
                <a:latin typeface="Calibri-Bold"/>
                <a:ea typeface="Calibri-Bold"/>
              </a:rPr>
              <a:t>Architecture Detail</a:t>
            </a:r>
            <a:endParaRPr lang="en-US" sz="1300" b="0" strike="noStrike" spc="-1">
              <a:solidFill>
                <a:srgbClr val="000000"/>
              </a:solidFill>
              <a:latin typeface="Arial"/>
            </a:endParaRPr>
          </a:p>
        </p:txBody>
      </p:sp>
      <p:sp>
        <p:nvSpPr>
          <p:cNvPr id="519" name="Freeform 518"/>
          <p:cNvSpPr/>
          <p:nvPr/>
        </p:nvSpPr>
        <p:spPr>
          <a:xfrm>
            <a:off x="4846320" y="2624400"/>
            <a:ext cx="3795480" cy="302400"/>
          </a:xfrm>
          <a:custGeom>
            <a:avLst/>
            <a:gdLst/>
            <a:ahLst/>
            <a:cxnLst/>
            <a:rect l="0" t="0" r="r" b="b"/>
            <a:pathLst>
              <a:path w="10543" h="840">
                <a:moveTo>
                  <a:pt x="0" y="0"/>
                </a:moveTo>
                <a:lnTo>
                  <a:pt x="10543" y="0"/>
                </a:lnTo>
                <a:lnTo>
                  <a:pt x="10543"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520" name="TextBox 519"/>
          <p:cNvSpPr txBox="1"/>
          <p:nvPr/>
        </p:nvSpPr>
        <p:spPr>
          <a:xfrm>
            <a:off x="4982760" y="2670120"/>
            <a:ext cx="1310040" cy="238320"/>
          </a:xfrm>
          <a:prstGeom prst="rect">
            <a:avLst/>
          </a:prstGeom>
          <a:noFill/>
          <a:ln w="0">
            <a:noFill/>
          </a:ln>
        </p:spPr>
        <p:txBody>
          <a:bodyPr lIns="90000" tIns="45000" rIns="90000" bIns="45000" anchor="t">
            <a:noAutofit/>
          </a:bodyPr>
          <a:lstStyle/>
          <a:p>
            <a:r>
              <a:rPr lang="en-US" sz="1000" b="1" strike="noStrike" spc="-1">
                <a:solidFill>
                  <a:srgbClr val="0691B2"/>
                </a:solidFill>
                <a:latin typeface="Calibri-Bold"/>
                <a:ea typeface="Calibri-Bold"/>
              </a:rPr>
              <a:t>Transf. Block</a:t>
            </a:r>
            <a:endParaRPr lang="en-US" sz="1000" b="0" strike="noStrike" spc="-1">
              <a:solidFill>
                <a:srgbClr val="000000"/>
              </a:solidFill>
              <a:latin typeface="Arial"/>
            </a:endParaRPr>
          </a:p>
        </p:txBody>
      </p:sp>
      <p:sp>
        <p:nvSpPr>
          <p:cNvPr id="521" name="TextBox 520"/>
          <p:cNvSpPr txBox="1"/>
          <p:nvPr/>
        </p:nvSpPr>
        <p:spPr>
          <a:xfrm>
            <a:off x="6495120" y="2670120"/>
            <a:ext cx="205992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MSA + LayerNorm + MLP (GELU)</a:t>
            </a:r>
            <a:endParaRPr lang="en-US" sz="1000" b="0" strike="noStrike" spc="-1">
              <a:solidFill>
                <a:srgbClr val="000000"/>
              </a:solidFill>
              <a:latin typeface="Arial"/>
            </a:endParaRPr>
          </a:p>
        </p:txBody>
      </p:sp>
      <p:sp>
        <p:nvSpPr>
          <p:cNvPr id="522" name="Freeform 521"/>
          <p:cNvSpPr/>
          <p:nvPr/>
        </p:nvSpPr>
        <p:spPr>
          <a:xfrm>
            <a:off x="4846320" y="2962800"/>
            <a:ext cx="3795480" cy="302400"/>
          </a:xfrm>
          <a:custGeom>
            <a:avLst/>
            <a:gdLst/>
            <a:ahLst/>
            <a:cxnLst/>
            <a:rect l="0" t="0" r="r" b="b"/>
            <a:pathLst>
              <a:path w="10543" h="840">
                <a:moveTo>
                  <a:pt x="0" y="0"/>
                </a:moveTo>
                <a:lnTo>
                  <a:pt x="10543" y="0"/>
                </a:lnTo>
                <a:lnTo>
                  <a:pt x="10543"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523" name="TextBox 522"/>
          <p:cNvSpPr txBox="1"/>
          <p:nvPr/>
        </p:nvSpPr>
        <p:spPr>
          <a:xfrm>
            <a:off x="4982760" y="3008520"/>
            <a:ext cx="1310040" cy="238320"/>
          </a:xfrm>
          <a:prstGeom prst="rect">
            <a:avLst/>
          </a:prstGeom>
          <a:noFill/>
          <a:ln w="0">
            <a:noFill/>
          </a:ln>
        </p:spPr>
        <p:txBody>
          <a:bodyPr lIns="90000" tIns="45000" rIns="90000" bIns="45000" anchor="t">
            <a:noAutofit/>
          </a:bodyPr>
          <a:lstStyle/>
          <a:p>
            <a:r>
              <a:rPr lang="en-US" sz="1000" b="1" strike="noStrike" spc="-1">
                <a:solidFill>
                  <a:srgbClr val="0691B2"/>
                </a:solidFill>
                <a:latin typeface="Calibri-Bold"/>
                <a:ea typeface="Calibri-Bold"/>
              </a:rPr>
              <a:t>12 Enc. layers</a:t>
            </a:r>
            <a:endParaRPr lang="en-US" sz="1000" b="0" strike="noStrike" spc="-1">
              <a:solidFill>
                <a:srgbClr val="000000"/>
              </a:solidFill>
              <a:latin typeface="Arial"/>
            </a:endParaRPr>
          </a:p>
        </p:txBody>
      </p:sp>
      <p:sp>
        <p:nvSpPr>
          <p:cNvPr id="524" name="TextBox 523"/>
          <p:cNvSpPr txBox="1"/>
          <p:nvPr/>
        </p:nvSpPr>
        <p:spPr>
          <a:xfrm>
            <a:off x="6495120" y="3008520"/>
            <a:ext cx="205992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768 hidden, 12 heads, patch=16</a:t>
            </a:r>
            <a:endParaRPr lang="en-US" sz="1000" b="0" strike="noStrike" spc="-1">
              <a:solidFill>
                <a:srgbClr val="000000"/>
              </a:solidFill>
              <a:latin typeface="Arial"/>
            </a:endParaRPr>
          </a:p>
        </p:txBody>
      </p:sp>
      <p:sp>
        <p:nvSpPr>
          <p:cNvPr id="525" name="Freeform 524"/>
          <p:cNvSpPr/>
          <p:nvPr/>
        </p:nvSpPr>
        <p:spPr>
          <a:xfrm>
            <a:off x="4846320" y="3300840"/>
            <a:ext cx="3795480" cy="302400"/>
          </a:xfrm>
          <a:custGeom>
            <a:avLst/>
            <a:gdLst/>
            <a:ahLst/>
            <a:cxnLst/>
            <a:rect l="0" t="0" r="r" b="b"/>
            <a:pathLst>
              <a:path w="10543" h="840">
                <a:moveTo>
                  <a:pt x="0" y="0"/>
                </a:moveTo>
                <a:lnTo>
                  <a:pt x="10543" y="0"/>
                </a:lnTo>
                <a:lnTo>
                  <a:pt x="10543"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526" name="TextBox 525"/>
          <p:cNvSpPr txBox="1"/>
          <p:nvPr/>
        </p:nvSpPr>
        <p:spPr>
          <a:xfrm>
            <a:off x="4982760" y="3346560"/>
            <a:ext cx="1310040" cy="238320"/>
          </a:xfrm>
          <a:prstGeom prst="rect">
            <a:avLst/>
          </a:prstGeom>
          <a:noFill/>
          <a:ln w="0">
            <a:noFill/>
          </a:ln>
        </p:spPr>
        <p:txBody>
          <a:bodyPr lIns="90000" tIns="45000" rIns="90000" bIns="45000" anchor="t">
            <a:noAutofit/>
          </a:bodyPr>
          <a:lstStyle/>
          <a:p>
            <a:r>
              <a:rPr lang="en-US" sz="1000" b="1" strike="noStrike" spc="-1">
                <a:solidFill>
                  <a:srgbClr val="0691B2"/>
                </a:solidFill>
                <a:latin typeface="Calibri-Bold"/>
                <a:ea typeface="Calibri-Bold"/>
              </a:rPr>
              <a:t>GAP</a:t>
            </a:r>
            <a:endParaRPr lang="en-US" sz="1000" b="0" strike="noStrike" spc="-1">
              <a:solidFill>
                <a:srgbClr val="000000"/>
              </a:solidFill>
              <a:latin typeface="Arial"/>
            </a:endParaRPr>
          </a:p>
        </p:txBody>
      </p:sp>
      <p:sp>
        <p:nvSpPr>
          <p:cNvPr id="527" name="TextBox 526"/>
          <p:cNvSpPr txBox="1"/>
          <p:nvPr/>
        </p:nvSpPr>
        <p:spPr>
          <a:xfrm>
            <a:off x="6495120" y="3346560"/>
            <a:ext cx="205992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[CLS] token → Linear(768, 37)</a:t>
            </a:r>
            <a:endParaRPr lang="en-US" sz="1000" b="0" strike="noStrike" spc="-1">
              <a:solidFill>
                <a:srgbClr val="000000"/>
              </a:solidFill>
              <a:latin typeface="Arial"/>
            </a:endParaRPr>
          </a:p>
        </p:txBody>
      </p:sp>
      <p:sp>
        <p:nvSpPr>
          <p:cNvPr id="528" name="Freeform 527"/>
          <p:cNvSpPr/>
          <p:nvPr/>
        </p:nvSpPr>
        <p:spPr>
          <a:xfrm>
            <a:off x="4846320" y="3639240"/>
            <a:ext cx="3795480" cy="302400"/>
          </a:xfrm>
          <a:custGeom>
            <a:avLst/>
            <a:gdLst/>
            <a:ahLst/>
            <a:cxnLst/>
            <a:rect l="0" t="0" r="r" b="b"/>
            <a:pathLst>
              <a:path w="10543" h="840">
                <a:moveTo>
                  <a:pt x="0" y="0"/>
                </a:moveTo>
                <a:lnTo>
                  <a:pt x="10543" y="0"/>
                </a:lnTo>
                <a:lnTo>
                  <a:pt x="10543"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529" name="TextBox 528"/>
          <p:cNvSpPr txBox="1"/>
          <p:nvPr/>
        </p:nvSpPr>
        <p:spPr>
          <a:xfrm>
            <a:off x="4982760" y="3684960"/>
            <a:ext cx="1310040" cy="238320"/>
          </a:xfrm>
          <a:prstGeom prst="rect">
            <a:avLst/>
          </a:prstGeom>
          <a:noFill/>
          <a:ln w="0">
            <a:noFill/>
          </a:ln>
        </p:spPr>
        <p:txBody>
          <a:bodyPr lIns="90000" tIns="45000" rIns="90000" bIns="45000" anchor="t">
            <a:noAutofit/>
          </a:bodyPr>
          <a:lstStyle/>
          <a:p>
            <a:r>
              <a:rPr lang="en-US" sz="1000" b="1" strike="noStrike" spc="-1">
                <a:solidFill>
                  <a:srgbClr val="0691B2"/>
                </a:solidFill>
                <a:latin typeface="Calibri-Bold"/>
                <a:ea typeface="Calibri-Bold"/>
              </a:rPr>
              <a:t>Dropout</a:t>
            </a:r>
            <a:endParaRPr lang="en-US" sz="1000" b="0" strike="noStrike" spc="-1">
              <a:solidFill>
                <a:srgbClr val="000000"/>
              </a:solidFill>
              <a:latin typeface="Arial"/>
            </a:endParaRPr>
          </a:p>
        </p:txBody>
      </p:sp>
      <p:sp>
        <p:nvSpPr>
          <p:cNvPr id="530" name="TextBox 529"/>
          <p:cNvSpPr txBox="1"/>
          <p:nvPr/>
        </p:nvSpPr>
        <p:spPr>
          <a:xfrm>
            <a:off x="6495120" y="3684960"/>
            <a:ext cx="205992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Attention dropout (last block only)</a:t>
            </a:r>
            <a:endParaRPr lang="en-US" sz="1000" b="0" strike="noStrike" spc="-1">
              <a:solidFill>
                <a:srgbClr val="000000"/>
              </a:solidFill>
              <a:latin typeface="Arial"/>
            </a:endParaRPr>
          </a:p>
        </p:txBody>
      </p:sp>
      <p:sp>
        <p:nvSpPr>
          <p:cNvPr id="531" name="Freeform 530"/>
          <p:cNvSpPr/>
          <p:nvPr/>
        </p:nvSpPr>
        <p:spPr>
          <a:xfrm>
            <a:off x="4846320" y="3977640"/>
            <a:ext cx="3795480" cy="302400"/>
          </a:xfrm>
          <a:custGeom>
            <a:avLst/>
            <a:gdLst/>
            <a:ahLst/>
            <a:cxnLst/>
            <a:rect l="0" t="0" r="r" b="b"/>
            <a:pathLst>
              <a:path w="10543" h="840">
                <a:moveTo>
                  <a:pt x="0" y="0"/>
                </a:moveTo>
                <a:lnTo>
                  <a:pt x="10543" y="0"/>
                </a:lnTo>
                <a:lnTo>
                  <a:pt x="10543"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532" name="TextBox 531"/>
          <p:cNvSpPr txBox="1"/>
          <p:nvPr/>
        </p:nvSpPr>
        <p:spPr>
          <a:xfrm>
            <a:off x="4982760" y="4023360"/>
            <a:ext cx="1310040" cy="238320"/>
          </a:xfrm>
          <a:prstGeom prst="rect">
            <a:avLst/>
          </a:prstGeom>
          <a:noFill/>
          <a:ln w="0">
            <a:noFill/>
          </a:ln>
        </p:spPr>
        <p:txBody>
          <a:bodyPr lIns="90000" tIns="45000" rIns="90000" bIns="45000" anchor="t">
            <a:noAutofit/>
          </a:bodyPr>
          <a:lstStyle/>
          <a:p>
            <a:r>
              <a:rPr lang="en-US" sz="1000" b="1" strike="noStrike" spc="-1">
                <a:solidFill>
                  <a:srgbClr val="0691B2"/>
                </a:solidFill>
                <a:latin typeface="Calibri-Bold"/>
                <a:ea typeface="Calibri-Bold"/>
              </a:rPr>
              <a:t>Output</a:t>
            </a:r>
            <a:endParaRPr lang="en-US" sz="1000" b="0" strike="noStrike" spc="-1">
              <a:solidFill>
                <a:srgbClr val="000000"/>
              </a:solidFill>
              <a:latin typeface="Arial"/>
            </a:endParaRPr>
          </a:p>
        </p:txBody>
      </p:sp>
      <p:sp>
        <p:nvSpPr>
          <p:cNvPr id="533" name="TextBox 532"/>
          <p:cNvSpPr txBox="1"/>
          <p:nvPr/>
        </p:nvSpPr>
        <p:spPr>
          <a:xfrm>
            <a:off x="6495120" y="4023360"/>
            <a:ext cx="205992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Linear(768, 37) — new classifier</a:t>
            </a:r>
            <a:endParaRPr lang="en-US" sz="1000" b="0" strike="noStrike" spc="-1">
              <a:solidFill>
                <a:srgbClr val="000000"/>
              </a:solidFill>
              <a:latin typeface="Arial"/>
            </a:endParaRPr>
          </a:p>
        </p:txBody>
      </p:sp>
      <p:sp>
        <p:nvSpPr>
          <p:cNvPr id="534" name="Freeform 533"/>
          <p:cNvSpPr/>
          <p:nvPr/>
        </p:nvSpPr>
        <p:spPr>
          <a:xfrm>
            <a:off x="4846320" y="4316040"/>
            <a:ext cx="3795480" cy="302400"/>
          </a:xfrm>
          <a:custGeom>
            <a:avLst/>
            <a:gdLst/>
            <a:ahLst/>
            <a:cxnLst/>
            <a:rect l="0" t="0" r="r" b="b"/>
            <a:pathLst>
              <a:path w="10543" h="840">
                <a:moveTo>
                  <a:pt x="0" y="0"/>
                </a:moveTo>
                <a:lnTo>
                  <a:pt x="10543" y="0"/>
                </a:lnTo>
                <a:lnTo>
                  <a:pt x="10543"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535" name="TextBox 534"/>
          <p:cNvSpPr txBox="1"/>
          <p:nvPr/>
        </p:nvSpPr>
        <p:spPr>
          <a:xfrm>
            <a:off x="4982760" y="4361760"/>
            <a:ext cx="1310040" cy="238320"/>
          </a:xfrm>
          <a:prstGeom prst="rect">
            <a:avLst/>
          </a:prstGeom>
          <a:noFill/>
          <a:ln w="0">
            <a:noFill/>
          </a:ln>
        </p:spPr>
        <p:txBody>
          <a:bodyPr lIns="90000" tIns="45000" rIns="90000" bIns="45000" anchor="t">
            <a:noAutofit/>
          </a:bodyPr>
          <a:lstStyle/>
          <a:p>
            <a:r>
              <a:rPr lang="en-US" sz="1000" b="1" strike="noStrike" spc="-1">
                <a:solidFill>
                  <a:srgbClr val="0691B2"/>
                </a:solidFill>
                <a:latin typeface="Calibri-Bold"/>
                <a:ea typeface="Calibri-Bold"/>
              </a:rPr>
              <a:t>Params</a:t>
            </a:r>
            <a:endParaRPr lang="en-US" sz="1000" b="0" strike="noStrike" spc="-1">
              <a:solidFill>
                <a:srgbClr val="000000"/>
              </a:solidFill>
              <a:latin typeface="Arial"/>
            </a:endParaRPr>
          </a:p>
        </p:txBody>
      </p:sp>
      <p:sp>
        <p:nvSpPr>
          <p:cNvPr id="536" name="TextBox 535"/>
          <p:cNvSpPr txBox="1"/>
          <p:nvPr/>
        </p:nvSpPr>
        <p:spPr>
          <a:xfrm>
            <a:off x="6495120" y="4361760"/>
            <a:ext cx="205992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~86M total / last_block strategy</a:t>
            </a:r>
            <a:endParaRPr lang="en-US" sz="1000" b="0" strike="noStrike" spc="-1">
              <a:solidFill>
                <a:srgbClr val="000000"/>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720" cy="55440"/>
          </a:xfrm>
          <a:prstGeom prst="rect">
            <a:avLst/>
          </a:prstGeom>
          <a:solidFill>
            <a:srgbClr val="2361EB"/>
          </a:solidFill>
        </p:spPr>
        <p:txBody>
          <a:bodyPr/>
          <a:lstStyle/>
          <a:p>
            <a:endParaRPr/>
          </a:p>
        </p:txBody>
      </p:sp>
      <p:sp>
        <p:nvSpPr>
          <p:cNvPr id="3" name="TextBox 2"/>
          <p:cNvSpPr txBox="1"/>
          <p:nvPr/>
        </p:nvSpPr>
        <p:spPr>
          <a:xfrm>
            <a:off x="502200" y="164520"/>
            <a:ext cx="8139600" cy="480000"/>
          </a:xfrm>
          <a:prstGeom prst="rect">
            <a:avLst/>
          </a:prstGeom>
          <a:noFill/>
          <a:ln w="0">
            <a:noFill/>
          </a:ln>
        </p:spPr>
        <p:txBody>
          <a:bodyPr lIns="90000" tIns="45000" rIns="90000" bIns="45000" anchor="t">
            <a:noAutofit/>
          </a:bodyPr>
          <a:lstStyle/>
          <a:p>
            <a:r>
              <a:rPr lang="en-US" sz="2600" b="1" strike="noStrike" spc="-1">
                <a:solidFill>
                  <a:srgbClr val="182C48"/>
                </a:solidFill>
                <a:latin typeface="Calibri-Bold"/>
              </a:rPr>
              <a:t>ViT — Training Curves</a:t>
            </a:r>
          </a:p>
        </p:txBody>
      </p:sp>
      <p:sp>
        <p:nvSpPr>
          <p:cNvPr id="4" name="TextBox 3"/>
          <p:cNvSpPr txBox="1"/>
          <p:nvPr/>
        </p:nvSpPr>
        <p:spPr>
          <a:xfrm>
            <a:off x="502200" y="630000"/>
            <a:ext cx="8139600" cy="280000"/>
          </a:xfrm>
          <a:prstGeom prst="rect">
            <a:avLst/>
          </a:prstGeom>
          <a:noFill/>
          <a:ln w="0">
            <a:noFill/>
          </a:ln>
        </p:spPr>
        <p:txBody>
          <a:bodyPr lIns="90000" tIns="45000" rIns="90000" bIns="45000" anchor="t">
            <a:noAutofit/>
          </a:bodyPr>
          <a:lstStyle/>
          <a:p>
            <a:r>
              <a:rPr lang="en-US" sz="1200" b="0" i="1" strike="noStrike" spc="-1">
                <a:solidFill>
                  <a:srgbClr val="62728B"/>
                </a:solidFill>
                <a:latin typeface="Calibri-Italic"/>
              </a:rPr>
              <a:t>25 epochs · last-block fine-tuning · pre-trained ImageNet-21k</a:t>
            </a:r>
          </a:p>
        </p:txBody>
      </p:sp>
      <p:sp>
        <p:nvSpPr>
          <p:cNvPr id="5" name="Straight Connector 4"/>
          <p:cNvSpPr/>
          <p:nvPr/>
        </p:nvSpPr>
        <p:spPr>
          <a:xfrm>
            <a:off x="457200" y="940000"/>
            <a:ext cx="8229600" cy="0"/>
          </a:xfrm>
          <a:prstGeom prst="line">
            <a:avLst/>
          </a:prstGeom>
          <a:ln w="12600">
            <a:solidFill>
              <a:srgbClr val="E2E8F0"/>
            </a:solidFill>
            <a:round/>
          </a:ln>
        </p:spPr>
        <p:txBody>
          <a:bodyPr/>
          <a:lstStyle/>
          <a:p>
            <a:endParaRPr/>
          </a:p>
        </p:txBody>
      </p:sp>
      <p:pic>
        <p:nvPicPr>
          <p:cNvPr id="6" name="acc_chart"/>
          <p:cNvPicPr>
            <a:picLocks noChangeAspect="1"/>
          </p:cNvPicPr>
          <p:nvPr/>
        </p:nvPicPr>
        <p:blipFill>
          <a:blip r:embed="rId2"/>
          <a:stretch>
            <a:fillRect/>
          </a:stretch>
        </p:blipFill>
        <p:spPr>
          <a:xfrm>
            <a:off x="274320" y="990000"/>
            <a:ext cx="4297680" cy="3890000"/>
          </a:xfrm>
          <a:prstGeom prst="rect">
            <a:avLst/>
          </a:prstGeom>
        </p:spPr>
      </p:pic>
      <p:pic>
        <p:nvPicPr>
          <p:cNvPr id="7" name="loss_chart"/>
          <p:cNvPicPr>
            <a:picLocks noChangeAspect="1"/>
          </p:cNvPicPr>
          <p:nvPr/>
        </p:nvPicPr>
        <p:blipFill>
          <a:blip r:embed="rId3"/>
          <a:stretch>
            <a:fillRect/>
          </a:stretch>
        </p:blipFill>
        <p:spPr>
          <a:xfrm>
            <a:off x="4572720" y="990000"/>
            <a:ext cx="4297680" cy="3890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537" name="Freeform 536"/>
          <p:cNvSpPr/>
          <p:nvPr/>
        </p:nvSpPr>
        <p:spPr>
          <a:xfrm>
            <a:off x="0" y="0"/>
            <a:ext cx="9144720" cy="55440"/>
          </a:xfrm>
          <a:custGeom>
            <a:avLst/>
            <a:gdLst/>
            <a:ahLst/>
            <a:cxnLst/>
            <a:rect l="0" t="0" r="r" b="b"/>
            <a:pathLst>
              <a:path w="25402" h="154">
                <a:moveTo>
                  <a:pt x="0" y="0"/>
                </a:moveTo>
                <a:lnTo>
                  <a:pt x="25402" y="0"/>
                </a:lnTo>
                <a:lnTo>
                  <a:pt x="25402" y="154"/>
                </a:lnTo>
                <a:lnTo>
                  <a:pt x="0" y="154"/>
                </a:lnTo>
                <a:lnTo>
                  <a:pt x="0" y="0"/>
                </a:lnTo>
                <a:close/>
              </a:path>
            </a:pathLst>
          </a:custGeom>
          <a:solidFill>
            <a:srgbClr val="2361EB"/>
          </a:solidFill>
          <a:ln w="12600">
            <a:solidFill>
              <a:srgbClr val="2361EB"/>
            </a:solidFill>
            <a:round/>
          </a:ln>
        </p:spPr>
        <p:txBody>
          <a:bodyPr lIns="96120" tIns="4320" rIns="96120" bIns="4320" anchor="t">
            <a:noAutofit/>
          </a:bodyPr>
          <a:lstStyle/>
          <a:p>
            <a:endParaRPr lang="en-US" sz="1800" b="0" strike="noStrike" spc="-1">
              <a:solidFill>
                <a:srgbClr val="FFFFFF"/>
              </a:solidFill>
              <a:latin typeface="Arial"/>
            </a:endParaRPr>
          </a:p>
        </p:txBody>
      </p:sp>
      <p:sp>
        <p:nvSpPr>
          <p:cNvPr id="538" name="TextBox 537"/>
          <p:cNvSpPr txBox="1"/>
          <p:nvPr/>
        </p:nvSpPr>
        <p:spPr>
          <a:xfrm>
            <a:off x="502200" y="164520"/>
            <a:ext cx="8139600" cy="502920"/>
          </a:xfrm>
          <a:prstGeom prst="rect">
            <a:avLst/>
          </a:prstGeom>
          <a:noFill/>
          <a:ln w="0">
            <a:noFill/>
          </a:ln>
        </p:spPr>
        <p:txBody>
          <a:bodyPr lIns="90000" tIns="45000" rIns="90000" bIns="45000" anchor="t">
            <a:noAutofit/>
          </a:bodyPr>
          <a:lstStyle/>
          <a:p>
            <a:r>
              <a:rPr lang="en-US" sz="2600" b="1" strike="noStrike" spc="-1">
                <a:solidFill>
                  <a:srgbClr val="182C48"/>
                </a:solidFill>
                <a:latin typeface="Calibri-Bold"/>
                <a:ea typeface="Calibri-Bold"/>
              </a:rPr>
              <a:t>ViT — Results</a:t>
            </a:r>
            <a:endParaRPr lang="en-US" sz="2600" b="0" strike="noStrike" spc="-1">
              <a:solidFill>
                <a:srgbClr val="000000"/>
              </a:solidFill>
              <a:latin typeface="Arial"/>
            </a:endParaRPr>
          </a:p>
        </p:txBody>
      </p:sp>
      <p:sp>
        <p:nvSpPr>
          <p:cNvPr id="539" name="TextBox 538"/>
          <p:cNvSpPr txBox="1"/>
          <p:nvPr/>
        </p:nvSpPr>
        <p:spPr>
          <a:xfrm>
            <a:off x="502200" y="658440"/>
            <a:ext cx="8139600" cy="292680"/>
          </a:xfrm>
          <a:prstGeom prst="rect">
            <a:avLst/>
          </a:prstGeom>
          <a:noFill/>
          <a:ln w="0">
            <a:noFill/>
          </a:ln>
        </p:spPr>
        <p:txBody>
          <a:bodyPr lIns="90000" tIns="45000" rIns="90000" bIns="45000" anchor="t">
            <a:noAutofit/>
          </a:bodyPr>
          <a:lstStyle/>
          <a:p>
            <a:r>
              <a:rPr lang="en-US" sz="1200" b="0" i="1" strike="noStrike" spc="-1">
                <a:solidFill>
                  <a:srgbClr val="62728B"/>
                </a:solidFill>
                <a:latin typeface="Calibri-Italic"/>
                <a:ea typeface="Calibri-Italic"/>
              </a:rPr>
              <a:t>25 epochs · last_block fine-tuning · ImageNet-21k</a:t>
            </a:r>
            <a:endParaRPr lang="en-US" sz="1200" b="0" strike="noStrike" spc="-1">
              <a:solidFill>
                <a:srgbClr val="000000"/>
              </a:solidFill>
              <a:latin typeface="Arial"/>
            </a:endParaRPr>
          </a:p>
        </p:txBody>
      </p:sp>
      <p:sp>
        <p:nvSpPr>
          <p:cNvPr id="540" name="Straight Connector 539"/>
          <p:cNvSpPr/>
          <p:nvPr/>
        </p:nvSpPr>
        <p:spPr>
          <a:xfrm>
            <a:off x="457200" y="960120"/>
            <a:ext cx="8229600" cy="0"/>
          </a:xfrm>
          <a:prstGeom prst="line">
            <a:avLst/>
          </a:prstGeom>
          <a:ln w="12600">
            <a:solidFill>
              <a:srgbClr val="E2E8F0"/>
            </a:solidFill>
            <a:round/>
          </a:ln>
        </p:spPr>
        <p:style>
          <a:lnRef idx="0">
            <a:scrgbClr r="0" g="0" b="0"/>
          </a:lnRef>
          <a:fillRef idx="0">
            <a:scrgbClr r="0" g="0" b="0"/>
          </a:fillRef>
          <a:effectRef idx="0">
            <a:scrgbClr r="0" g="0" b="0"/>
          </a:effectRef>
          <a:fontRef idx="minor"/>
        </p:style>
        <p:txBody>
          <a:bodyPr lIns="96120" tIns="-51120" rIns="96120" bIns="-51120" anchor="t">
            <a:noAutofit/>
          </a:bodyPr>
          <a:lstStyle/>
          <a:p>
            <a:endParaRPr lang="en-US" sz="1800" b="0" strike="noStrike" spc="-1">
              <a:solidFill>
                <a:srgbClr val="000000"/>
              </a:solidFill>
              <a:latin typeface="Arial"/>
            </a:endParaRPr>
          </a:p>
        </p:txBody>
      </p:sp>
      <p:sp>
        <p:nvSpPr>
          <p:cNvPr id="541" name="Freeform 540"/>
          <p:cNvSpPr/>
          <p:nvPr/>
        </p:nvSpPr>
        <p:spPr>
          <a:xfrm>
            <a:off x="365760" y="1097280"/>
            <a:ext cx="2698200" cy="960840"/>
          </a:xfrm>
          <a:custGeom>
            <a:avLst/>
            <a:gdLst/>
            <a:ahLst/>
            <a:cxnLst/>
            <a:rect l="0" t="0" r="r" b="b"/>
            <a:pathLst>
              <a:path w="7495" h="2669">
                <a:moveTo>
                  <a:pt x="0" y="0"/>
                </a:moveTo>
                <a:lnTo>
                  <a:pt x="7495" y="0"/>
                </a:lnTo>
                <a:lnTo>
                  <a:pt x="7495" y="2669"/>
                </a:lnTo>
                <a:lnTo>
                  <a:pt x="0" y="2669"/>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542" name="Freeform 541"/>
          <p:cNvSpPr/>
          <p:nvPr/>
        </p:nvSpPr>
        <p:spPr>
          <a:xfrm>
            <a:off x="365760" y="1097280"/>
            <a:ext cx="64800" cy="960840"/>
          </a:xfrm>
          <a:custGeom>
            <a:avLst/>
            <a:gdLst/>
            <a:ahLst/>
            <a:cxnLst/>
            <a:rect l="0" t="0" r="r" b="b"/>
            <a:pathLst>
              <a:path w="180" h="2669">
                <a:moveTo>
                  <a:pt x="0" y="0"/>
                </a:moveTo>
                <a:lnTo>
                  <a:pt x="180" y="0"/>
                </a:lnTo>
                <a:lnTo>
                  <a:pt x="180" y="2669"/>
                </a:lnTo>
                <a:lnTo>
                  <a:pt x="0" y="2669"/>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543" name="TextBox 542"/>
          <p:cNvSpPr txBox="1"/>
          <p:nvPr/>
        </p:nvSpPr>
        <p:spPr>
          <a:xfrm>
            <a:off x="538920" y="1188720"/>
            <a:ext cx="2424600" cy="537840"/>
          </a:xfrm>
          <a:prstGeom prst="rect">
            <a:avLst/>
          </a:prstGeom>
          <a:noFill/>
          <a:ln w="0">
            <a:noFill/>
          </a:ln>
        </p:spPr>
        <p:txBody>
          <a:bodyPr lIns="90000" tIns="45000" rIns="90000" bIns="45000" anchor="t">
            <a:noAutofit/>
          </a:bodyPr>
          <a:lstStyle/>
          <a:p>
            <a:r>
              <a:rPr lang="en-US" sz="2400" b="1" strike="noStrike" spc="-1">
                <a:solidFill>
                  <a:srgbClr val="2361EB"/>
                </a:solidFill>
                <a:latin typeface="Calibri-Bold"/>
                <a:ea typeface="Calibri-Bold"/>
              </a:rPr>
              <a:t>95.52%</a:t>
            </a:r>
            <a:endParaRPr lang="en-US" sz="2400" b="0" strike="noStrike" spc="-1">
              <a:solidFill>
                <a:srgbClr val="000000"/>
              </a:solidFill>
              <a:latin typeface="Arial"/>
            </a:endParaRPr>
          </a:p>
        </p:txBody>
      </p:sp>
      <p:sp>
        <p:nvSpPr>
          <p:cNvPr id="544" name="TextBox 543"/>
          <p:cNvSpPr txBox="1"/>
          <p:nvPr/>
        </p:nvSpPr>
        <p:spPr>
          <a:xfrm>
            <a:off x="538920" y="1711800"/>
            <a:ext cx="2424600" cy="398520"/>
          </a:xfrm>
          <a:prstGeom prst="rect">
            <a:avLst/>
          </a:prstGeom>
          <a:noFill/>
          <a:ln w="0">
            <a:noFill/>
          </a:ln>
        </p:spPr>
        <p:txBody>
          <a:bodyPr lIns="90000" tIns="45000" rIns="90000" bIns="45000" anchor="t">
            <a:noAutofit/>
          </a:bodyPr>
          <a:lstStyle/>
          <a:p>
            <a:r>
              <a:rPr lang="en-US" sz="1000" b="0" strike="noStrike" spc="-1">
                <a:solidFill>
                  <a:srgbClr val="62728B"/>
                </a:solidFill>
                <a:latin typeface="Calibri"/>
                <a:ea typeface="Calibri"/>
              </a:rPr>
              <a:t>Best Val Accuracy</a:t>
            </a:r>
            <a:endParaRPr lang="en-US" sz="1000" b="0" strike="noStrike" spc="-1">
              <a:solidFill>
                <a:srgbClr val="000000"/>
              </a:solidFill>
              <a:latin typeface="Arial"/>
            </a:endParaRPr>
          </a:p>
          <a:p>
            <a:r>
              <a:rPr lang="en-US" sz="1000" b="0" strike="noStrike" spc="-1">
                <a:solidFill>
                  <a:srgbClr val="62728B"/>
                </a:solidFill>
                <a:latin typeface="Calibri"/>
                <a:ea typeface="Calibri"/>
              </a:rPr>
              <a:t>(epoch 25)</a:t>
            </a:r>
            <a:endParaRPr lang="en-US" sz="1000" b="0" strike="noStrike" spc="-1">
              <a:solidFill>
                <a:srgbClr val="000000"/>
              </a:solidFill>
              <a:latin typeface="Arial"/>
            </a:endParaRPr>
          </a:p>
        </p:txBody>
      </p:sp>
      <p:sp>
        <p:nvSpPr>
          <p:cNvPr id="545" name="Freeform 544"/>
          <p:cNvSpPr/>
          <p:nvPr/>
        </p:nvSpPr>
        <p:spPr>
          <a:xfrm>
            <a:off x="3200400" y="1097280"/>
            <a:ext cx="2698200" cy="960840"/>
          </a:xfrm>
          <a:custGeom>
            <a:avLst/>
            <a:gdLst/>
            <a:ahLst/>
            <a:cxnLst/>
            <a:rect l="0" t="0" r="r" b="b"/>
            <a:pathLst>
              <a:path w="7495" h="2669">
                <a:moveTo>
                  <a:pt x="0" y="0"/>
                </a:moveTo>
                <a:lnTo>
                  <a:pt x="7495" y="0"/>
                </a:lnTo>
                <a:lnTo>
                  <a:pt x="7495" y="2669"/>
                </a:lnTo>
                <a:lnTo>
                  <a:pt x="0" y="2669"/>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546" name="Freeform 545"/>
          <p:cNvSpPr/>
          <p:nvPr/>
        </p:nvSpPr>
        <p:spPr>
          <a:xfrm>
            <a:off x="3200400" y="1097280"/>
            <a:ext cx="64800" cy="960840"/>
          </a:xfrm>
          <a:custGeom>
            <a:avLst/>
            <a:gdLst/>
            <a:ahLst/>
            <a:cxnLst/>
            <a:rect l="0" t="0" r="r" b="b"/>
            <a:pathLst>
              <a:path w="180" h="2669">
                <a:moveTo>
                  <a:pt x="0" y="0"/>
                </a:moveTo>
                <a:lnTo>
                  <a:pt x="180" y="0"/>
                </a:lnTo>
                <a:lnTo>
                  <a:pt x="180" y="2669"/>
                </a:lnTo>
                <a:lnTo>
                  <a:pt x="0" y="2669"/>
                </a:lnTo>
                <a:lnTo>
                  <a:pt x="0" y="0"/>
                </a:lnTo>
                <a:close/>
              </a:path>
            </a:pathLst>
          </a:custGeom>
          <a:solidFill>
            <a:srgbClr val="0691B2"/>
          </a:solidFill>
          <a:ln w="12600">
            <a:solidFill>
              <a:srgbClr val="0691B2"/>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547" name="TextBox 546"/>
          <p:cNvSpPr txBox="1"/>
          <p:nvPr/>
        </p:nvSpPr>
        <p:spPr>
          <a:xfrm>
            <a:off x="3373560" y="1188720"/>
            <a:ext cx="2424600" cy="537840"/>
          </a:xfrm>
          <a:prstGeom prst="rect">
            <a:avLst/>
          </a:prstGeom>
          <a:noFill/>
          <a:ln w="0">
            <a:noFill/>
          </a:ln>
        </p:spPr>
        <p:txBody>
          <a:bodyPr lIns="90000" tIns="45000" rIns="90000" bIns="45000" anchor="t">
            <a:noAutofit/>
          </a:bodyPr>
          <a:lstStyle/>
          <a:p>
            <a:r>
              <a:rPr lang="en-US" sz="2400" b="1" strike="noStrike" spc="-1">
                <a:solidFill>
                  <a:srgbClr val="0691B2"/>
                </a:solidFill>
                <a:latin typeface="Calibri-Bold"/>
                <a:ea typeface="Calibri-Bold"/>
              </a:rPr>
              <a:t>93.35%</a:t>
            </a:r>
            <a:endParaRPr lang="en-US" sz="2400" b="0" strike="noStrike" spc="-1">
              <a:solidFill>
                <a:srgbClr val="000000"/>
              </a:solidFill>
              <a:latin typeface="Arial"/>
            </a:endParaRPr>
          </a:p>
        </p:txBody>
      </p:sp>
      <p:sp>
        <p:nvSpPr>
          <p:cNvPr id="548" name="TextBox 547"/>
          <p:cNvSpPr txBox="1"/>
          <p:nvPr/>
        </p:nvSpPr>
        <p:spPr>
          <a:xfrm>
            <a:off x="3373560" y="1711800"/>
            <a:ext cx="2424600" cy="398520"/>
          </a:xfrm>
          <a:prstGeom prst="rect">
            <a:avLst/>
          </a:prstGeom>
          <a:noFill/>
          <a:ln w="0">
            <a:noFill/>
          </a:ln>
        </p:spPr>
        <p:txBody>
          <a:bodyPr lIns="90000" tIns="45000" rIns="90000" bIns="45000" anchor="t">
            <a:noAutofit/>
          </a:bodyPr>
          <a:lstStyle/>
          <a:p>
            <a:r>
              <a:rPr lang="en-US" sz="1000" b="0" strike="noStrike" spc="-1">
                <a:solidFill>
                  <a:srgbClr val="62728B"/>
                </a:solidFill>
                <a:latin typeface="Calibri"/>
                <a:ea typeface="Calibri"/>
              </a:rPr>
              <a:t>Test Accuracy</a:t>
            </a:r>
            <a:endParaRPr lang="en-US" sz="1000" b="0" strike="noStrike" spc="-1">
              <a:solidFill>
                <a:srgbClr val="000000"/>
              </a:solidFill>
              <a:latin typeface="Arial"/>
            </a:endParaRPr>
          </a:p>
          <a:p>
            <a:r>
              <a:rPr lang="nl-NL" sz="1000" b="0" strike="noStrike" spc="-1">
                <a:solidFill>
                  <a:srgbClr val="62728B"/>
                </a:solidFill>
                <a:latin typeface="Calibri"/>
                <a:ea typeface="Calibri"/>
              </a:rPr>
              <a:t>(</a:t>
            </a:r>
            <a:r>
              <a:rPr lang="en-US" sz="1000" b="0" strike="noStrike" spc="-1">
                <a:solidFill>
                  <a:srgbClr val="62728B"/>
                </a:solidFill>
                <a:latin typeface="Calibri"/>
                <a:ea typeface="Calibri"/>
              </a:rPr>
              <a:t>precision 93.52% / recall 93.31%</a:t>
            </a:r>
            <a:r>
              <a:rPr lang="nl-NL" sz="1000" b="0" strike="noStrike" spc="-1">
                <a:solidFill>
                  <a:srgbClr val="62728B"/>
                </a:solidFill>
                <a:latin typeface="Calibri"/>
                <a:ea typeface="Calibri"/>
              </a:rPr>
              <a:t>)</a:t>
            </a:r>
            <a:endParaRPr lang="en-US" sz="1000" b="0" strike="noStrike" spc="-1">
              <a:solidFill>
                <a:srgbClr val="000000"/>
              </a:solidFill>
              <a:latin typeface="Arial"/>
            </a:endParaRPr>
          </a:p>
        </p:txBody>
      </p:sp>
      <p:sp>
        <p:nvSpPr>
          <p:cNvPr id="549" name="Freeform 548"/>
          <p:cNvSpPr/>
          <p:nvPr/>
        </p:nvSpPr>
        <p:spPr>
          <a:xfrm>
            <a:off x="6035040" y="1097280"/>
            <a:ext cx="2698200" cy="960840"/>
          </a:xfrm>
          <a:custGeom>
            <a:avLst/>
            <a:gdLst/>
            <a:ahLst/>
            <a:cxnLst/>
            <a:rect l="0" t="0" r="r" b="b"/>
            <a:pathLst>
              <a:path w="7495" h="2669">
                <a:moveTo>
                  <a:pt x="0" y="0"/>
                </a:moveTo>
                <a:lnTo>
                  <a:pt x="7495" y="0"/>
                </a:lnTo>
                <a:lnTo>
                  <a:pt x="7495" y="2669"/>
                </a:lnTo>
                <a:lnTo>
                  <a:pt x="0" y="2669"/>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550" name="Freeform 549"/>
          <p:cNvSpPr/>
          <p:nvPr/>
        </p:nvSpPr>
        <p:spPr>
          <a:xfrm>
            <a:off x="6035040" y="1097280"/>
            <a:ext cx="64800" cy="960840"/>
          </a:xfrm>
          <a:custGeom>
            <a:avLst/>
            <a:gdLst/>
            <a:ahLst/>
            <a:cxnLst/>
            <a:rect l="0" t="0" r="r" b="b"/>
            <a:pathLst>
              <a:path w="180" h="2669">
                <a:moveTo>
                  <a:pt x="0" y="0"/>
                </a:moveTo>
                <a:lnTo>
                  <a:pt x="180" y="0"/>
                </a:lnTo>
                <a:lnTo>
                  <a:pt x="180" y="2669"/>
                </a:lnTo>
                <a:lnTo>
                  <a:pt x="0" y="2669"/>
                </a:lnTo>
                <a:lnTo>
                  <a:pt x="0" y="0"/>
                </a:lnTo>
                <a:close/>
              </a:path>
            </a:pathLst>
          </a:custGeom>
          <a:solidFill>
            <a:srgbClr val="D97504"/>
          </a:solidFill>
          <a:ln w="12600">
            <a:solidFill>
              <a:srgbClr val="D97504"/>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551" name="TextBox 550"/>
          <p:cNvSpPr txBox="1"/>
          <p:nvPr/>
        </p:nvSpPr>
        <p:spPr>
          <a:xfrm>
            <a:off x="6208200" y="1188720"/>
            <a:ext cx="2424600" cy="537840"/>
          </a:xfrm>
          <a:prstGeom prst="rect">
            <a:avLst/>
          </a:prstGeom>
          <a:noFill/>
          <a:ln w="0">
            <a:noFill/>
          </a:ln>
        </p:spPr>
        <p:txBody>
          <a:bodyPr lIns="90000" tIns="45000" rIns="90000" bIns="45000" anchor="t">
            <a:noAutofit/>
          </a:bodyPr>
          <a:lstStyle/>
          <a:p>
            <a:r>
              <a:rPr lang="en-US" sz="2400" b="1" strike="noStrike" spc="-1">
                <a:solidFill>
                  <a:srgbClr val="D97504"/>
                </a:solidFill>
                <a:latin typeface="Calibri-Bold"/>
                <a:ea typeface="Calibri-Bold"/>
              </a:rPr>
              <a:t>2.17 pp</a:t>
            </a:r>
            <a:endParaRPr lang="en-US" sz="2400" b="0" strike="noStrike" spc="-1">
              <a:solidFill>
                <a:srgbClr val="000000"/>
              </a:solidFill>
              <a:latin typeface="Arial"/>
            </a:endParaRPr>
          </a:p>
        </p:txBody>
      </p:sp>
      <p:sp>
        <p:nvSpPr>
          <p:cNvPr id="552" name="TextBox 551"/>
          <p:cNvSpPr txBox="1"/>
          <p:nvPr/>
        </p:nvSpPr>
        <p:spPr>
          <a:xfrm>
            <a:off x="6208200" y="1711800"/>
            <a:ext cx="2424600" cy="398520"/>
          </a:xfrm>
          <a:prstGeom prst="rect">
            <a:avLst/>
          </a:prstGeom>
          <a:noFill/>
          <a:ln w="0">
            <a:noFill/>
          </a:ln>
        </p:spPr>
        <p:txBody>
          <a:bodyPr lIns="90000" tIns="45000" rIns="90000" bIns="45000" anchor="t">
            <a:noAutofit/>
          </a:bodyPr>
          <a:lstStyle/>
          <a:p>
            <a:r>
              <a:rPr lang="en-US" sz="1000" b="0" strike="noStrike" spc="-1">
                <a:solidFill>
                  <a:srgbClr val="62728B"/>
                </a:solidFill>
                <a:latin typeface="Calibri"/>
                <a:ea typeface="Calibri"/>
              </a:rPr>
              <a:t>Generalization Gap</a:t>
            </a:r>
            <a:endParaRPr lang="en-US" sz="1000" b="0" strike="noStrike" spc="-1">
              <a:solidFill>
                <a:srgbClr val="000000"/>
              </a:solidFill>
              <a:latin typeface="Arial"/>
            </a:endParaRPr>
          </a:p>
          <a:p>
            <a:r>
              <a:rPr lang="en-US" sz="1000" b="0" strike="noStrike" spc="-1">
                <a:solidFill>
                  <a:srgbClr val="62728B"/>
                </a:solidFill>
                <a:latin typeface="Calibri"/>
                <a:ea typeface="Calibri"/>
              </a:rPr>
              <a:t>(very low</a:t>
            </a:r>
            <a:r>
              <a:rPr lang="nl-NL" sz="1000" b="0" strike="noStrike" spc="-1">
                <a:solidFill>
                  <a:srgbClr val="62728B"/>
                </a:solidFill>
                <a:latin typeface="Calibri"/>
                <a:ea typeface="Calibri"/>
              </a:rPr>
              <a:t> overfitting</a:t>
            </a:r>
            <a:r>
              <a:rPr lang="en-US" sz="1000" b="0" strike="noStrike" spc="-1">
                <a:solidFill>
                  <a:srgbClr val="62728B"/>
                </a:solidFill>
                <a:latin typeface="Calibri"/>
                <a:ea typeface="Calibri"/>
              </a:rPr>
              <a:t>)</a:t>
            </a:r>
            <a:endParaRPr lang="en-US" sz="1000" b="0" strike="noStrike" spc="-1">
              <a:solidFill>
                <a:srgbClr val="000000"/>
              </a:solidFill>
              <a:latin typeface="Arial"/>
            </a:endParaRPr>
          </a:p>
        </p:txBody>
      </p:sp>
      <p:sp>
        <p:nvSpPr>
          <p:cNvPr id="553" name="Freeform 552"/>
          <p:cNvSpPr/>
          <p:nvPr/>
        </p:nvSpPr>
        <p:spPr>
          <a:xfrm>
            <a:off x="365760" y="2212920"/>
            <a:ext cx="4115520" cy="2561040"/>
          </a:xfrm>
          <a:custGeom>
            <a:avLst/>
            <a:gdLst/>
            <a:ahLst/>
            <a:cxnLst/>
            <a:rect l="0" t="0" r="r" b="b"/>
            <a:pathLst>
              <a:path w="11432" h="7114">
                <a:moveTo>
                  <a:pt x="0" y="0"/>
                </a:moveTo>
                <a:lnTo>
                  <a:pt x="11432" y="0"/>
                </a:lnTo>
                <a:lnTo>
                  <a:pt x="11432" y="7114"/>
                </a:lnTo>
                <a:lnTo>
                  <a:pt x="0" y="7114"/>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554" name="Freeform 553"/>
          <p:cNvSpPr/>
          <p:nvPr/>
        </p:nvSpPr>
        <p:spPr>
          <a:xfrm>
            <a:off x="365760" y="2212920"/>
            <a:ext cx="64800" cy="2561040"/>
          </a:xfrm>
          <a:custGeom>
            <a:avLst/>
            <a:gdLst/>
            <a:ahLst/>
            <a:cxnLst/>
            <a:rect l="0" t="0" r="r" b="b"/>
            <a:pathLst>
              <a:path w="180" h="7114">
                <a:moveTo>
                  <a:pt x="0" y="0"/>
                </a:moveTo>
                <a:lnTo>
                  <a:pt x="180" y="0"/>
                </a:lnTo>
                <a:lnTo>
                  <a:pt x="180" y="7114"/>
                </a:lnTo>
                <a:lnTo>
                  <a:pt x="0" y="7114"/>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555" name="TextBox 554"/>
          <p:cNvSpPr txBox="1"/>
          <p:nvPr/>
        </p:nvSpPr>
        <p:spPr>
          <a:xfrm>
            <a:off x="593640" y="2304360"/>
            <a:ext cx="3704760" cy="301680"/>
          </a:xfrm>
          <a:prstGeom prst="rect">
            <a:avLst/>
          </a:prstGeom>
          <a:noFill/>
          <a:ln w="0">
            <a:noFill/>
          </a:ln>
        </p:spPr>
        <p:txBody>
          <a:bodyPr lIns="90000" tIns="45000" rIns="90000" bIns="45000" anchor="t">
            <a:noAutofit/>
          </a:bodyPr>
          <a:lstStyle/>
          <a:p>
            <a:r>
              <a:rPr lang="en-US" sz="1200" b="1" strike="noStrike" spc="-1">
                <a:solidFill>
                  <a:srgbClr val="182C48"/>
                </a:solidFill>
                <a:latin typeface="Calibri-Bold"/>
                <a:ea typeface="Calibri-Bold"/>
              </a:rPr>
              <a:t>Training Curves — Observations</a:t>
            </a:r>
            <a:endParaRPr lang="en-US" sz="1200" b="0" strike="noStrike" spc="-1">
              <a:solidFill>
                <a:srgbClr val="000000"/>
              </a:solidFill>
              <a:latin typeface="Arial"/>
            </a:endParaRPr>
          </a:p>
        </p:txBody>
      </p:sp>
      <p:sp>
        <p:nvSpPr>
          <p:cNvPr id="556" name="TextBox 555"/>
          <p:cNvSpPr txBox="1"/>
          <p:nvPr/>
        </p:nvSpPr>
        <p:spPr>
          <a:xfrm>
            <a:off x="695880" y="2677680"/>
            <a:ext cx="3704760" cy="1125000"/>
          </a:xfrm>
          <a:prstGeom prst="rect">
            <a:avLst/>
          </a:prstGeom>
          <a:noFill/>
          <a:ln w="0">
            <a:noFill/>
          </a:ln>
        </p:spPr>
        <p:txBody>
          <a:bodyPr lIns="90000" tIns="45000" rIns="90000" bIns="45000" anchor="t">
            <a:noAutofit/>
          </a:bodyPr>
          <a:lstStyle/>
          <a:p>
            <a:r>
              <a:rPr lang="en-US" sz="1100" b="0" strike="noStrike" spc="-1" dirty="0" err="1">
                <a:solidFill>
                  <a:srgbClr val="1C2739"/>
                </a:solidFill>
                <a:latin typeface="Calibri"/>
                <a:ea typeface="Calibri"/>
              </a:rPr>
              <a:t>ViT</a:t>
            </a:r>
            <a:r>
              <a:rPr lang="en-US" sz="1100" b="0" strike="noStrike" spc="-1" dirty="0">
                <a:solidFill>
                  <a:srgbClr val="1C2739"/>
                </a:solidFill>
                <a:latin typeface="Calibri"/>
                <a:ea typeface="Calibri"/>
              </a:rPr>
              <a:t> achieves highest overall accuracy with enough epochs</a:t>
            </a:r>
            <a:endParaRPr lang="en-US" sz="1100" b="0" strike="noStrike" spc="-1" dirty="0">
              <a:solidFill>
                <a:srgbClr val="000000"/>
              </a:solidFill>
              <a:latin typeface="Arial"/>
            </a:endParaRPr>
          </a:p>
          <a:p>
            <a:r>
              <a:rPr lang="en-US" sz="1100" b="0" strike="noStrike" spc="-1" dirty="0" err="1">
                <a:solidFill>
                  <a:srgbClr val="1C2739"/>
                </a:solidFill>
                <a:latin typeface="Calibri"/>
                <a:ea typeface="Calibri"/>
              </a:rPr>
              <a:t>ReduceLROnPlateau</a:t>
            </a:r>
            <a:r>
              <a:rPr lang="en-US" sz="1100" b="0" strike="noStrike" spc="-1" dirty="0">
                <a:solidFill>
                  <a:srgbClr val="1C2739"/>
                </a:solidFill>
                <a:latin typeface="Calibri"/>
                <a:ea typeface="Calibri"/>
              </a:rPr>
              <a:t> handles </a:t>
            </a:r>
            <a:r>
              <a:rPr lang="en-US" sz="1100" b="0" strike="noStrike" spc="-1" dirty="0" err="1">
                <a:solidFill>
                  <a:srgbClr val="1C2739"/>
                </a:solidFill>
                <a:latin typeface="Calibri"/>
                <a:ea typeface="Calibri"/>
              </a:rPr>
              <a:t>lr</a:t>
            </a:r>
            <a:r>
              <a:rPr lang="en-US" sz="1100" b="0" strike="noStrike" spc="-1" dirty="0">
                <a:solidFill>
                  <a:srgbClr val="1C2739"/>
                </a:solidFill>
                <a:latin typeface="Calibri"/>
                <a:ea typeface="Calibri"/>
              </a:rPr>
              <a:t> decay effectively</a:t>
            </a:r>
            <a:endParaRPr lang="en-US" sz="1100" b="0" strike="noStrike" spc="-1" dirty="0">
              <a:solidFill>
                <a:srgbClr val="000000"/>
              </a:solidFill>
              <a:latin typeface="Arial"/>
            </a:endParaRPr>
          </a:p>
          <a:p>
            <a:r>
              <a:rPr lang="en-US" sz="1100" b="0" strike="noStrike" spc="-1" dirty="0">
                <a:solidFill>
                  <a:srgbClr val="1C2739"/>
                </a:solidFill>
                <a:latin typeface="Calibri"/>
                <a:ea typeface="Calibri"/>
              </a:rPr>
              <a:t>Test/</a:t>
            </a:r>
            <a:r>
              <a:rPr lang="en-US" sz="1100" b="0" strike="noStrike" spc="-1" dirty="0" err="1">
                <a:solidFill>
                  <a:srgbClr val="1C2739"/>
                </a:solidFill>
                <a:latin typeface="Calibri"/>
                <a:ea typeface="Calibri"/>
              </a:rPr>
              <a:t>val</a:t>
            </a:r>
            <a:r>
              <a:rPr lang="en-US" sz="1100" b="0" strike="noStrike" spc="-1" dirty="0">
                <a:solidFill>
                  <a:srgbClr val="1C2739"/>
                </a:solidFill>
                <a:latin typeface="Calibri"/>
                <a:ea typeface="Calibri"/>
              </a:rPr>
              <a:t> gap 2.17 pp — very low overfitting</a:t>
            </a:r>
            <a:endParaRPr lang="en-US" sz="1100" b="0" strike="noStrike" spc="-1" dirty="0">
              <a:solidFill>
                <a:srgbClr val="000000"/>
              </a:solidFill>
              <a:latin typeface="Arial"/>
            </a:endParaRPr>
          </a:p>
          <a:p>
            <a:r>
              <a:rPr lang="en-US" sz="1100" b="0" strike="noStrike" spc="-1" dirty="0">
                <a:solidFill>
                  <a:srgbClr val="1C2739"/>
                </a:solidFill>
                <a:latin typeface="Calibri"/>
                <a:ea typeface="Calibri"/>
              </a:rPr>
              <a:t>[CLS] token captures global context</a:t>
            </a:r>
            <a:r>
              <a:rPr lang="nl-NL" sz="1100" b="0" strike="noStrike" spc="-1" dirty="0">
                <a:solidFill>
                  <a:srgbClr val="1C2739"/>
                </a:solidFill>
                <a:latin typeface="Calibri"/>
                <a:ea typeface="Calibri"/>
              </a:rPr>
              <a:t> </a:t>
            </a:r>
            <a:r>
              <a:rPr lang="en-US" sz="1100" b="0" strike="noStrike" spc="-1" dirty="0">
                <a:solidFill>
                  <a:srgbClr val="1C2739"/>
                </a:solidFill>
                <a:latin typeface="Calibri"/>
                <a:ea typeface="Calibri"/>
              </a:rPr>
              <a:t>ideal for breed classification</a:t>
            </a:r>
            <a:endParaRPr lang="en-US" sz="1100" b="0" strike="noStrike" spc="-1" dirty="0">
              <a:solidFill>
                <a:srgbClr val="000000"/>
              </a:solidFill>
              <a:latin typeface="Arial"/>
            </a:endParaRPr>
          </a:p>
        </p:txBody>
      </p:sp>
      <p:sp>
        <p:nvSpPr>
          <p:cNvPr id="557" name="Freeform 556"/>
          <p:cNvSpPr/>
          <p:nvPr/>
        </p:nvSpPr>
        <p:spPr>
          <a:xfrm>
            <a:off x="4663440" y="2212920"/>
            <a:ext cx="4115520" cy="2561040"/>
          </a:xfrm>
          <a:custGeom>
            <a:avLst/>
            <a:gdLst/>
            <a:ahLst/>
            <a:cxnLst/>
            <a:rect l="0" t="0" r="r" b="b"/>
            <a:pathLst>
              <a:path w="11432" h="7114">
                <a:moveTo>
                  <a:pt x="0" y="0"/>
                </a:moveTo>
                <a:lnTo>
                  <a:pt x="11432" y="0"/>
                </a:lnTo>
                <a:lnTo>
                  <a:pt x="11432" y="7114"/>
                </a:lnTo>
                <a:lnTo>
                  <a:pt x="0" y="7114"/>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558" name="Freeform 557"/>
          <p:cNvSpPr/>
          <p:nvPr/>
        </p:nvSpPr>
        <p:spPr>
          <a:xfrm>
            <a:off x="4663440" y="2212920"/>
            <a:ext cx="64800" cy="2561040"/>
          </a:xfrm>
          <a:custGeom>
            <a:avLst/>
            <a:gdLst/>
            <a:ahLst/>
            <a:cxnLst/>
            <a:rect l="0" t="0" r="r" b="b"/>
            <a:pathLst>
              <a:path w="180" h="7114">
                <a:moveTo>
                  <a:pt x="0" y="0"/>
                </a:moveTo>
                <a:lnTo>
                  <a:pt x="180" y="0"/>
                </a:lnTo>
                <a:lnTo>
                  <a:pt x="180" y="7114"/>
                </a:lnTo>
                <a:lnTo>
                  <a:pt x="0" y="7114"/>
                </a:lnTo>
                <a:lnTo>
                  <a:pt x="0" y="0"/>
                </a:lnTo>
                <a:close/>
              </a:path>
            </a:pathLst>
          </a:custGeom>
          <a:solidFill>
            <a:srgbClr val="7A38ED"/>
          </a:solidFill>
          <a:ln w="12600">
            <a:solidFill>
              <a:srgbClr val="7A38ED"/>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559" name="TextBox 558"/>
          <p:cNvSpPr txBox="1"/>
          <p:nvPr/>
        </p:nvSpPr>
        <p:spPr>
          <a:xfrm>
            <a:off x="4891320" y="2304360"/>
            <a:ext cx="3659040" cy="301680"/>
          </a:xfrm>
          <a:prstGeom prst="rect">
            <a:avLst/>
          </a:prstGeom>
          <a:noFill/>
          <a:ln w="0">
            <a:noFill/>
          </a:ln>
        </p:spPr>
        <p:txBody>
          <a:bodyPr lIns="90000" tIns="45000" rIns="90000" bIns="45000" anchor="t">
            <a:noAutofit/>
          </a:bodyPr>
          <a:lstStyle/>
          <a:p>
            <a:r>
              <a:rPr lang="en-US" sz="1200" b="1" strike="noStrike" spc="-1">
                <a:solidFill>
                  <a:srgbClr val="182C48"/>
                </a:solidFill>
                <a:latin typeface="Calibri-Bold"/>
                <a:ea typeface="Calibri-Bold"/>
              </a:rPr>
              <a:t>Ablation Experiments</a:t>
            </a:r>
            <a:endParaRPr lang="en-US" sz="1200" b="0" strike="noStrike" spc="-1">
              <a:solidFill>
                <a:srgbClr val="000000"/>
              </a:solidFill>
              <a:latin typeface="Arial"/>
            </a:endParaRPr>
          </a:p>
        </p:txBody>
      </p:sp>
      <p:sp>
        <p:nvSpPr>
          <p:cNvPr id="560" name="Freeform 559"/>
          <p:cNvSpPr/>
          <p:nvPr/>
        </p:nvSpPr>
        <p:spPr>
          <a:xfrm>
            <a:off x="4827960" y="2679120"/>
            <a:ext cx="3786480" cy="275040"/>
          </a:xfrm>
          <a:custGeom>
            <a:avLst/>
            <a:gdLst/>
            <a:ahLst/>
            <a:cxnLst/>
            <a:rect l="0" t="0" r="r" b="b"/>
            <a:pathLst>
              <a:path w="10518" h="764">
                <a:moveTo>
                  <a:pt x="0" y="0"/>
                </a:moveTo>
                <a:lnTo>
                  <a:pt x="10518" y="0"/>
                </a:lnTo>
                <a:lnTo>
                  <a:pt x="10518" y="764"/>
                </a:lnTo>
                <a:lnTo>
                  <a:pt x="0" y="764"/>
                </a:lnTo>
                <a:lnTo>
                  <a:pt x="0" y="0"/>
                </a:lnTo>
                <a:close/>
              </a:path>
            </a:pathLst>
          </a:custGeom>
          <a:solidFill>
            <a:srgbClr val="182C48"/>
          </a:solidFill>
          <a:ln w="12600">
            <a:solidFill>
              <a:srgbClr val="182C48"/>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561" name="TextBox 560"/>
          <p:cNvSpPr txBox="1"/>
          <p:nvPr/>
        </p:nvSpPr>
        <p:spPr>
          <a:xfrm>
            <a:off x="4937040" y="2679120"/>
            <a:ext cx="1738800" cy="274320"/>
          </a:xfrm>
          <a:prstGeom prst="rect">
            <a:avLst/>
          </a:prstGeom>
          <a:noFill/>
          <a:ln w="0">
            <a:noFill/>
          </a:ln>
        </p:spPr>
        <p:txBody>
          <a:bodyPr lIns="90000" tIns="45000" rIns="90000" bIns="45000" anchor="t">
            <a:noAutofit/>
          </a:bodyPr>
          <a:lstStyle/>
          <a:p>
            <a:r>
              <a:rPr lang="en-US" sz="900" b="1" strike="noStrike" spc="-1">
                <a:solidFill>
                  <a:srgbClr val="FFFFFF"/>
                </a:solidFill>
                <a:latin typeface="Calibri-Bold"/>
                <a:ea typeface="Calibri-Bold"/>
              </a:rPr>
              <a:t>Configuration</a:t>
            </a:r>
            <a:endParaRPr lang="en-US" sz="900" b="0" strike="noStrike" spc="-1">
              <a:solidFill>
                <a:srgbClr val="000000"/>
              </a:solidFill>
              <a:latin typeface="Arial"/>
            </a:endParaRPr>
          </a:p>
        </p:txBody>
      </p:sp>
      <p:sp>
        <p:nvSpPr>
          <p:cNvPr id="562" name="TextBox 561"/>
          <p:cNvSpPr txBox="1"/>
          <p:nvPr/>
        </p:nvSpPr>
        <p:spPr>
          <a:xfrm>
            <a:off x="6811560" y="2679120"/>
            <a:ext cx="732960" cy="274320"/>
          </a:xfrm>
          <a:prstGeom prst="rect">
            <a:avLst/>
          </a:prstGeom>
          <a:noFill/>
          <a:ln w="0">
            <a:noFill/>
          </a:ln>
        </p:spPr>
        <p:txBody>
          <a:bodyPr lIns="90000" tIns="45000" rIns="90000" bIns="45000" anchor="t">
            <a:noAutofit/>
          </a:bodyPr>
          <a:lstStyle/>
          <a:p>
            <a:r>
              <a:rPr lang="en-US" sz="900" b="1" strike="noStrike" spc="-1">
                <a:solidFill>
                  <a:srgbClr val="FFFFFF"/>
                </a:solidFill>
                <a:latin typeface="Calibri-Bold"/>
                <a:ea typeface="Calibri-Bold"/>
              </a:rPr>
              <a:t>Test Acc</a:t>
            </a:r>
            <a:endParaRPr lang="en-US" sz="900" b="0" strike="noStrike" spc="-1">
              <a:solidFill>
                <a:srgbClr val="000000"/>
              </a:solidFill>
              <a:latin typeface="Arial"/>
            </a:endParaRPr>
          </a:p>
        </p:txBody>
      </p:sp>
      <p:sp>
        <p:nvSpPr>
          <p:cNvPr id="563" name="TextBox 562"/>
          <p:cNvSpPr txBox="1"/>
          <p:nvPr/>
        </p:nvSpPr>
        <p:spPr>
          <a:xfrm>
            <a:off x="7680240" y="2679120"/>
            <a:ext cx="732960" cy="274320"/>
          </a:xfrm>
          <a:prstGeom prst="rect">
            <a:avLst/>
          </a:prstGeom>
          <a:noFill/>
          <a:ln w="0">
            <a:noFill/>
          </a:ln>
        </p:spPr>
        <p:txBody>
          <a:bodyPr lIns="90000" tIns="45000" rIns="90000" bIns="45000" anchor="t">
            <a:noAutofit/>
          </a:bodyPr>
          <a:lstStyle/>
          <a:p>
            <a:r>
              <a:rPr lang="en-US" sz="900" b="1" strike="noStrike" spc="-1">
                <a:solidFill>
                  <a:srgbClr val="FFFFFF"/>
                </a:solidFill>
                <a:latin typeface="Calibri-Bold"/>
                <a:ea typeface="Calibri-Bold"/>
              </a:rPr>
              <a:t>Note</a:t>
            </a:r>
            <a:endParaRPr lang="en-US" sz="900" b="0" strike="noStrike" spc="-1">
              <a:solidFill>
                <a:srgbClr val="000000"/>
              </a:solidFill>
              <a:latin typeface="Arial"/>
            </a:endParaRPr>
          </a:p>
        </p:txBody>
      </p:sp>
      <p:sp>
        <p:nvSpPr>
          <p:cNvPr id="564" name="Freeform 563"/>
          <p:cNvSpPr/>
          <p:nvPr/>
        </p:nvSpPr>
        <p:spPr>
          <a:xfrm>
            <a:off x="4827960" y="2990160"/>
            <a:ext cx="3786480" cy="302400"/>
          </a:xfrm>
          <a:custGeom>
            <a:avLst/>
            <a:gdLst/>
            <a:ahLst/>
            <a:cxnLst/>
            <a:rect l="0" t="0" r="r" b="b"/>
            <a:pathLst>
              <a:path w="10518" h="840">
                <a:moveTo>
                  <a:pt x="0" y="0"/>
                </a:moveTo>
                <a:lnTo>
                  <a:pt x="10518" y="0"/>
                </a:lnTo>
                <a:lnTo>
                  <a:pt x="10518"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565" name="TextBox 564"/>
          <p:cNvSpPr txBox="1"/>
          <p:nvPr/>
        </p:nvSpPr>
        <p:spPr>
          <a:xfrm>
            <a:off x="4937040" y="3035880"/>
            <a:ext cx="1693080" cy="229320"/>
          </a:xfrm>
          <a:prstGeom prst="rect">
            <a:avLst/>
          </a:prstGeom>
          <a:noFill/>
          <a:ln w="0">
            <a:noFill/>
          </a:ln>
        </p:spPr>
        <p:txBody>
          <a:bodyPr lIns="90000" tIns="45000" rIns="90000" bIns="45000" anchor="t">
            <a:noAutofit/>
          </a:bodyPr>
          <a:lstStyle/>
          <a:p>
            <a:r>
              <a:rPr lang="en-US" sz="900" b="0" strike="noStrike" spc="-1">
                <a:solidFill>
                  <a:srgbClr val="1C2739"/>
                </a:solidFill>
                <a:latin typeface="Calibri"/>
                <a:ea typeface="Calibri"/>
              </a:rPr>
              <a:t>exp3 — last_block (25 ep.)</a:t>
            </a:r>
            <a:endParaRPr lang="en-US" sz="900" b="0" strike="noStrike" spc="-1">
              <a:solidFill>
                <a:srgbClr val="000000"/>
              </a:solidFill>
              <a:latin typeface="Arial"/>
            </a:endParaRPr>
          </a:p>
        </p:txBody>
      </p:sp>
      <p:sp>
        <p:nvSpPr>
          <p:cNvPr id="566" name="TextBox 565"/>
          <p:cNvSpPr txBox="1"/>
          <p:nvPr/>
        </p:nvSpPr>
        <p:spPr>
          <a:xfrm>
            <a:off x="6811560" y="3035880"/>
            <a:ext cx="732960" cy="224640"/>
          </a:xfrm>
          <a:prstGeom prst="rect">
            <a:avLst/>
          </a:prstGeom>
          <a:noFill/>
          <a:ln w="0">
            <a:noFill/>
          </a:ln>
        </p:spPr>
        <p:txBody>
          <a:bodyPr lIns="90000" tIns="45000" rIns="90000" bIns="45000" anchor="t">
            <a:noAutofit/>
          </a:bodyPr>
          <a:lstStyle/>
          <a:p>
            <a:r>
              <a:rPr lang="en-US" sz="900" b="1" strike="noStrike" spc="-1">
                <a:solidFill>
                  <a:srgbClr val="039667"/>
                </a:solidFill>
                <a:latin typeface="Calibri-Bold"/>
                <a:ea typeface="Calibri-Bold"/>
              </a:rPr>
              <a:t>93.16%</a:t>
            </a:r>
            <a:endParaRPr lang="en-US" sz="900" b="0" strike="noStrike" spc="-1">
              <a:solidFill>
                <a:srgbClr val="000000"/>
              </a:solidFill>
              <a:latin typeface="Arial"/>
            </a:endParaRPr>
          </a:p>
        </p:txBody>
      </p:sp>
      <p:sp>
        <p:nvSpPr>
          <p:cNvPr id="567" name="TextBox 566"/>
          <p:cNvSpPr txBox="1"/>
          <p:nvPr/>
        </p:nvSpPr>
        <p:spPr>
          <a:xfrm>
            <a:off x="7680240" y="3035880"/>
            <a:ext cx="732960" cy="229320"/>
          </a:xfrm>
          <a:prstGeom prst="rect">
            <a:avLst/>
          </a:prstGeom>
          <a:noFill/>
          <a:ln w="0">
            <a:noFill/>
          </a:ln>
        </p:spPr>
        <p:txBody>
          <a:bodyPr lIns="90000" tIns="45000" rIns="90000" bIns="45000" anchor="t">
            <a:noAutofit/>
          </a:bodyPr>
          <a:lstStyle/>
          <a:p>
            <a:r>
              <a:rPr lang="en-US" sz="900" b="0" strike="noStrike" spc="-1">
                <a:solidFill>
                  <a:srgbClr val="62728B"/>
                </a:solidFill>
                <a:latin typeface="Calibri"/>
                <a:ea typeface="Calibri"/>
              </a:rPr>
              <a:t>✅ Best</a:t>
            </a:r>
            <a:endParaRPr lang="en-US" sz="900" b="0" strike="noStrike" spc="-1">
              <a:solidFill>
                <a:srgbClr val="000000"/>
              </a:solidFill>
              <a:latin typeface="Arial"/>
            </a:endParaRPr>
          </a:p>
        </p:txBody>
      </p:sp>
      <p:sp>
        <p:nvSpPr>
          <p:cNvPr id="568" name="Freeform 567"/>
          <p:cNvSpPr/>
          <p:nvPr/>
        </p:nvSpPr>
        <p:spPr>
          <a:xfrm>
            <a:off x="4827960" y="3328560"/>
            <a:ext cx="3786480" cy="302400"/>
          </a:xfrm>
          <a:custGeom>
            <a:avLst/>
            <a:gdLst/>
            <a:ahLst/>
            <a:cxnLst/>
            <a:rect l="0" t="0" r="r" b="b"/>
            <a:pathLst>
              <a:path w="10518" h="840">
                <a:moveTo>
                  <a:pt x="0" y="0"/>
                </a:moveTo>
                <a:lnTo>
                  <a:pt x="10518" y="0"/>
                </a:lnTo>
                <a:lnTo>
                  <a:pt x="10518"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569" name="TextBox 568"/>
          <p:cNvSpPr txBox="1"/>
          <p:nvPr/>
        </p:nvSpPr>
        <p:spPr>
          <a:xfrm>
            <a:off x="4937040" y="3374280"/>
            <a:ext cx="1693080" cy="229320"/>
          </a:xfrm>
          <a:prstGeom prst="rect">
            <a:avLst/>
          </a:prstGeom>
          <a:noFill/>
          <a:ln w="0">
            <a:noFill/>
          </a:ln>
        </p:spPr>
        <p:txBody>
          <a:bodyPr lIns="90000" tIns="45000" rIns="90000" bIns="45000" anchor="t">
            <a:noAutofit/>
          </a:bodyPr>
          <a:lstStyle/>
          <a:p>
            <a:r>
              <a:rPr lang="en-US" sz="900" b="0" strike="noStrike" spc="-1">
                <a:solidFill>
                  <a:srgbClr val="1C2739"/>
                </a:solidFill>
                <a:latin typeface="Calibri"/>
                <a:ea typeface="Calibri"/>
              </a:rPr>
              <a:t>exp1 — classifier, lr=1e-3</a:t>
            </a:r>
            <a:endParaRPr lang="en-US" sz="900" b="0" strike="noStrike" spc="-1">
              <a:solidFill>
                <a:srgbClr val="000000"/>
              </a:solidFill>
              <a:latin typeface="Arial"/>
            </a:endParaRPr>
          </a:p>
        </p:txBody>
      </p:sp>
      <p:sp>
        <p:nvSpPr>
          <p:cNvPr id="570" name="TextBox 569"/>
          <p:cNvSpPr txBox="1"/>
          <p:nvPr/>
        </p:nvSpPr>
        <p:spPr>
          <a:xfrm>
            <a:off x="6811560" y="3374280"/>
            <a:ext cx="732960" cy="224640"/>
          </a:xfrm>
          <a:prstGeom prst="rect">
            <a:avLst/>
          </a:prstGeom>
          <a:noFill/>
          <a:ln w="0">
            <a:noFill/>
          </a:ln>
        </p:spPr>
        <p:txBody>
          <a:bodyPr lIns="90000" tIns="45000" rIns="90000" bIns="45000" anchor="t">
            <a:noAutofit/>
          </a:bodyPr>
          <a:lstStyle/>
          <a:p>
            <a:r>
              <a:rPr lang="en-US" sz="900" b="1" strike="noStrike" spc="-1">
                <a:solidFill>
                  <a:srgbClr val="525252"/>
                </a:solidFill>
                <a:latin typeface="Calibri-Bold"/>
                <a:ea typeface="Calibri-Bold"/>
              </a:rPr>
              <a:t>92.29%</a:t>
            </a:r>
            <a:endParaRPr lang="en-US" sz="900" b="0" strike="noStrike" spc="-1">
              <a:solidFill>
                <a:srgbClr val="000000"/>
              </a:solidFill>
              <a:latin typeface="Arial"/>
            </a:endParaRPr>
          </a:p>
        </p:txBody>
      </p:sp>
      <p:sp>
        <p:nvSpPr>
          <p:cNvPr id="571" name="TextBox 570"/>
          <p:cNvSpPr txBox="1"/>
          <p:nvPr/>
        </p:nvSpPr>
        <p:spPr>
          <a:xfrm>
            <a:off x="7680240" y="3374280"/>
            <a:ext cx="732960" cy="229320"/>
          </a:xfrm>
          <a:prstGeom prst="rect">
            <a:avLst/>
          </a:prstGeom>
          <a:noFill/>
          <a:ln w="0">
            <a:noFill/>
          </a:ln>
        </p:spPr>
        <p:txBody>
          <a:bodyPr lIns="90000" tIns="45000" rIns="90000" bIns="45000" anchor="t">
            <a:noAutofit/>
          </a:bodyPr>
          <a:lstStyle/>
          <a:p>
            <a:r>
              <a:rPr lang="en-US" sz="900" b="0" strike="noStrike" spc="-1">
                <a:solidFill>
                  <a:srgbClr val="62728B"/>
                </a:solidFill>
                <a:latin typeface="Calibri"/>
                <a:ea typeface="Calibri"/>
              </a:rPr>
              <a:t>head only</a:t>
            </a:r>
            <a:endParaRPr lang="en-US" sz="900" b="0" strike="noStrike" spc="-1">
              <a:solidFill>
                <a:srgbClr val="000000"/>
              </a:solidFill>
              <a:latin typeface="Arial"/>
            </a:endParaRPr>
          </a:p>
        </p:txBody>
      </p:sp>
      <p:sp>
        <p:nvSpPr>
          <p:cNvPr id="572" name="Freeform 571"/>
          <p:cNvSpPr/>
          <p:nvPr/>
        </p:nvSpPr>
        <p:spPr>
          <a:xfrm>
            <a:off x="4827960" y="3666600"/>
            <a:ext cx="3786480" cy="302400"/>
          </a:xfrm>
          <a:custGeom>
            <a:avLst/>
            <a:gdLst/>
            <a:ahLst/>
            <a:cxnLst/>
            <a:rect l="0" t="0" r="r" b="b"/>
            <a:pathLst>
              <a:path w="10518" h="840">
                <a:moveTo>
                  <a:pt x="0" y="0"/>
                </a:moveTo>
                <a:lnTo>
                  <a:pt x="10518" y="0"/>
                </a:lnTo>
                <a:lnTo>
                  <a:pt x="10518"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573" name="TextBox 572"/>
          <p:cNvSpPr txBox="1"/>
          <p:nvPr/>
        </p:nvSpPr>
        <p:spPr>
          <a:xfrm>
            <a:off x="4937040" y="3712320"/>
            <a:ext cx="1693080" cy="229320"/>
          </a:xfrm>
          <a:prstGeom prst="rect">
            <a:avLst/>
          </a:prstGeom>
          <a:noFill/>
          <a:ln w="0">
            <a:noFill/>
          </a:ln>
        </p:spPr>
        <p:txBody>
          <a:bodyPr lIns="90000" tIns="45000" rIns="90000" bIns="45000" anchor="t">
            <a:noAutofit/>
          </a:bodyPr>
          <a:lstStyle/>
          <a:p>
            <a:r>
              <a:rPr lang="en-US" sz="900" b="0" strike="noStrike" spc="-1">
                <a:solidFill>
                  <a:srgbClr val="1C2739"/>
                </a:solidFill>
                <a:latin typeface="Calibri"/>
                <a:ea typeface="Calibri"/>
              </a:rPr>
              <a:t>exp2 — classifier, strong aug</a:t>
            </a:r>
            <a:endParaRPr lang="en-US" sz="900" b="0" strike="noStrike" spc="-1">
              <a:solidFill>
                <a:srgbClr val="000000"/>
              </a:solidFill>
              <a:latin typeface="Arial"/>
            </a:endParaRPr>
          </a:p>
        </p:txBody>
      </p:sp>
      <p:sp>
        <p:nvSpPr>
          <p:cNvPr id="574" name="TextBox 573"/>
          <p:cNvSpPr txBox="1"/>
          <p:nvPr/>
        </p:nvSpPr>
        <p:spPr>
          <a:xfrm>
            <a:off x="6811560" y="3712320"/>
            <a:ext cx="732960" cy="224640"/>
          </a:xfrm>
          <a:prstGeom prst="rect">
            <a:avLst/>
          </a:prstGeom>
          <a:noFill/>
          <a:ln w="0">
            <a:noFill/>
          </a:ln>
        </p:spPr>
        <p:txBody>
          <a:bodyPr lIns="90000" tIns="45000" rIns="90000" bIns="45000" anchor="t">
            <a:noAutofit/>
          </a:bodyPr>
          <a:lstStyle/>
          <a:p>
            <a:r>
              <a:rPr lang="en-US" sz="900" b="1" strike="noStrike" spc="-1">
                <a:solidFill>
                  <a:srgbClr val="525252"/>
                </a:solidFill>
                <a:latin typeface="Calibri-Bold"/>
                <a:ea typeface="Calibri-Bold"/>
              </a:rPr>
              <a:t>91.91%</a:t>
            </a:r>
            <a:endParaRPr lang="en-US" sz="900" b="0" strike="noStrike" spc="-1">
              <a:solidFill>
                <a:srgbClr val="000000"/>
              </a:solidFill>
              <a:latin typeface="Arial"/>
            </a:endParaRPr>
          </a:p>
        </p:txBody>
      </p:sp>
      <p:sp>
        <p:nvSpPr>
          <p:cNvPr id="575" name="TextBox 574"/>
          <p:cNvSpPr txBox="1"/>
          <p:nvPr/>
        </p:nvSpPr>
        <p:spPr>
          <a:xfrm>
            <a:off x="7680240" y="3712320"/>
            <a:ext cx="732960" cy="229320"/>
          </a:xfrm>
          <a:prstGeom prst="rect">
            <a:avLst/>
          </a:prstGeom>
          <a:noFill/>
          <a:ln w="0">
            <a:noFill/>
          </a:ln>
        </p:spPr>
        <p:txBody>
          <a:bodyPr lIns="90000" tIns="45000" rIns="90000" bIns="45000" anchor="t">
            <a:noAutofit/>
          </a:bodyPr>
          <a:lstStyle/>
          <a:p>
            <a:r>
              <a:rPr lang="en-US" sz="900" b="0" strike="noStrike" spc="-1">
                <a:solidFill>
                  <a:srgbClr val="62728B"/>
                </a:solidFill>
                <a:latin typeface="Calibri"/>
                <a:ea typeface="Calibri"/>
              </a:rPr>
              <a:t>strong aug</a:t>
            </a:r>
            <a:endParaRPr lang="en-US" sz="900" b="0" strike="noStrike" spc="-1">
              <a:solidFill>
                <a:srgbClr val="000000"/>
              </a:solidFill>
              <a:latin typeface="Arial"/>
            </a:endParaRPr>
          </a:p>
        </p:txBody>
      </p:sp>
      <p:sp>
        <p:nvSpPr>
          <p:cNvPr id="576" name="Freeform 575"/>
          <p:cNvSpPr/>
          <p:nvPr/>
        </p:nvSpPr>
        <p:spPr>
          <a:xfrm>
            <a:off x="4827960" y="4005000"/>
            <a:ext cx="3786480" cy="302400"/>
          </a:xfrm>
          <a:custGeom>
            <a:avLst/>
            <a:gdLst/>
            <a:ahLst/>
            <a:cxnLst/>
            <a:rect l="0" t="0" r="r" b="b"/>
            <a:pathLst>
              <a:path w="10518" h="840">
                <a:moveTo>
                  <a:pt x="0" y="0"/>
                </a:moveTo>
                <a:lnTo>
                  <a:pt x="10518" y="0"/>
                </a:lnTo>
                <a:lnTo>
                  <a:pt x="10518"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577" name="TextBox 576"/>
          <p:cNvSpPr txBox="1"/>
          <p:nvPr/>
        </p:nvSpPr>
        <p:spPr>
          <a:xfrm>
            <a:off x="4937040" y="4050720"/>
            <a:ext cx="1693080" cy="229320"/>
          </a:xfrm>
          <a:prstGeom prst="rect">
            <a:avLst/>
          </a:prstGeom>
          <a:noFill/>
          <a:ln w="0">
            <a:noFill/>
          </a:ln>
        </p:spPr>
        <p:txBody>
          <a:bodyPr lIns="90000" tIns="45000" rIns="90000" bIns="45000" anchor="t">
            <a:noAutofit/>
          </a:bodyPr>
          <a:lstStyle/>
          <a:p>
            <a:r>
              <a:rPr lang="en-US" sz="900" b="0" strike="noStrike" spc="-1">
                <a:solidFill>
                  <a:srgbClr val="1C2739"/>
                </a:solidFill>
                <a:latin typeface="Calibri"/>
                <a:ea typeface="Calibri"/>
              </a:rPr>
              <a:t>exp4 — last_two_blocks</a:t>
            </a:r>
            <a:endParaRPr lang="en-US" sz="900" b="0" strike="noStrike" spc="-1">
              <a:solidFill>
                <a:srgbClr val="000000"/>
              </a:solidFill>
              <a:latin typeface="Arial"/>
            </a:endParaRPr>
          </a:p>
        </p:txBody>
      </p:sp>
      <p:sp>
        <p:nvSpPr>
          <p:cNvPr id="578" name="TextBox 577"/>
          <p:cNvSpPr txBox="1"/>
          <p:nvPr/>
        </p:nvSpPr>
        <p:spPr>
          <a:xfrm>
            <a:off x="6811560" y="4050720"/>
            <a:ext cx="732960" cy="224640"/>
          </a:xfrm>
          <a:prstGeom prst="rect">
            <a:avLst/>
          </a:prstGeom>
          <a:noFill/>
          <a:ln w="0">
            <a:noFill/>
          </a:ln>
        </p:spPr>
        <p:txBody>
          <a:bodyPr lIns="90000" tIns="45000" rIns="90000" bIns="45000" anchor="t">
            <a:noAutofit/>
          </a:bodyPr>
          <a:lstStyle/>
          <a:p>
            <a:r>
              <a:rPr lang="en-US" sz="900" b="1" strike="noStrike" spc="-1">
                <a:solidFill>
                  <a:srgbClr val="525252"/>
                </a:solidFill>
                <a:latin typeface="Calibri-Bold"/>
                <a:ea typeface="Calibri-Bold"/>
              </a:rPr>
              <a:t>92.89%</a:t>
            </a:r>
            <a:endParaRPr lang="en-US" sz="900" b="0" strike="noStrike" spc="-1">
              <a:solidFill>
                <a:srgbClr val="000000"/>
              </a:solidFill>
              <a:latin typeface="Arial"/>
            </a:endParaRPr>
          </a:p>
        </p:txBody>
      </p:sp>
      <p:sp>
        <p:nvSpPr>
          <p:cNvPr id="579" name="TextBox 578"/>
          <p:cNvSpPr txBox="1"/>
          <p:nvPr/>
        </p:nvSpPr>
        <p:spPr>
          <a:xfrm>
            <a:off x="7680240" y="4050720"/>
            <a:ext cx="732960" cy="229320"/>
          </a:xfrm>
          <a:prstGeom prst="rect">
            <a:avLst/>
          </a:prstGeom>
          <a:noFill/>
          <a:ln w="0">
            <a:noFill/>
          </a:ln>
        </p:spPr>
        <p:txBody>
          <a:bodyPr lIns="90000" tIns="45000" rIns="90000" bIns="45000" anchor="t">
            <a:noAutofit/>
          </a:bodyPr>
          <a:lstStyle/>
          <a:p>
            <a:r>
              <a:rPr lang="en-US" sz="900" b="0" strike="noStrike" spc="-1">
                <a:solidFill>
                  <a:srgbClr val="62728B"/>
                </a:solidFill>
                <a:latin typeface="Calibri"/>
                <a:ea typeface="Calibri"/>
              </a:rPr>
              <a:t>2 blocks</a:t>
            </a:r>
            <a:endParaRPr lang="en-US" sz="900" b="0" strike="noStrike" spc="-1">
              <a:solidFill>
                <a:srgbClr val="000000"/>
              </a:solidFill>
              <a:latin typeface="Arial"/>
            </a:endParaRPr>
          </a:p>
        </p:txBody>
      </p:sp>
      <p:sp>
        <p:nvSpPr>
          <p:cNvPr id="580" name="Freeform 579"/>
          <p:cNvSpPr/>
          <p:nvPr/>
        </p:nvSpPr>
        <p:spPr>
          <a:xfrm>
            <a:off x="4827960" y="4343400"/>
            <a:ext cx="3786480" cy="302400"/>
          </a:xfrm>
          <a:custGeom>
            <a:avLst/>
            <a:gdLst/>
            <a:ahLst/>
            <a:cxnLst/>
            <a:rect l="0" t="0" r="r" b="b"/>
            <a:pathLst>
              <a:path w="10518" h="840">
                <a:moveTo>
                  <a:pt x="0" y="0"/>
                </a:moveTo>
                <a:lnTo>
                  <a:pt x="10518" y="0"/>
                </a:lnTo>
                <a:lnTo>
                  <a:pt x="10518"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581" name="TextBox 580"/>
          <p:cNvSpPr txBox="1"/>
          <p:nvPr/>
        </p:nvSpPr>
        <p:spPr>
          <a:xfrm>
            <a:off x="4937040" y="4389120"/>
            <a:ext cx="1693080" cy="229320"/>
          </a:xfrm>
          <a:prstGeom prst="rect">
            <a:avLst/>
          </a:prstGeom>
          <a:noFill/>
          <a:ln w="0">
            <a:noFill/>
          </a:ln>
        </p:spPr>
        <p:txBody>
          <a:bodyPr lIns="90000" tIns="45000" rIns="90000" bIns="45000" anchor="t">
            <a:noAutofit/>
          </a:bodyPr>
          <a:lstStyle/>
          <a:p>
            <a:r>
              <a:rPr lang="en-US" sz="900" b="0" strike="noStrike" spc="-1">
                <a:solidFill>
                  <a:srgbClr val="1C2739"/>
                </a:solidFill>
                <a:latin typeface="Calibri"/>
                <a:ea typeface="Calibri"/>
              </a:rPr>
              <a:t>exp5 — full_finetune</a:t>
            </a:r>
            <a:endParaRPr lang="en-US" sz="900" b="0" strike="noStrike" spc="-1">
              <a:solidFill>
                <a:srgbClr val="000000"/>
              </a:solidFill>
              <a:latin typeface="Arial"/>
            </a:endParaRPr>
          </a:p>
        </p:txBody>
      </p:sp>
      <p:sp>
        <p:nvSpPr>
          <p:cNvPr id="582" name="TextBox 581"/>
          <p:cNvSpPr txBox="1"/>
          <p:nvPr/>
        </p:nvSpPr>
        <p:spPr>
          <a:xfrm>
            <a:off x="6811560" y="4389120"/>
            <a:ext cx="732960" cy="224640"/>
          </a:xfrm>
          <a:prstGeom prst="rect">
            <a:avLst/>
          </a:prstGeom>
          <a:noFill/>
          <a:ln w="0">
            <a:noFill/>
          </a:ln>
        </p:spPr>
        <p:txBody>
          <a:bodyPr lIns="90000" tIns="45000" rIns="90000" bIns="45000" anchor="t">
            <a:noAutofit/>
          </a:bodyPr>
          <a:lstStyle/>
          <a:p>
            <a:r>
              <a:rPr lang="en-US" sz="900" b="1" strike="noStrike" spc="-1">
                <a:solidFill>
                  <a:srgbClr val="525252"/>
                </a:solidFill>
                <a:latin typeface="Calibri-Bold"/>
                <a:ea typeface="Calibri-Bold"/>
              </a:rPr>
              <a:t>92.83%</a:t>
            </a:r>
            <a:endParaRPr lang="en-US" sz="900" b="0" strike="noStrike" spc="-1">
              <a:solidFill>
                <a:srgbClr val="000000"/>
              </a:solidFill>
              <a:latin typeface="Arial"/>
            </a:endParaRPr>
          </a:p>
        </p:txBody>
      </p:sp>
      <p:sp>
        <p:nvSpPr>
          <p:cNvPr id="583" name="TextBox 582"/>
          <p:cNvSpPr txBox="1"/>
          <p:nvPr/>
        </p:nvSpPr>
        <p:spPr>
          <a:xfrm>
            <a:off x="7680240" y="4389120"/>
            <a:ext cx="732960" cy="229320"/>
          </a:xfrm>
          <a:prstGeom prst="rect">
            <a:avLst/>
          </a:prstGeom>
          <a:noFill/>
          <a:ln w="0">
            <a:noFill/>
          </a:ln>
        </p:spPr>
        <p:txBody>
          <a:bodyPr lIns="90000" tIns="45000" rIns="90000" bIns="45000" anchor="t">
            <a:noAutofit/>
          </a:bodyPr>
          <a:lstStyle/>
          <a:p>
            <a:r>
              <a:rPr lang="en-US" sz="900" b="0" strike="noStrike" spc="-1">
                <a:solidFill>
                  <a:srgbClr val="62728B"/>
                </a:solidFill>
                <a:latin typeface="Calibri"/>
                <a:ea typeface="Calibri"/>
              </a:rPr>
              <a:t>all layers</a:t>
            </a:r>
            <a:endParaRPr lang="en-US" sz="900" b="0" strike="noStrike" spc="-1">
              <a:solidFill>
                <a:srgbClr val="000000"/>
              </a:solidFill>
              <a:latin typeface="Arial"/>
            </a:endParaRPr>
          </a:p>
        </p:txBody>
      </p:sp>
      <p:sp>
        <p:nvSpPr>
          <p:cNvPr id="584" name="Freeform 583"/>
          <p:cNvSpPr/>
          <p:nvPr/>
        </p:nvSpPr>
        <p:spPr>
          <a:xfrm>
            <a:off x="365760" y="4709160"/>
            <a:ext cx="8413200" cy="293400"/>
          </a:xfrm>
          <a:custGeom>
            <a:avLst/>
            <a:gdLst/>
            <a:ahLst/>
            <a:cxnLst/>
            <a:rect l="0" t="0" r="r" b="b"/>
            <a:pathLst>
              <a:path w="23370" h="815">
                <a:moveTo>
                  <a:pt x="0" y="0"/>
                </a:moveTo>
                <a:lnTo>
                  <a:pt x="23370" y="0"/>
                </a:lnTo>
                <a:lnTo>
                  <a:pt x="23370" y="815"/>
                </a:lnTo>
                <a:lnTo>
                  <a:pt x="0" y="815"/>
                </a:lnTo>
                <a:lnTo>
                  <a:pt x="0" y="0"/>
                </a:lnTo>
                <a:close/>
              </a:path>
            </a:pathLst>
          </a:custGeom>
          <a:solidFill>
            <a:srgbClr val="EDE9FE"/>
          </a:solidFill>
          <a:ln w="12600">
            <a:solidFill>
              <a:srgbClr val="7A38ED"/>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585" name="TextBox 584"/>
          <p:cNvSpPr txBox="1"/>
          <p:nvPr/>
        </p:nvSpPr>
        <p:spPr>
          <a:xfrm>
            <a:off x="547920" y="4709160"/>
            <a:ext cx="8048160" cy="386280"/>
          </a:xfrm>
          <a:prstGeom prst="rect">
            <a:avLst/>
          </a:prstGeom>
          <a:noFill/>
          <a:ln w="0">
            <a:noFill/>
          </a:ln>
        </p:spPr>
        <p:txBody>
          <a:bodyPr lIns="90000" tIns="45000" rIns="90000" bIns="45000" anchor="t">
            <a:noAutofit/>
          </a:bodyPr>
          <a:lstStyle/>
          <a:p>
            <a:r>
              <a:rPr lang="en-US" sz="1000" b="1" strike="noStrike" spc="-1">
                <a:solidFill>
                  <a:srgbClr val="7A38ED"/>
                </a:solidFill>
                <a:latin typeface="Calibri-Bold"/>
                <a:ea typeface="Calibri-Bold"/>
              </a:rPr>
              <a:t>🔑  last_block fine-tuning gives best test accuracy. Classifier-only already reaches 92.29% — a strong baseline.</a:t>
            </a:r>
            <a:endParaRPr lang="en-US" sz="1000" b="0" strike="noStrike" spc="-1">
              <a:solidFill>
                <a:srgbClr val="000000"/>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586" name="Freeform 585"/>
          <p:cNvSpPr/>
          <p:nvPr/>
        </p:nvSpPr>
        <p:spPr>
          <a:xfrm>
            <a:off x="0" y="0"/>
            <a:ext cx="9144720" cy="55440"/>
          </a:xfrm>
          <a:custGeom>
            <a:avLst/>
            <a:gdLst/>
            <a:ahLst/>
            <a:cxnLst/>
            <a:rect l="0" t="0" r="r" b="b"/>
            <a:pathLst>
              <a:path w="25402" h="154">
                <a:moveTo>
                  <a:pt x="0" y="0"/>
                </a:moveTo>
                <a:lnTo>
                  <a:pt x="25402" y="0"/>
                </a:lnTo>
                <a:lnTo>
                  <a:pt x="25402" y="154"/>
                </a:lnTo>
                <a:lnTo>
                  <a:pt x="0" y="154"/>
                </a:lnTo>
                <a:lnTo>
                  <a:pt x="0" y="0"/>
                </a:lnTo>
                <a:close/>
              </a:path>
            </a:pathLst>
          </a:custGeom>
          <a:solidFill>
            <a:srgbClr val="2361EB"/>
          </a:solidFill>
          <a:ln w="12600">
            <a:solidFill>
              <a:srgbClr val="2361EB"/>
            </a:solidFill>
            <a:round/>
          </a:ln>
        </p:spPr>
        <p:txBody>
          <a:bodyPr lIns="96120" tIns="4320" rIns="96120" bIns="4320" anchor="t">
            <a:noAutofit/>
          </a:bodyPr>
          <a:lstStyle/>
          <a:p>
            <a:endParaRPr lang="en-US" sz="1800" b="0" strike="noStrike" spc="-1">
              <a:solidFill>
                <a:srgbClr val="FFFFFF"/>
              </a:solidFill>
              <a:latin typeface="Arial"/>
            </a:endParaRPr>
          </a:p>
        </p:txBody>
      </p:sp>
      <p:sp>
        <p:nvSpPr>
          <p:cNvPr id="587" name="TextBox 586"/>
          <p:cNvSpPr txBox="1"/>
          <p:nvPr/>
        </p:nvSpPr>
        <p:spPr>
          <a:xfrm>
            <a:off x="502200" y="164520"/>
            <a:ext cx="8139600" cy="502920"/>
          </a:xfrm>
          <a:prstGeom prst="rect">
            <a:avLst/>
          </a:prstGeom>
          <a:noFill/>
          <a:ln w="0">
            <a:noFill/>
          </a:ln>
        </p:spPr>
        <p:txBody>
          <a:bodyPr lIns="90000" tIns="45000" rIns="90000" bIns="45000" anchor="t">
            <a:noAutofit/>
          </a:bodyPr>
          <a:lstStyle/>
          <a:p>
            <a:r>
              <a:rPr lang="nl-NL" sz="2600" b="1" strike="noStrike" spc="-1">
                <a:solidFill>
                  <a:srgbClr val="182C48"/>
                </a:solidFill>
                <a:latin typeface="Calibri-Bold"/>
                <a:ea typeface="Calibri-Bold"/>
              </a:rPr>
              <a:t>Results Comparison</a:t>
            </a:r>
            <a:endParaRPr lang="en-US" sz="2600" b="0" strike="noStrike" spc="-1">
              <a:solidFill>
                <a:srgbClr val="000000"/>
              </a:solidFill>
              <a:latin typeface="Arial"/>
            </a:endParaRPr>
          </a:p>
        </p:txBody>
      </p:sp>
      <p:sp>
        <p:nvSpPr>
          <p:cNvPr id="588" name="TextBox 587"/>
          <p:cNvSpPr txBox="1"/>
          <p:nvPr/>
        </p:nvSpPr>
        <p:spPr>
          <a:xfrm>
            <a:off x="502200" y="658440"/>
            <a:ext cx="8139600" cy="447480"/>
          </a:xfrm>
          <a:prstGeom prst="rect">
            <a:avLst/>
          </a:prstGeom>
          <a:noFill/>
          <a:ln w="0">
            <a:noFill/>
          </a:ln>
        </p:spPr>
        <p:txBody>
          <a:bodyPr lIns="90000" tIns="45000" rIns="90000" bIns="45000" anchor="t">
            <a:noAutofit/>
          </a:bodyPr>
          <a:lstStyle/>
          <a:p>
            <a:r>
              <a:rPr lang="en-US" sz="1200" b="0" i="1" strike="noStrike" spc="-1" dirty="0">
                <a:solidFill>
                  <a:srgbClr val="62728B"/>
                </a:solidFill>
                <a:latin typeface="Calibri-Italic"/>
                <a:ea typeface="Calibri-Italic"/>
              </a:rPr>
              <a:t>Among all evaluated models, </a:t>
            </a:r>
            <a:r>
              <a:rPr lang="en-US" sz="1200" b="1" i="1" strike="noStrike" spc="-1" dirty="0">
                <a:solidFill>
                  <a:srgbClr val="62728B"/>
                </a:solidFill>
                <a:latin typeface="Calibri-Italic"/>
                <a:ea typeface="Calibri-Italic"/>
              </a:rPr>
              <a:t>ConvNeXt Tiny</a:t>
            </a:r>
            <a:r>
              <a:rPr lang="en-US" sz="1200" b="0" i="1" strike="noStrike" spc="-1" dirty="0">
                <a:solidFill>
                  <a:srgbClr val="62728B"/>
                </a:solidFill>
                <a:latin typeface="Calibri-Italic"/>
                <a:ea typeface="Calibri-Italic"/>
              </a:rPr>
              <a:t> achieved the strongest overall performance</a:t>
            </a:r>
            <a:r>
              <a:rPr lang="nl-NL" sz="1200" b="0" i="1" strike="noStrike" spc="-1" dirty="0">
                <a:solidFill>
                  <a:srgbClr val="62728B"/>
                </a:solidFill>
                <a:latin typeface="Calibri-Italic"/>
                <a:ea typeface="Calibri-Italic"/>
              </a:rPr>
              <a:t> </a:t>
            </a:r>
            <a:r>
              <a:rPr lang="en-US" sz="1200" b="0" i="1" strike="noStrike" spc="-1" dirty="0">
                <a:solidFill>
                  <a:srgbClr val="62728B"/>
                </a:solidFill>
                <a:latin typeface="Calibri-Italic"/>
                <a:ea typeface="Calibri-Italic"/>
              </a:rPr>
              <a:t>on the Oxford-IIIT Pet dataset</a:t>
            </a:r>
            <a:r>
              <a:rPr lang="nl-NL" sz="1200" b="0" i="1" strike="noStrike" spc="-1" dirty="0">
                <a:solidFill>
                  <a:srgbClr val="62728B"/>
                </a:solidFill>
                <a:latin typeface="Calibri-Italic"/>
                <a:ea typeface="Calibri-Italic"/>
              </a:rPr>
              <a:t>.</a:t>
            </a:r>
            <a:endParaRPr lang="en-US" sz="1200" b="0" strike="noStrike" spc="-1" dirty="0">
              <a:solidFill>
                <a:srgbClr val="000000"/>
              </a:solidFill>
              <a:latin typeface="Arial"/>
            </a:endParaRPr>
          </a:p>
        </p:txBody>
      </p:sp>
      <p:sp>
        <p:nvSpPr>
          <p:cNvPr id="589" name="Straight Connector 588"/>
          <p:cNvSpPr/>
          <p:nvPr/>
        </p:nvSpPr>
        <p:spPr>
          <a:xfrm>
            <a:off x="457200" y="960120"/>
            <a:ext cx="8229600" cy="0"/>
          </a:xfrm>
          <a:prstGeom prst="line">
            <a:avLst/>
          </a:prstGeom>
          <a:ln w="12600">
            <a:solidFill>
              <a:srgbClr val="E2E8F0"/>
            </a:solidFill>
            <a:round/>
          </a:ln>
        </p:spPr>
        <p:style>
          <a:lnRef idx="0">
            <a:scrgbClr r="0" g="0" b="0"/>
          </a:lnRef>
          <a:fillRef idx="0">
            <a:scrgbClr r="0" g="0" b="0"/>
          </a:fillRef>
          <a:effectRef idx="0">
            <a:scrgbClr r="0" g="0" b="0"/>
          </a:effectRef>
          <a:fontRef idx="minor"/>
        </p:style>
        <p:txBody>
          <a:bodyPr lIns="96120" tIns="-51120" rIns="96120" bIns="-51120" anchor="t">
            <a:noAutofit/>
          </a:bodyPr>
          <a:lstStyle/>
          <a:p>
            <a:endParaRPr lang="en-US" sz="1800" b="0" strike="noStrike" spc="-1">
              <a:solidFill>
                <a:srgbClr val="000000"/>
              </a:solidFill>
              <a:latin typeface="Arial"/>
            </a:endParaRPr>
          </a:p>
        </p:txBody>
      </p:sp>
      <p:sp>
        <p:nvSpPr>
          <p:cNvPr id="590" name="Freeform 589"/>
          <p:cNvSpPr/>
          <p:nvPr/>
        </p:nvSpPr>
        <p:spPr>
          <a:xfrm>
            <a:off x="365760" y="1097280"/>
            <a:ext cx="1933560" cy="960840"/>
          </a:xfrm>
          <a:custGeom>
            <a:avLst/>
            <a:gdLst/>
            <a:ahLst/>
            <a:cxnLst/>
            <a:rect l="0" t="0" r="r" b="b"/>
            <a:pathLst>
              <a:path w="5371" h="2669">
                <a:moveTo>
                  <a:pt x="0" y="0"/>
                </a:moveTo>
                <a:lnTo>
                  <a:pt x="5371" y="0"/>
                </a:lnTo>
                <a:lnTo>
                  <a:pt x="5371" y="2669"/>
                </a:lnTo>
                <a:lnTo>
                  <a:pt x="0" y="2669"/>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591" name="Freeform 590"/>
          <p:cNvSpPr/>
          <p:nvPr/>
        </p:nvSpPr>
        <p:spPr>
          <a:xfrm>
            <a:off x="365760" y="1097280"/>
            <a:ext cx="64800" cy="960840"/>
          </a:xfrm>
          <a:custGeom>
            <a:avLst/>
            <a:gdLst/>
            <a:ahLst/>
            <a:cxnLst/>
            <a:rect l="0" t="0" r="r" b="b"/>
            <a:pathLst>
              <a:path w="180" h="2669">
                <a:moveTo>
                  <a:pt x="0" y="0"/>
                </a:moveTo>
                <a:lnTo>
                  <a:pt x="180" y="0"/>
                </a:lnTo>
                <a:lnTo>
                  <a:pt x="180" y="2669"/>
                </a:lnTo>
                <a:lnTo>
                  <a:pt x="0" y="2669"/>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592" name="TextBox 591"/>
          <p:cNvSpPr txBox="1"/>
          <p:nvPr/>
        </p:nvSpPr>
        <p:spPr>
          <a:xfrm>
            <a:off x="538920" y="1188720"/>
            <a:ext cx="1693080" cy="445320"/>
          </a:xfrm>
          <a:prstGeom prst="rect">
            <a:avLst/>
          </a:prstGeom>
          <a:noFill/>
          <a:ln w="0">
            <a:noFill/>
          </a:ln>
        </p:spPr>
        <p:txBody>
          <a:bodyPr lIns="90000" tIns="45000" rIns="90000" bIns="45000" anchor="t">
            <a:noAutofit/>
          </a:bodyPr>
          <a:lstStyle/>
          <a:p>
            <a:r>
              <a:rPr lang="nl-NL" sz="2400" b="1" strike="noStrike" spc="-1">
                <a:solidFill>
                  <a:srgbClr val="2361EB"/>
                </a:solidFill>
                <a:latin typeface="Calibri-Bold"/>
                <a:ea typeface="Calibri-Bold"/>
              </a:rPr>
              <a:t>94</a:t>
            </a:r>
            <a:r>
              <a:rPr lang="en-US" sz="2400" b="1" strike="noStrike" spc="-1">
                <a:solidFill>
                  <a:srgbClr val="2361EB"/>
                </a:solidFill>
                <a:latin typeface="Calibri-Bold"/>
                <a:ea typeface="Calibri-Bold"/>
              </a:rPr>
              <a:t>%</a:t>
            </a:r>
            <a:endParaRPr lang="en-US" sz="2400" b="0" strike="noStrike" spc="-1">
              <a:solidFill>
                <a:srgbClr val="000000"/>
              </a:solidFill>
              <a:latin typeface="Arial"/>
            </a:endParaRPr>
          </a:p>
        </p:txBody>
      </p:sp>
      <p:sp>
        <p:nvSpPr>
          <p:cNvPr id="593" name="TextBox 592"/>
          <p:cNvSpPr txBox="1"/>
          <p:nvPr/>
        </p:nvSpPr>
        <p:spPr>
          <a:xfrm>
            <a:off x="538920" y="1717920"/>
            <a:ext cx="1693080" cy="398520"/>
          </a:xfrm>
          <a:prstGeom prst="rect">
            <a:avLst/>
          </a:prstGeom>
          <a:noFill/>
          <a:ln w="0">
            <a:noFill/>
          </a:ln>
        </p:spPr>
        <p:txBody>
          <a:bodyPr lIns="90000" tIns="45000" rIns="90000" bIns="45000" anchor="t">
            <a:noAutofit/>
          </a:bodyPr>
          <a:lstStyle/>
          <a:p>
            <a:r>
              <a:rPr lang="en-US" sz="1000" b="0" strike="noStrike" spc="-1">
                <a:solidFill>
                  <a:srgbClr val="62728B"/>
                </a:solidFill>
                <a:latin typeface="Calibri"/>
                <a:ea typeface="Calibri"/>
              </a:rPr>
              <a:t>Test</a:t>
            </a:r>
            <a:r>
              <a:rPr lang="nl-NL" sz="1000" b="0" strike="noStrike" spc="-1">
                <a:solidFill>
                  <a:srgbClr val="62728B"/>
                </a:solidFill>
                <a:latin typeface="Calibri"/>
                <a:ea typeface="Calibri"/>
              </a:rPr>
              <a:t> A</a:t>
            </a:r>
            <a:r>
              <a:rPr lang="en-US" sz="1000" b="0" strike="noStrike" spc="-1">
                <a:solidFill>
                  <a:srgbClr val="62728B"/>
                </a:solidFill>
                <a:latin typeface="Calibri"/>
                <a:ea typeface="Calibri"/>
              </a:rPr>
              <a:t>ccuracy</a:t>
            </a:r>
            <a:endParaRPr lang="en-US" sz="1000" b="0" strike="noStrike" spc="-1">
              <a:solidFill>
                <a:srgbClr val="000000"/>
              </a:solidFill>
              <a:latin typeface="Arial"/>
            </a:endParaRPr>
          </a:p>
          <a:p>
            <a:r>
              <a:rPr lang="en-US" sz="1000" b="0" strike="noStrike" spc="-1">
                <a:solidFill>
                  <a:srgbClr val="62728B"/>
                </a:solidFill>
                <a:latin typeface="Calibri"/>
                <a:ea typeface="Calibri"/>
              </a:rPr>
              <a:t>(best model)</a:t>
            </a:r>
            <a:endParaRPr lang="en-US" sz="1000" b="0" strike="noStrike" spc="-1">
              <a:solidFill>
                <a:srgbClr val="000000"/>
              </a:solidFill>
              <a:latin typeface="Arial"/>
            </a:endParaRPr>
          </a:p>
        </p:txBody>
      </p:sp>
      <p:sp>
        <p:nvSpPr>
          <p:cNvPr id="594" name="Freeform 593"/>
          <p:cNvSpPr/>
          <p:nvPr/>
        </p:nvSpPr>
        <p:spPr>
          <a:xfrm>
            <a:off x="2512800" y="1097280"/>
            <a:ext cx="1933560" cy="960840"/>
          </a:xfrm>
          <a:custGeom>
            <a:avLst/>
            <a:gdLst/>
            <a:ahLst/>
            <a:cxnLst/>
            <a:rect l="0" t="0" r="r" b="b"/>
            <a:pathLst>
              <a:path w="5371" h="2669">
                <a:moveTo>
                  <a:pt x="0" y="0"/>
                </a:moveTo>
                <a:lnTo>
                  <a:pt x="5371" y="0"/>
                </a:lnTo>
                <a:lnTo>
                  <a:pt x="5371" y="2669"/>
                </a:lnTo>
                <a:lnTo>
                  <a:pt x="0" y="2669"/>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595" name="Freeform 594"/>
          <p:cNvSpPr/>
          <p:nvPr/>
        </p:nvSpPr>
        <p:spPr>
          <a:xfrm>
            <a:off x="2512800" y="1097280"/>
            <a:ext cx="64800" cy="960840"/>
          </a:xfrm>
          <a:custGeom>
            <a:avLst/>
            <a:gdLst/>
            <a:ahLst/>
            <a:cxnLst/>
            <a:rect l="0" t="0" r="r" b="b"/>
            <a:pathLst>
              <a:path w="180" h="2669">
                <a:moveTo>
                  <a:pt x="0" y="0"/>
                </a:moveTo>
                <a:lnTo>
                  <a:pt x="180" y="0"/>
                </a:lnTo>
                <a:lnTo>
                  <a:pt x="180" y="2669"/>
                </a:lnTo>
                <a:lnTo>
                  <a:pt x="0" y="2669"/>
                </a:lnTo>
                <a:lnTo>
                  <a:pt x="0" y="0"/>
                </a:lnTo>
                <a:close/>
              </a:path>
            </a:pathLst>
          </a:custGeom>
          <a:solidFill>
            <a:srgbClr val="0691B2"/>
          </a:solidFill>
          <a:ln w="12600">
            <a:solidFill>
              <a:srgbClr val="0691B2"/>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596" name="TextBox 595"/>
          <p:cNvSpPr txBox="1"/>
          <p:nvPr/>
        </p:nvSpPr>
        <p:spPr>
          <a:xfrm>
            <a:off x="2685960" y="1188720"/>
            <a:ext cx="1214280" cy="445320"/>
          </a:xfrm>
          <a:prstGeom prst="rect">
            <a:avLst/>
          </a:prstGeom>
          <a:noFill/>
          <a:ln w="0">
            <a:noFill/>
          </a:ln>
        </p:spPr>
        <p:txBody>
          <a:bodyPr lIns="90000" tIns="45000" rIns="90000" bIns="45000" anchor="t">
            <a:noAutofit/>
          </a:bodyPr>
          <a:lstStyle/>
          <a:p>
            <a:r>
              <a:rPr lang="nl-NL" sz="2400" b="1" strike="noStrike" spc="-1">
                <a:solidFill>
                  <a:srgbClr val="0691B2"/>
                </a:solidFill>
                <a:latin typeface="Calibri-Bold"/>
                <a:ea typeface="Calibri-Bold"/>
              </a:rPr>
              <a:t>94</a:t>
            </a:r>
            <a:r>
              <a:rPr lang="en-US" sz="2400" b="1" strike="noStrike" spc="-1">
                <a:solidFill>
                  <a:srgbClr val="0691B2"/>
                </a:solidFill>
                <a:latin typeface="Calibri-Bold"/>
                <a:ea typeface="Calibri-Bold"/>
              </a:rPr>
              <a:t>%</a:t>
            </a:r>
            <a:endParaRPr lang="en-US" sz="2400" b="0" strike="noStrike" spc="-1">
              <a:solidFill>
                <a:srgbClr val="000000"/>
              </a:solidFill>
              <a:latin typeface="Arial"/>
            </a:endParaRPr>
          </a:p>
        </p:txBody>
      </p:sp>
      <p:sp>
        <p:nvSpPr>
          <p:cNvPr id="597" name="TextBox 596"/>
          <p:cNvSpPr txBox="1"/>
          <p:nvPr/>
        </p:nvSpPr>
        <p:spPr>
          <a:xfrm>
            <a:off x="2685960" y="1711800"/>
            <a:ext cx="1214280" cy="244440"/>
          </a:xfrm>
          <a:prstGeom prst="rect">
            <a:avLst/>
          </a:prstGeom>
          <a:noFill/>
          <a:ln w="0">
            <a:noFill/>
          </a:ln>
        </p:spPr>
        <p:txBody>
          <a:bodyPr lIns="90000" tIns="45000" rIns="90000" bIns="45000" anchor="t">
            <a:noAutofit/>
          </a:bodyPr>
          <a:lstStyle/>
          <a:p>
            <a:r>
              <a:rPr lang="en-US" sz="1000" b="0" strike="noStrike" spc="-1">
                <a:solidFill>
                  <a:srgbClr val="62728B"/>
                </a:solidFill>
                <a:latin typeface="Calibri"/>
                <a:ea typeface="Calibri"/>
              </a:rPr>
              <a:t>Macro precision</a:t>
            </a:r>
            <a:endParaRPr lang="en-US" sz="1000" b="0" strike="noStrike" spc="-1">
              <a:solidFill>
                <a:srgbClr val="000000"/>
              </a:solidFill>
              <a:latin typeface="Arial"/>
            </a:endParaRPr>
          </a:p>
        </p:txBody>
      </p:sp>
      <p:sp>
        <p:nvSpPr>
          <p:cNvPr id="598" name="Freeform 597"/>
          <p:cNvSpPr/>
          <p:nvPr/>
        </p:nvSpPr>
        <p:spPr>
          <a:xfrm>
            <a:off x="6822360" y="1097280"/>
            <a:ext cx="1933560" cy="960840"/>
          </a:xfrm>
          <a:custGeom>
            <a:avLst/>
            <a:gdLst/>
            <a:ahLst/>
            <a:cxnLst/>
            <a:rect l="0" t="0" r="r" b="b"/>
            <a:pathLst>
              <a:path w="5371" h="2669">
                <a:moveTo>
                  <a:pt x="0" y="0"/>
                </a:moveTo>
                <a:lnTo>
                  <a:pt x="5371" y="0"/>
                </a:lnTo>
                <a:lnTo>
                  <a:pt x="5371" y="2669"/>
                </a:lnTo>
                <a:lnTo>
                  <a:pt x="0" y="2669"/>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599" name="Freeform 598"/>
          <p:cNvSpPr/>
          <p:nvPr/>
        </p:nvSpPr>
        <p:spPr>
          <a:xfrm>
            <a:off x="6822360" y="1097280"/>
            <a:ext cx="64800" cy="960840"/>
          </a:xfrm>
          <a:custGeom>
            <a:avLst/>
            <a:gdLst/>
            <a:ahLst/>
            <a:cxnLst/>
            <a:rect l="0" t="0" r="r" b="b"/>
            <a:pathLst>
              <a:path w="180" h="2669">
                <a:moveTo>
                  <a:pt x="0" y="0"/>
                </a:moveTo>
                <a:lnTo>
                  <a:pt x="180" y="0"/>
                </a:lnTo>
                <a:lnTo>
                  <a:pt x="180" y="2669"/>
                </a:lnTo>
                <a:lnTo>
                  <a:pt x="0" y="2669"/>
                </a:lnTo>
                <a:lnTo>
                  <a:pt x="0" y="0"/>
                </a:lnTo>
                <a:close/>
              </a:path>
            </a:pathLst>
          </a:custGeom>
          <a:solidFill>
            <a:srgbClr val="D97504"/>
          </a:solidFill>
          <a:ln w="12600">
            <a:solidFill>
              <a:srgbClr val="D97504"/>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600" name="TextBox 599"/>
          <p:cNvSpPr txBox="1"/>
          <p:nvPr/>
        </p:nvSpPr>
        <p:spPr>
          <a:xfrm>
            <a:off x="6995520" y="1188720"/>
            <a:ext cx="1586880" cy="445320"/>
          </a:xfrm>
          <a:prstGeom prst="rect">
            <a:avLst/>
          </a:prstGeom>
          <a:noFill/>
          <a:ln w="0">
            <a:noFill/>
          </a:ln>
        </p:spPr>
        <p:txBody>
          <a:bodyPr lIns="90000" tIns="45000" rIns="90000" bIns="45000" anchor="t">
            <a:noAutofit/>
          </a:bodyPr>
          <a:lstStyle/>
          <a:p>
            <a:r>
              <a:rPr lang="nl-NL" sz="2400" b="1" strike="noStrike" spc="-1">
                <a:solidFill>
                  <a:srgbClr val="D97504"/>
                </a:solidFill>
                <a:latin typeface="Calibri-Bold"/>
                <a:ea typeface="Calibri-Bold"/>
              </a:rPr>
              <a:t>2.8</a:t>
            </a:r>
            <a:r>
              <a:rPr lang="en-US" sz="2400" b="1" strike="noStrike" spc="-1">
                <a:solidFill>
                  <a:srgbClr val="D97504"/>
                </a:solidFill>
                <a:latin typeface="Calibri-Bold"/>
                <a:ea typeface="Calibri-Bold"/>
              </a:rPr>
              <a:t>%</a:t>
            </a:r>
            <a:endParaRPr lang="en-US" sz="2400" b="0" strike="noStrike" spc="-1">
              <a:solidFill>
                <a:srgbClr val="000000"/>
              </a:solidFill>
              <a:latin typeface="Arial"/>
            </a:endParaRPr>
          </a:p>
        </p:txBody>
      </p:sp>
      <p:sp>
        <p:nvSpPr>
          <p:cNvPr id="601" name="TextBox 600"/>
          <p:cNvSpPr txBox="1"/>
          <p:nvPr/>
        </p:nvSpPr>
        <p:spPr>
          <a:xfrm>
            <a:off x="6995520" y="1711800"/>
            <a:ext cx="1586880" cy="398520"/>
          </a:xfrm>
          <a:prstGeom prst="rect">
            <a:avLst/>
          </a:prstGeom>
          <a:noFill/>
          <a:ln w="0">
            <a:noFill/>
          </a:ln>
        </p:spPr>
        <p:txBody>
          <a:bodyPr lIns="90000" tIns="45000" rIns="90000" bIns="45000" anchor="t">
            <a:noAutofit/>
          </a:bodyPr>
          <a:lstStyle/>
          <a:p>
            <a:r>
              <a:rPr lang="en-US" sz="1000" b="0" strike="noStrike" spc="-1">
                <a:solidFill>
                  <a:srgbClr val="62728B"/>
                </a:solidFill>
                <a:latin typeface="Calibri"/>
                <a:ea typeface="Calibri"/>
              </a:rPr>
              <a:t>Validation–test gap</a:t>
            </a:r>
            <a:endParaRPr lang="en-US" sz="1000" b="0" strike="noStrike" spc="-1">
              <a:solidFill>
                <a:srgbClr val="000000"/>
              </a:solidFill>
              <a:latin typeface="Arial"/>
            </a:endParaRPr>
          </a:p>
          <a:p>
            <a:r>
              <a:rPr lang="en-US" sz="1000" b="0" strike="noStrike" spc="-1">
                <a:solidFill>
                  <a:srgbClr val="62728B"/>
                </a:solidFill>
                <a:latin typeface="Calibri"/>
                <a:ea typeface="Calibri"/>
              </a:rPr>
              <a:t>(best model)</a:t>
            </a:r>
            <a:endParaRPr lang="en-US" sz="1000" b="0" strike="noStrike" spc="-1">
              <a:solidFill>
                <a:srgbClr val="000000"/>
              </a:solidFill>
              <a:latin typeface="Arial"/>
            </a:endParaRPr>
          </a:p>
        </p:txBody>
      </p:sp>
      <p:sp>
        <p:nvSpPr>
          <p:cNvPr id="602" name="Freeform 601"/>
          <p:cNvSpPr/>
          <p:nvPr/>
        </p:nvSpPr>
        <p:spPr>
          <a:xfrm>
            <a:off x="379440" y="2207520"/>
            <a:ext cx="4115520" cy="2561040"/>
          </a:xfrm>
          <a:custGeom>
            <a:avLst/>
            <a:gdLst/>
            <a:ahLst/>
            <a:cxnLst/>
            <a:rect l="0" t="0" r="r" b="b"/>
            <a:pathLst>
              <a:path w="11432" h="7114">
                <a:moveTo>
                  <a:pt x="0" y="0"/>
                </a:moveTo>
                <a:lnTo>
                  <a:pt x="11432" y="0"/>
                </a:lnTo>
                <a:lnTo>
                  <a:pt x="11432" y="7114"/>
                </a:lnTo>
                <a:lnTo>
                  <a:pt x="0" y="7114"/>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603" name="Freeform 602"/>
          <p:cNvSpPr/>
          <p:nvPr/>
        </p:nvSpPr>
        <p:spPr>
          <a:xfrm>
            <a:off x="365760" y="2212920"/>
            <a:ext cx="64800" cy="2561040"/>
          </a:xfrm>
          <a:custGeom>
            <a:avLst/>
            <a:gdLst/>
            <a:ahLst/>
            <a:cxnLst/>
            <a:rect l="0" t="0" r="r" b="b"/>
            <a:pathLst>
              <a:path w="180" h="7114">
                <a:moveTo>
                  <a:pt x="0" y="0"/>
                </a:moveTo>
                <a:lnTo>
                  <a:pt x="180" y="0"/>
                </a:lnTo>
                <a:lnTo>
                  <a:pt x="180" y="7114"/>
                </a:lnTo>
                <a:lnTo>
                  <a:pt x="0" y="7114"/>
                </a:lnTo>
                <a:lnTo>
                  <a:pt x="0" y="0"/>
                </a:lnTo>
                <a:close/>
              </a:path>
            </a:pathLst>
          </a:custGeom>
          <a:solidFill>
            <a:srgbClr val="2361EB"/>
          </a:solidFill>
          <a:ln w="12600">
            <a:solidFill>
              <a:srgbClr val="2361EB"/>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604" name="TextBox 603"/>
          <p:cNvSpPr txBox="1"/>
          <p:nvPr/>
        </p:nvSpPr>
        <p:spPr>
          <a:xfrm>
            <a:off x="593640" y="2304360"/>
            <a:ext cx="3704760" cy="301680"/>
          </a:xfrm>
          <a:prstGeom prst="rect">
            <a:avLst/>
          </a:prstGeom>
          <a:noFill/>
          <a:ln w="0">
            <a:noFill/>
          </a:ln>
        </p:spPr>
        <p:txBody>
          <a:bodyPr lIns="90000" tIns="45000" rIns="90000" bIns="45000" anchor="t">
            <a:noAutofit/>
          </a:bodyPr>
          <a:lstStyle/>
          <a:p>
            <a:r>
              <a:rPr lang="en-US" sz="1200" b="1" strike="noStrike" spc="-1">
                <a:solidFill>
                  <a:srgbClr val="182C48"/>
                </a:solidFill>
                <a:latin typeface="Calibri-Bold"/>
                <a:ea typeface="Calibri-Bold"/>
              </a:rPr>
              <a:t>Key Findings</a:t>
            </a:r>
            <a:endParaRPr lang="en-US" sz="1200" b="0" strike="noStrike" spc="-1">
              <a:solidFill>
                <a:srgbClr val="000000"/>
              </a:solidFill>
              <a:latin typeface="Arial"/>
            </a:endParaRPr>
          </a:p>
        </p:txBody>
      </p:sp>
      <p:sp>
        <p:nvSpPr>
          <p:cNvPr id="605" name="TextBox 604"/>
          <p:cNvSpPr txBox="1"/>
          <p:nvPr/>
        </p:nvSpPr>
        <p:spPr>
          <a:xfrm>
            <a:off x="653040" y="2665800"/>
            <a:ext cx="3783960" cy="2926440"/>
          </a:xfrm>
          <a:prstGeom prst="rect">
            <a:avLst/>
          </a:prstGeom>
          <a:noFill/>
          <a:ln w="0">
            <a:noFill/>
          </a:ln>
        </p:spPr>
        <p:txBody>
          <a:bodyPr lIns="90000" tIns="45000" rIns="90000" bIns="45000" anchor="t">
            <a:noAutofit/>
          </a:bodyPr>
          <a:lstStyle/>
          <a:p>
            <a:pPr marL="137160" indent="-137160">
              <a:buClr>
                <a:srgbClr val="000000"/>
              </a:buClr>
              <a:buSzPct val="45000"/>
              <a:buFont typeface=""/>
              <a:buChar char=""/>
            </a:pPr>
            <a:r>
              <a:rPr lang="en-US" sz="1000" b="0" strike="noStrike" spc="-1" dirty="0">
                <a:solidFill>
                  <a:srgbClr val="000000"/>
                </a:solidFill>
                <a:latin typeface="Calibri"/>
                <a:ea typeface="Calibri"/>
              </a:rPr>
              <a:t>ConvNeXt Tiny achieved the best overall performance and the strongest accuracy-to-training-cost trade-off.</a:t>
            </a:r>
            <a:endParaRPr lang="en-US" sz="1000" b="0" strike="noStrike" spc="-1" dirty="0">
              <a:solidFill>
                <a:srgbClr val="000000"/>
              </a:solidFill>
              <a:latin typeface="Arial"/>
            </a:endParaRPr>
          </a:p>
          <a:p>
            <a:pPr marL="137160" indent="-137160">
              <a:buClr>
                <a:srgbClr val="000000"/>
              </a:buClr>
              <a:buSzPct val="45000"/>
              <a:buFont typeface=""/>
              <a:buChar char=""/>
            </a:pPr>
            <a:r>
              <a:rPr lang="en-US" sz="1000" b="0" strike="noStrike" spc="-1" dirty="0" err="1">
                <a:solidFill>
                  <a:srgbClr val="000000"/>
                </a:solidFill>
                <a:latin typeface="Calibri"/>
                <a:ea typeface="Calibri"/>
              </a:rPr>
              <a:t>ViT</a:t>
            </a:r>
            <a:r>
              <a:rPr lang="en-US" sz="1000" b="0" strike="noStrike" spc="-1" dirty="0">
                <a:solidFill>
                  <a:srgbClr val="000000"/>
                </a:solidFill>
                <a:latin typeface="Calibri"/>
                <a:ea typeface="Calibri"/>
              </a:rPr>
              <a:t> and ConvNeXt consistently outperformed ResNet18 and the baseline CNN in accuracy, precision, and recall.</a:t>
            </a:r>
            <a:endParaRPr lang="en-US" sz="1000" b="0" strike="noStrike" spc="-1" dirty="0">
              <a:solidFill>
                <a:srgbClr val="000000"/>
              </a:solidFill>
              <a:latin typeface="Arial"/>
            </a:endParaRPr>
          </a:p>
          <a:p>
            <a:pPr marL="137160" indent="-137160">
              <a:buClr>
                <a:srgbClr val="000000"/>
              </a:buClr>
              <a:buSzPct val="45000"/>
              <a:buFont typeface=""/>
              <a:buChar char=""/>
            </a:pPr>
            <a:r>
              <a:rPr lang="en-US" sz="1000" b="0" strike="noStrike" spc="-1" dirty="0">
                <a:solidFill>
                  <a:srgbClr val="000000"/>
                </a:solidFill>
                <a:latin typeface="Calibri"/>
                <a:ea typeface="Calibri"/>
              </a:rPr>
              <a:t>Classifier-only fine-tuning already achieved near-optimal performance, with limited gains from full fine-tuning.</a:t>
            </a:r>
            <a:endParaRPr lang="en-US" sz="1000" b="0" strike="noStrike" spc="-1" dirty="0">
              <a:solidFill>
                <a:srgbClr val="000000"/>
              </a:solidFill>
              <a:latin typeface="Arial"/>
            </a:endParaRPr>
          </a:p>
          <a:p>
            <a:pPr marL="138960" indent="-138960">
              <a:buClr>
                <a:srgbClr val="000000"/>
              </a:buClr>
              <a:buSzPct val="45000"/>
              <a:buFont typeface=""/>
              <a:buChar char=""/>
            </a:pPr>
            <a:r>
              <a:rPr lang="en-US" sz="1000" b="0" strike="noStrike" spc="-1" dirty="0">
                <a:solidFill>
                  <a:srgbClr val="000000"/>
                </a:solidFill>
                <a:latin typeface="Calibri"/>
                <a:ea typeface="Calibri"/>
              </a:rPr>
              <a:t>Batch normalization was critical for stable CNN training, while removing it caused severe performance degradation.</a:t>
            </a:r>
            <a:endParaRPr lang="en-US" sz="1000" b="0" strike="noStrike" spc="-1" dirty="0">
              <a:solidFill>
                <a:srgbClr val="000000"/>
              </a:solidFill>
              <a:latin typeface="Arial"/>
            </a:endParaRPr>
          </a:p>
          <a:p>
            <a:pPr marL="138960" indent="-138960">
              <a:buClr>
                <a:srgbClr val="000000"/>
              </a:buClr>
              <a:buSzPct val="45000"/>
              <a:buFont typeface=""/>
              <a:buChar char=""/>
            </a:pPr>
            <a:r>
              <a:rPr lang="en-US" sz="1000" b="0" strike="noStrike" spc="-1" dirty="0">
                <a:solidFill>
                  <a:srgbClr val="000000"/>
                </a:solidFill>
                <a:latin typeface="Calibri"/>
                <a:ea typeface="Calibri"/>
              </a:rPr>
              <a:t>Pretrained models showed better robustness and generalization with lower sensitivity to hyperparameter changes.</a:t>
            </a:r>
            <a:endParaRPr lang="en-US" sz="1000" b="0" strike="noStrike" spc="-1" dirty="0">
              <a:solidFill>
                <a:srgbClr val="000000"/>
              </a:solidFill>
              <a:latin typeface="Arial"/>
            </a:endParaRPr>
          </a:p>
        </p:txBody>
      </p:sp>
      <p:sp>
        <p:nvSpPr>
          <p:cNvPr id="606" name="Freeform 605"/>
          <p:cNvSpPr/>
          <p:nvPr/>
        </p:nvSpPr>
        <p:spPr>
          <a:xfrm>
            <a:off x="4663440" y="2212920"/>
            <a:ext cx="4115520" cy="2561040"/>
          </a:xfrm>
          <a:custGeom>
            <a:avLst/>
            <a:gdLst/>
            <a:ahLst/>
            <a:cxnLst/>
            <a:rect l="0" t="0" r="r" b="b"/>
            <a:pathLst>
              <a:path w="11432" h="7114">
                <a:moveTo>
                  <a:pt x="0" y="0"/>
                </a:moveTo>
                <a:lnTo>
                  <a:pt x="11432" y="0"/>
                </a:lnTo>
                <a:lnTo>
                  <a:pt x="11432" y="7114"/>
                </a:lnTo>
                <a:lnTo>
                  <a:pt x="0" y="7114"/>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607" name="Freeform 606"/>
          <p:cNvSpPr/>
          <p:nvPr/>
        </p:nvSpPr>
        <p:spPr>
          <a:xfrm>
            <a:off x="4663440" y="2212920"/>
            <a:ext cx="64800" cy="2561040"/>
          </a:xfrm>
          <a:custGeom>
            <a:avLst/>
            <a:gdLst/>
            <a:ahLst/>
            <a:cxnLst/>
            <a:rect l="0" t="0" r="r" b="b"/>
            <a:pathLst>
              <a:path w="180" h="7114">
                <a:moveTo>
                  <a:pt x="0" y="0"/>
                </a:moveTo>
                <a:lnTo>
                  <a:pt x="180" y="0"/>
                </a:lnTo>
                <a:lnTo>
                  <a:pt x="180" y="7114"/>
                </a:lnTo>
                <a:lnTo>
                  <a:pt x="0" y="7114"/>
                </a:lnTo>
                <a:lnTo>
                  <a:pt x="0" y="0"/>
                </a:lnTo>
                <a:close/>
              </a:path>
            </a:pathLst>
          </a:custGeom>
          <a:solidFill>
            <a:srgbClr val="7A38ED"/>
          </a:solidFill>
          <a:ln w="12600">
            <a:solidFill>
              <a:srgbClr val="7A38ED"/>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608" name="TextBox 607"/>
          <p:cNvSpPr txBox="1"/>
          <p:nvPr/>
        </p:nvSpPr>
        <p:spPr>
          <a:xfrm>
            <a:off x="4891320" y="2304360"/>
            <a:ext cx="3659040" cy="301680"/>
          </a:xfrm>
          <a:prstGeom prst="rect">
            <a:avLst/>
          </a:prstGeom>
          <a:noFill/>
          <a:ln w="0">
            <a:noFill/>
          </a:ln>
        </p:spPr>
        <p:txBody>
          <a:bodyPr lIns="90000" tIns="45000" rIns="90000" bIns="45000" anchor="t">
            <a:noAutofit/>
          </a:bodyPr>
          <a:lstStyle/>
          <a:p>
            <a:r>
              <a:rPr lang="en-US" sz="1200" b="1" strike="noStrike" spc="-1">
                <a:solidFill>
                  <a:srgbClr val="182C48"/>
                </a:solidFill>
                <a:latin typeface="Calibri-Bold"/>
                <a:ea typeface="Calibri-Bold"/>
              </a:rPr>
              <a:t>Model Summary</a:t>
            </a:r>
            <a:endParaRPr lang="en-US" sz="1200" b="0" strike="noStrike" spc="-1">
              <a:solidFill>
                <a:srgbClr val="000000"/>
              </a:solidFill>
              <a:latin typeface="Arial"/>
            </a:endParaRPr>
          </a:p>
        </p:txBody>
      </p:sp>
      <p:sp>
        <p:nvSpPr>
          <p:cNvPr id="609" name="Freeform 608"/>
          <p:cNvSpPr/>
          <p:nvPr/>
        </p:nvSpPr>
        <p:spPr>
          <a:xfrm>
            <a:off x="4827960" y="2679120"/>
            <a:ext cx="3786480" cy="275040"/>
          </a:xfrm>
          <a:custGeom>
            <a:avLst/>
            <a:gdLst/>
            <a:ahLst/>
            <a:cxnLst/>
            <a:rect l="0" t="0" r="r" b="b"/>
            <a:pathLst>
              <a:path w="10518" h="764">
                <a:moveTo>
                  <a:pt x="0" y="0"/>
                </a:moveTo>
                <a:lnTo>
                  <a:pt x="10518" y="0"/>
                </a:lnTo>
                <a:lnTo>
                  <a:pt x="10518" y="764"/>
                </a:lnTo>
                <a:lnTo>
                  <a:pt x="0" y="764"/>
                </a:lnTo>
                <a:lnTo>
                  <a:pt x="0" y="0"/>
                </a:lnTo>
                <a:close/>
              </a:path>
            </a:pathLst>
          </a:custGeom>
          <a:solidFill>
            <a:srgbClr val="182C48"/>
          </a:solidFill>
          <a:ln w="12600">
            <a:solidFill>
              <a:srgbClr val="182C48"/>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610" name="TextBox 609"/>
          <p:cNvSpPr txBox="1"/>
          <p:nvPr/>
        </p:nvSpPr>
        <p:spPr>
          <a:xfrm>
            <a:off x="4937040" y="2679120"/>
            <a:ext cx="1738800" cy="274320"/>
          </a:xfrm>
          <a:prstGeom prst="rect">
            <a:avLst/>
          </a:prstGeom>
          <a:noFill/>
          <a:ln w="0">
            <a:noFill/>
          </a:ln>
        </p:spPr>
        <p:txBody>
          <a:bodyPr lIns="90000" tIns="45000" rIns="90000" bIns="45000" anchor="t">
            <a:noAutofit/>
          </a:bodyPr>
          <a:lstStyle/>
          <a:p>
            <a:r>
              <a:rPr lang="en-US" sz="900" b="1" strike="noStrike" spc="-1">
                <a:solidFill>
                  <a:srgbClr val="FFFFFF"/>
                </a:solidFill>
                <a:latin typeface="Calibri-Bold"/>
                <a:ea typeface="Calibri-Bold"/>
              </a:rPr>
              <a:t>Model</a:t>
            </a:r>
            <a:endParaRPr lang="en-US" sz="900" b="0" strike="noStrike" spc="-1">
              <a:solidFill>
                <a:srgbClr val="000000"/>
              </a:solidFill>
              <a:latin typeface="Arial"/>
            </a:endParaRPr>
          </a:p>
        </p:txBody>
      </p:sp>
      <p:sp>
        <p:nvSpPr>
          <p:cNvPr id="611" name="TextBox 610"/>
          <p:cNvSpPr txBox="1"/>
          <p:nvPr/>
        </p:nvSpPr>
        <p:spPr>
          <a:xfrm>
            <a:off x="6811560" y="2679120"/>
            <a:ext cx="732960" cy="358920"/>
          </a:xfrm>
          <a:prstGeom prst="rect">
            <a:avLst/>
          </a:prstGeom>
          <a:noFill/>
          <a:ln w="0">
            <a:noFill/>
          </a:ln>
        </p:spPr>
        <p:txBody>
          <a:bodyPr lIns="90000" tIns="45000" rIns="90000" bIns="45000" anchor="t">
            <a:noAutofit/>
          </a:bodyPr>
          <a:lstStyle/>
          <a:p>
            <a:r>
              <a:rPr lang="nl-NL" sz="900" b="1" strike="noStrike" spc="-1">
                <a:solidFill>
                  <a:srgbClr val="FFFFFF"/>
                </a:solidFill>
                <a:latin typeface="Calibri-Bold"/>
                <a:ea typeface="Calibri-Bold"/>
              </a:rPr>
              <a:t>Best </a:t>
            </a:r>
            <a:r>
              <a:rPr lang="en-US" sz="900" b="1" strike="noStrike" spc="-1">
                <a:solidFill>
                  <a:srgbClr val="FFFFFF"/>
                </a:solidFill>
                <a:latin typeface="Calibri-Bold"/>
                <a:ea typeface="Calibri-Bold"/>
              </a:rPr>
              <a:t>Test Acc</a:t>
            </a:r>
            <a:endParaRPr lang="en-US" sz="900" b="0" strike="noStrike" spc="-1">
              <a:solidFill>
                <a:srgbClr val="000000"/>
              </a:solidFill>
              <a:latin typeface="Arial"/>
            </a:endParaRPr>
          </a:p>
        </p:txBody>
      </p:sp>
      <p:sp>
        <p:nvSpPr>
          <p:cNvPr id="612" name="TextBox 611"/>
          <p:cNvSpPr txBox="1"/>
          <p:nvPr/>
        </p:nvSpPr>
        <p:spPr>
          <a:xfrm>
            <a:off x="7680240" y="2679120"/>
            <a:ext cx="732960" cy="274320"/>
          </a:xfrm>
          <a:prstGeom prst="rect">
            <a:avLst/>
          </a:prstGeom>
          <a:noFill/>
          <a:ln w="0">
            <a:noFill/>
          </a:ln>
        </p:spPr>
        <p:txBody>
          <a:bodyPr lIns="90000" tIns="45000" rIns="90000" bIns="45000" anchor="t">
            <a:noAutofit/>
          </a:bodyPr>
          <a:lstStyle/>
          <a:p>
            <a:r>
              <a:rPr lang="en-US" sz="900" b="1" strike="noStrike" spc="-1">
                <a:solidFill>
                  <a:srgbClr val="FFFFFF"/>
                </a:solidFill>
                <a:latin typeface="Calibri-Bold"/>
                <a:ea typeface="Calibri-Bold"/>
              </a:rPr>
              <a:t>Params</a:t>
            </a:r>
            <a:endParaRPr lang="en-US" sz="900" b="0" strike="noStrike" spc="-1">
              <a:solidFill>
                <a:srgbClr val="000000"/>
              </a:solidFill>
              <a:latin typeface="Arial"/>
            </a:endParaRPr>
          </a:p>
        </p:txBody>
      </p:sp>
      <p:sp>
        <p:nvSpPr>
          <p:cNvPr id="613" name="Freeform 612"/>
          <p:cNvSpPr/>
          <p:nvPr/>
        </p:nvSpPr>
        <p:spPr>
          <a:xfrm>
            <a:off x="4827960" y="2990160"/>
            <a:ext cx="3786480" cy="302400"/>
          </a:xfrm>
          <a:custGeom>
            <a:avLst/>
            <a:gdLst/>
            <a:ahLst/>
            <a:cxnLst/>
            <a:rect l="0" t="0" r="r" b="b"/>
            <a:pathLst>
              <a:path w="10518" h="840">
                <a:moveTo>
                  <a:pt x="0" y="0"/>
                </a:moveTo>
                <a:lnTo>
                  <a:pt x="10518" y="0"/>
                </a:lnTo>
                <a:lnTo>
                  <a:pt x="10518"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614" name="TextBox 613"/>
          <p:cNvSpPr txBox="1"/>
          <p:nvPr/>
        </p:nvSpPr>
        <p:spPr>
          <a:xfrm>
            <a:off x="4937040" y="3035880"/>
            <a:ext cx="1693080" cy="229320"/>
          </a:xfrm>
          <a:prstGeom prst="rect">
            <a:avLst/>
          </a:prstGeom>
          <a:noFill/>
          <a:ln w="0">
            <a:noFill/>
          </a:ln>
        </p:spPr>
        <p:txBody>
          <a:bodyPr lIns="90000" tIns="45000" rIns="90000" bIns="45000" anchor="t">
            <a:noAutofit/>
          </a:bodyPr>
          <a:lstStyle/>
          <a:p>
            <a:r>
              <a:rPr lang="en-US" sz="900" b="0" strike="noStrike" spc="-1">
                <a:solidFill>
                  <a:srgbClr val="1C2739"/>
                </a:solidFill>
                <a:latin typeface="Calibri"/>
                <a:ea typeface="Calibri"/>
              </a:rPr>
              <a:t>ConvNeXt-Tiny</a:t>
            </a:r>
            <a:endParaRPr lang="en-US" sz="900" b="0" strike="noStrike" spc="-1">
              <a:solidFill>
                <a:srgbClr val="000000"/>
              </a:solidFill>
              <a:latin typeface="Arial"/>
            </a:endParaRPr>
          </a:p>
        </p:txBody>
      </p:sp>
      <p:sp>
        <p:nvSpPr>
          <p:cNvPr id="615" name="TextBox 614"/>
          <p:cNvSpPr txBox="1"/>
          <p:nvPr/>
        </p:nvSpPr>
        <p:spPr>
          <a:xfrm>
            <a:off x="6811560" y="3035880"/>
            <a:ext cx="732960" cy="224640"/>
          </a:xfrm>
          <a:prstGeom prst="rect">
            <a:avLst/>
          </a:prstGeom>
          <a:noFill/>
          <a:ln w="0">
            <a:noFill/>
          </a:ln>
        </p:spPr>
        <p:txBody>
          <a:bodyPr lIns="90000" tIns="45000" rIns="90000" bIns="45000" anchor="t">
            <a:noAutofit/>
          </a:bodyPr>
          <a:lstStyle/>
          <a:p>
            <a:r>
              <a:rPr lang="nl-NL" sz="900" b="1" strike="noStrike" spc="-1">
                <a:solidFill>
                  <a:srgbClr val="039667"/>
                </a:solidFill>
                <a:latin typeface="Calibri-Bold"/>
                <a:ea typeface="Calibri-Bold"/>
              </a:rPr>
              <a:t>94.06</a:t>
            </a:r>
            <a:r>
              <a:rPr lang="en-US" sz="900" b="1" strike="noStrike" spc="-1">
                <a:solidFill>
                  <a:srgbClr val="039667"/>
                </a:solidFill>
                <a:latin typeface="Calibri-Bold"/>
                <a:ea typeface="Calibri-Bold"/>
              </a:rPr>
              <a:t>%</a:t>
            </a:r>
            <a:endParaRPr lang="en-US" sz="900" b="0" strike="noStrike" spc="-1">
              <a:solidFill>
                <a:srgbClr val="000000"/>
              </a:solidFill>
              <a:latin typeface="Arial"/>
            </a:endParaRPr>
          </a:p>
        </p:txBody>
      </p:sp>
      <p:sp>
        <p:nvSpPr>
          <p:cNvPr id="616" name="TextBox 615"/>
          <p:cNvSpPr txBox="1"/>
          <p:nvPr/>
        </p:nvSpPr>
        <p:spPr>
          <a:xfrm>
            <a:off x="7680240" y="3035880"/>
            <a:ext cx="732960" cy="229320"/>
          </a:xfrm>
          <a:prstGeom prst="rect">
            <a:avLst/>
          </a:prstGeom>
          <a:noFill/>
          <a:ln w="0">
            <a:noFill/>
          </a:ln>
        </p:spPr>
        <p:txBody>
          <a:bodyPr lIns="90000" tIns="45000" rIns="90000" bIns="45000" anchor="t">
            <a:noAutofit/>
          </a:bodyPr>
          <a:lstStyle/>
          <a:p>
            <a:r>
              <a:rPr lang="en-US" sz="900" b="0" strike="noStrike" spc="-1">
                <a:solidFill>
                  <a:srgbClr val="62728B"/>
                </a:solidFill>
                <a:latin typeface="Calibri"/>
                <a:ea typeface="Calibri"/>
              </a:rPr>
              <a:t>~28.6M</a:t>
            </a:r>
            <a:endParaRPr lang="en-US" sz="900" b="0" strike="noStrike" spc="-1">
              <a:solidFill>
                <a:srgbClr val="000000"/>
              </a:solidFill>
              <a:latin typeface="Arial"/>
            </a:endParaRPr>
          </a:p>
        </p:txBody>
      </p:sp>
      <p:sp>
        <p:nvSpPr>
          <p:cNvPr id="617" name="Freeform 616"/>
          <p:cNvSpPr/>
          <p:nvPr/>
        </p:nvSpPr>
        <p:spPr>
          <a:xfrm>
            <a:off x="4827960" y="3328560"/>
            <a:ext cx="3786480" cy="302400"/>
          </a:xfrm>
          <a:custGeom>
            <a:avLst/>
            <a:gdLst/>
            <a:ahLst/>
            <a:cxnLst/>
            <a:rect l="0" t="0" r="r" b="b"/>
            <a:pathLst>
              <a:path w="10518" h="840">
                <a:moveTo>
                  <a:pt x="0" y="0"/>
                </a:moveTo>
                <a:lnTo>
                  <a:pt x="10518" y="0"/>
                </a:lnTo>
                <a:lnTo>
                  <a:pt x="10518"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618" name="TextBox 617"/>
          <p:cNvSpPr txBox="1"/>
          <p:nvPr/>
        </p:nvSpPr>
        <p:spPr>
          <a:xfrm>
            <a:off x="4937040" y="3374280"/>
            <a:ext cx="1693080" cy="229320"/>
          </a:xfrm>
          <a:prstGeom prst="rect">
            <a:avLst/>
          </a:prstGeom>
          <a:noFill/>
          <a:ln w="0">
            <a:noFill/>
          </a:ln>
        </p:spPr>
        <p:txBody>
          <a:bodyPr lIns="90000" tIns="45000" rIns="90000" bIns="45000" anchor="t">
            <a:noAutofit/>
          </a:bodyPr>
          <a:lstStyle/>
          <a:p>
            <a:r>
              <a:rPr lang="en-US" sz="900" b="0" strike="noStrike" spc="-1">
                <a:solidFill>
                  <a:srgbClr val="1C2739"/>
                </a:solidFill>
                <a:latin typeface="Calibri"/>
                <a:ea typeface="Calibri"/>
              </a:rPr>
              <a:t>ViT Base Patch16 224</a:t>
            </a:r>
            <a:endParaRPr lang="en-US" sz="900" b="0" strike="noStrike" spc="-1">
              <a:solidFill>
                <a:srgbClr val="000000"/>
              </a:solidFill>
              <a:latin typeface="Arial"/>
            </a:endParaRPr>
          </a:p>
        </p:txBody>
      </p:sp>
      <p:sp>
        <p:nvSpPr>
          <p:cNvPr id="619" name="TextBox 618"/>
          <p:cNvSpPr txBox="1"/>
          <p:nvPr/>
        </p:nvSpPr>
        <p:spPr>
          <a:xfrm>
            <a:off x="6811560" y="3374280"/>
            <a:ext cx="732960" cy="224640"/>
          </a:xfrm>
          <a:prstGeom prst="rect">
            <a:avLst/>
          </a:prstGeom>
          <a:noFill/>
          <a:ln w="0">
            <a:noFill/>
          </a:ln>
        </p:spPr>
        <p:txBody>
          <a:bodyPr lIns="90000" tIns="45000" rIns="90000" bIns="45000" anchor="t">
            <a:noAutofit/>
          </a:bodyPr>
          <a:lstStyle/>
          <a:p>
            <a:r>
              <a:rPr lang="nl-NL" sz="900" b="1" strike="noStrike" spc="-1">
                <a:solidFill>
                  <a:srgbClr val="62728B"/>
                </a:solidFill>
                <a:latin typeface="Calibri-Bold"/>
                <a:ea typeface="Calibri-Bold"/>
              </a:rPr>
              <a:t>93.16</a:t>
            </a:r>
            <a:r>
              <a:rPr lang="en-US" sz="900" b="1" strike="noStrike" spc="-1">
                <a:solidFill>
                  <a:srgbClr val="62728B"/>
                </a:solidFill>
                <a:latin typeface="Calibri-Bold"/>
                <a:ea typeface="Calibri-Bold"/>
              </a:rPr>
              <a:t>%</a:t>
            </a:r>
            <a:endParaRPr lang="en-US" sz="900" b="0" strike="noStrike" spc="-1">
              <a:solidFill>
                <a:srgbClr val="000000"/>
              </a:solidFill>
              <a:latin typeface="Arial"/>
            </a:endParaRPr>
          </a:p>
        </p:txBody>
      </p:sp>
      <p:sp>
        <p:nvSpPr>
          <p:cNvPr id="620" name="TextBox 619"/>
          <p:cNvSpPr txBox="1"/>
          <p:nvPr/>
        </p:nvSpPr>
        <p:spPr>
          <a:xfrm>
            <a:off x="7680240" y="3374280"/>
            <a:ext cx="732960" cy="229320"/>
          </a:xfrm>
          <a:prstGeom prst="rect">
            <a:avLst/>
          </a:prstGeom>
          <a:noFill/>
          <a:ln w="0">
            <a:noFill/>
          </a:ln>
        </p:spPr>
        <p:txBody>
          <a:bodyPr lIns="90000" tIns="45000" rIns="90000" bIns="45000" anchor="t">
            <a:noAutofit/>
          </a:bodyPr>
          <a:lstStyle/>
          <a:p>
            <a:r>
              <a:rPr lang="en-US" sz="900" b="0" strike="noStrike" spc="-1">
                <a:solidFill>
                  <a:srgbClr val="62728B"/>
                </a:solidFill>
                <a:latin typeface="Calibri"/>
                <a:ea typeface="Calibri"/>
              </a:rPr>
              <a:t>~86M</a:t>
            </a:r>
            <a:endParaRPr lang="en-US" sz="900" b="0" strike="noStrike" spc="-1">
              <a:solidFill>
                <a:srgbClr val="000000"/>
              </a:solidFill>
              <a:latin typeface="Arial"/>
            </a:endParaRPr>
          </a:p>
        </p:txBody>
      </p:sp>
      <p:sp>
        <p:nvSpPr>
          <p:cNvPr id="621" name="Freeform 620"/>
          <p:cNvSpPr/>
          <p:nvPr/>
        </p:nvSpPr>
        <p:spPr>
          <a:xfrm>
            <a:off x="4827960" y="3666600"/>
            <a:ext cx="3786480" cy="302400"/>
          </a:xfrm>
          <a:custGeom>
            <a:avLst/>
            <a:gdLst/>
            <a:ahLst/>
            <a:cxnLst/>
            <a:rect l="0" t="0" r="r" b="b"/>
            <a:pathLst>
              <a:path w="10518" h="840">
                <a:moveTo>
                  <a:pt x="0" y="0"/>
                </a:moveTo>
                <a:lnTo>
                  <a:pt x="10518" y="0"/>
                </a:lnTo>
                <a:lnTo>
                  <a:pt x="10518"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622" name="TextBox 621"/>
          <p:cNvSpPr txBox="1"/>
          <p:nvPr/>
        </p:nvSpPr>
        <p:spPr>
          <a:xfrm>
            <a:off x="4937040" y="3712320"/>
            <a:ext cx="1693080" cy="229320"/>
          </a:xfrm>
          <a:prstGeom prst="rect">
            <a:avLst/>
          </a:prstGeom>
          <a:noFill/>
          <a:ln w="0">
            <a:noFill/>
          </a:ln>
        </p:spPr>
        <p:txBody>
          <a:bodyPr lIns="90000" tIns="45000" rIns="90000" bIns="45000" anchor="t">
            <a:noAutofit/>
          </a:bodyPr>
          <a:lstStyle/>
          <a:p>
            <a:r>
              <a:rPr lang="en-US" sz="900" b="0" strike="noStrike" spc="-1">
                <a:solidFill>
                  <a:srgbClr val="1C2739"/>
                </a:solidFill>
                <a:latin typeface="Calibri"/>
                <a:ea typeface="Calibri"/>
              </a:rPr>
              <a:t>ResNet18</a:t>
            </a:r>
            <a:endParaRPr lang="en-US" sz="900" b="0" strike="noStrike" spc="-1">
              <a:solidFill>
                <a:srgbClr val="000000"/>
              </a:solidFill>
              <a:latin typeface="Arial"/>
            </a:endParaRPr>
          </a:p>
        </p:txBody>
      </p:sp>
      <p:sp>
        <p:nvSpPr>
          <p:cNvPr id="623" name="TextBox 622"/>
          <p:cNvSpPr txBox="1"/>
          <p:nvPr/>
        </p:nvSpPr>
        <p:spPr>
          <a:xfrm>
            <a:off x="6811560" y="3712320"/>
            <a:ext cx="732960" cy="224640"/>
          </a:xfrm>
          <a:prstGeom prst="rect">
            <a:avLst/>
          </a:prstGeom>
          <a:noFill/>
          <a:ln w="0">
            <a:noFill/>
          </a:ln>
        </p:spPr>
        <p:txBody>
          <a:bodyPr lIns="90000" tIns="45000" rIns="90000" bIns="45000" anchor="t">
            <a:noAutofit/>
          </a:bodyPr>
          <a:lstStyle/>
          <a:p>
            <a:r>
              <a:rPr lang="nl-NL" sz="900" b="1" strike="noStrike" spc="-1">
                <a:solidFill>
                  <a:srgbClr val="62728B"/>
                </a:solidFill>
                <a:latin typeface="Calibri-Bold"/>
                <a:ea typeface="Calibri-Bold"/>
              </a:rPr>
              <a:t>85.91</a:t>
            </a:r>
            <a:r>
              <a:rPr lang="en-US" sz="900" b="1" strike="noStrike" spc="-1">
                <a:solidFill>
                  <a:srgbClr val="62728B"/>
                </a:solidFill>
                <a:latin typeface="Calibri-Bold"/>
                <a:ea typeface="Calibri-Bold"/>
              </a:rPr>
              <a:t>%</a:t>
            </a:r>
            <a:endParaRPr lang="en-US" sz="900" b="0" strike="noStrike" spc="-1">
              <a:solidFill>
                <a:srgbClr val="000000"/>
              </a:solidFill>
              <a:latin typeface="Arial"/>
            </a:endParaRPr>
          </a:p>
        </p:txBody>
      </p:sp>
      <p:sp>
        <p:nvSpPr>
          <p:cNvPr id="624" name="TextBox 623"/>
          <p:cNvSpPr txBox="1"/>
          <p:nvPr/>
        </p:nvSpPr>
        <p:spPr>
          <a:xfrm>
            <a:off x="7680240" y="3712320"/>
            <a:ext cx="732960" cy="229320"/>
          </a:xfrm>
          <a:prstGeom prst="rect">
            <a:avLst/>
          </a:prstGeom>
          <a:noFill/>
          <a:ln w="0">
            <a:noFill/>
          </a:ln>
        </p:spPr>
        <p:txBody>
          <a:bodyPr lIns="90000" tIns="45000" rIns="90000" bIns="45000" anchor="t">
            <a:noAutofit/>
          </a:bodyPr>
          <a:lstStyle/>
          <a:p>
            <a:r>
              <a:rPr lang="en-US" sz="900" b="0" strike="noStrike" spc="-1">
                <a:solidFill>
                  <a:srgbClr val="62728B"/>
                </a:solidFill>
                <a:latin typeface="Calibri"/>
                <a:ea typeface="Calibri"/>
              </a:rPr>
              <a:t>~11.7M</a:t>
            </a:r>
            <a:r>
              <a:rPr lang="nl-NL" sz="900" b="0" strike="noStrike" spc="-1">
                <a:solidFill>
                  <a:srgbClr val="62728B"/>
                </a:solidFill>
                <a:latin typeface="Calibri"/>
                <a:ea typeface="Calibri"/>
              </a:rPr>
              <a:t> </a:t>
            </a:r>
            <a:endParaRPr lang="en-US" sz="900" b="0" strike="noStrike" spc="-1">
              <a:solidFill>
                <a:srgbClr val="000000"/>
              </a:solidFill>
              <a:latin typeface="Arial"/>
            </a:endParaRPr>
          </a:p>
        </p:txBody>
      </p:sp>
      <p:sp>
        <p:nvSpPr>
          <p:cNvPr id="625" name="Freeform 624"/>
          <p:cNvSpPr/>
          <p:nvPr/>
        </p:nvSpPr>
        <p:spPr>
          <a:xfrm>
            <a:off x="4827960" y="4005000"/>
            <a:ext cx="3786480" cy="302400"/>
          </a:xfrm>
          <a:custGeom>
            <a:avLst/>
            <a:gdLst/>
            <a:ahLst/>
            <a:cxnLst/>
            <a:rect l="0" t="0" r="r" b="b"/>
            <a:pathLst>
              <a:path w="10518" h="840">
                <a:moveTo>
                  <a:pt x="0" y="0"/>
                </a:moveTo>
                <a:lnTo>
                  <a:pt x="10518" y="0"/>
                </a:lnTo>
                <a:lnTo>
                  <a:pt x="10518" y="840"/>
                </a:lnTo>
                <a:lnTo>
                  <a:pt x="0" y="840"/>
                </a:lnTo>
                <a:lnTo>
                  <a:pt x="0" y="0"/>
                </a:lnTo>
                <a:close/>
              </a:path>
            </a:pathLst>
          </a:custGeom>
          <a:solidFill>
            <a:srgbClr val="FFFFFF"/>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626" name="TextBox 625"/>
          <p:cNvSpPr txBox="1"/>
          <p:nvPr/>
        </p:nvSpPr>
        <p:spPr>
          <a:xfrm>
            <a:off x="4937040" y="4050720"/>
            <a:ext cx="1693080" cy="229320"/>
          </a:xfrm>
          <a:prstGeom prst="rect">
            <a:avLst/>
          </a:prstGeom>
          <a:noFill/>
          <a:ln w="0">
            <a:noFill/>
          </a:ln>
        </p:spPr>
        <p:txBody>
          <a:bodyPr lIns="90000" tIns="45000" rIns="90000" bIns="45000" anchor="t">
            <a:noAutofit/>
          </a:bodyPr>
          <a:lstStyle/>
          <a:p>
            <a:r>
              <a:rPr lang="en-US" sz="900" b="0" strike="noStrike" spc="-1">
                <a:solidFill>
                  <a:srgbClr val="1C2739"/>
                </a:solidFill>
                <a:latin typeface="Calibri"/>
                <a:ea typeface="Calibri"/>
              </a:rPr>
              <a:t>Baseline CNN</a:t>
            </a:r>
            <a:endParaRPr lang="en-US" sz="900" b="0" strike="noStrike" spc="-1">
              <a:solidFill>
                <a:srgbClr val="000000"/>
              </a:solidFill>
              <a:latin typeface="Arial"/>
            </a:endParaRPr>
          </a:p>
        </p:txBody>
      </p:sp>
      <p:sp>
        <p:nvSpPr>
          <p:cNvPr id="627" name="TextBox 626"/>
          <p:cNvSpPr txBox="1"/>
          <p:nvPr/>
        </p:nvSpPr>
        <p:spPr>
          <a:xfrm>
            <a:off x="6811560" y="4050720"/>
            <a:ext cx="732960" cy="224640"/>
          </a:xfrm>
          <a:prstGeom prst="rect">
            <a:avLst/>
          </a:prstGeom>
          <a:noFill/>
          <a:ln w="0">
            <a:noFill/>
          </a:ln>
        </p:spPr>
        <p:txBody>
          <a:bodyPr lIns="90000" tIns="45000" rIns="90000" bIns="45000" anchor="t">
            <a:noAutofit/>
          </a:bodyPr>
          <a:lstStyle/>
          <a:p>
            <a:r>
              <a:rPr lang="nl-NL" sz="900" b="1" strike="noStrike" spc="-1">
                <a:solidFill>
                  <a:srgbClr val="DC2424"/>
                </a:solidFill>
                <a:latin typeface="Calibri-Bold"/>
                <a:ea typeface="Calibri-Bold"/>
              </a:rPr>
              <a:t>62.25</a:t>
            </a:r>
            <a:r>
              <a:rPr lang="en-US" sz="900" b="1" strike="noStrike" spc="-1">
                <a:solidFill>
                  <a:srgbClr val="DC2424"/>
                </a:solidFill>
                <a:latin typeface="Calibri-Bold"/>
                <a:ea typeface="Calibri-Bold"/>
              </a:rPr>
              <a:t>%</a:t>
            </a:r>
            <a:endParaRPr lang="en-US" sz="900" b="0" strike="noStrike" spc="-1">
              <a:solidFill>
                <a:srgbClr val="000000"/>
              </a:solidFill>
              <a:latin typeface="Arial"/>
            </a:endParaRPr>
          </a:p>
        </p:txBody>
      </p:sp>
      <p:sp>
        <p:nvSpPr>
          <p:cNvPr id="628" name="TextBox 627"/>
          <p:cNvSpPr txBox="1"/>
          <p:nvPr/>
        </p:nvSpPr>
        <p:spPr>
          <a:xfrm>
            <a:off x="7680240" y="4050720"/>
            <a:ext cx="732960" cy="244440"/>
          </a:xfrm>
          <a:prstGeom prst="rect">
            <a:avLst/>
          </a:prstGeom>
          <a:noFill/>
          <a:ln w="0">
            <a:noFill/>
          </a:ln>
        </p:spPr>
        <p:txBody>
          <a:bodyPr lIns="90000" tIns="45000" rIns="90000" bIns="45000" anchor="t">
            <a:noAutofit/>
          </a:bodyPr>
          <a:lstStyle/>
          <a:p>
            <a:r>
              <a:rPr lang="en-US" sz="1000" b="0" strike="noStrike" spc="-1">
                <a:solidFill>
                  <a:srgbClr val="1C2739"/>
                </a:solidFill>
                <a:latin typeface="Calibri"/>
                <a:ea typeface="Calibri"/>
              </a:rPr>
              <a:t>~0.5M </a:t>
            </a:r>
            <a:endParaRPr lang="en-US" sz="1000" b="0" strike="noStrike" spc="-1">
              <a:solidFill>
                <a:srgbClr val="000000"/>
              </a:solidFill>
              <a:latin typeface="Arial"/>
            </a:endParaRPr>
          </a:p>
        </p:txBody>
      </p:sp>
      <p:sp>
        <p:nvSpPr>
          <p:cNvPr id="629" name="Freeform 628"/>
          <p:cNvSpPr/>
          <p:nvPr/>
        </p:nvSpPr>
        <p:spPr>
          <a:xfrm>
            <a:off x="4827960" y="4343400"/>
            <a:ext cx="3786480" cy="302400"/>
          </a:xfrm>
          <a:custGeom>
            <a:avLst/>
            <a:gdLst/>
            <a:ahLst/>
            <a:cxnLst/>
            <a:rect l="0" t="0" r="r" b="b"/>
            <a:pathLst>
              <a:path w="10518" h="840">
                <a:moveTo>
                  <a:pt x="0" y="0"/>
                </a:moveTo>
                <a:lnTo>
                  <a:pt x="10518" y="0"/>
                </a:lnTo>
                <a:lnTo>
                  <a:pt x="10518" y="840"/>
                </a:lnTo>
                <a:lnTo>
                  <a:pt x="0" y="840"/>
                </a:lnTo>
                <a:lnTo>
                  <a:pt x="0" y="0"/>
                </a:lnTo>
                <a:close/>
              </a:path>
            </a:pathLst>
          </a:custGeom>
          <a:solidFill>
            <a:srgbClr val="F8FAFC"/>
          </a:solidFill>
          <a:ln w="12600">
            <a:solidFill>
              <a:srgbClr val="E2E8F0"/>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630" name="Freeform 629"/>
          <p:cNvSpPr/>
          <p:nvPr/>
        </p:nvSpPr>
        <p:spPr>
          <a:xfrm>
            <a:off x="365760" y="4709160"/>
            <a:ext cx="8413200" cy="293400"/>
          </a:xfrm>
          <a:custGeom>
            <a:avLst/>
            <a:gdLst/>
            <a:ahLst/>
            <a:cxnLst/>
            <a:rect l="0" t="0" r="r" b="b"/>
            <a:pathLst>
              <a:path w="23370" h="815">
                <a:moveTo>
                  <a:pt x="0" y="0"/>
                </a:moveTo>
                <a:lnTo>
                  <a:pt x="23370" y="0"/>
                </a:lnTo>
                <a:lnTo>
                  <a:pt x="23370" y="815"/>
                </a:lnTo>
                <a:lnTo>
                  <a:pt x="0" y="815"/>
                </a:lnTo>
                <a:lnTo>
                  <a:pt x="0" y="0"/>
                </a:lnTo>
                <a:close/>
              </a:path>
            </a:pathLst>
          </a:custGeom>
          <a:solidFill>
            <a:srgbClr val="EDE9FE"/>
          </a:solidFill>
          <a:ln w="12600">
            <a:solidFill>
              <a:srgbClr val="7A38ED"/>
            </a:solidFill>
            <a:round/>
          </a:ln>
        </p:spPr>
        <p:txBody>
          <a:bodyPr lIns="96120" tIns="51120" rIns="96120" bIns="51120" anchor="t">
            <a:noAutofit/>
          </a:bodyPr>
          <a:lstStyle/>
          <a:p>
            <a:endParaRPr lang="en-US" sz="1800" b="0" strike="noStrike" spc="-1">
              <a:solidFill>
                <a:srgbClr val="000000"/>
              </a:solidFill>
              <a:latin typeface="Arial"/>
            </a:endParaRPr>
          </a:p>
        </p:txBody>
      </p:sp>
      <p:sp>
        <p:nvSpPr>
          <p:cNvPr id="631" name="TextBox 630"/>
          <p:cNvSpPr txBox="1"/>
          <p:nvPr/>
        </p:nvSpPr>
        <p:spPr>
          <a:xfrm>
            <a:off x="547920" y="4709160"/>
            <a:ext cx="8048160" cy="386280"/>
          </a:xfrm>
          <a:prstGeom prst="rect">
            <a:avLst/>
          </a:prstGeom>
          <a:noFill/>
          <a:ln w="0">
            <a:noFill/>
          </a:ln>
        </p:spPr>
        <p:txBody>
          <a:bodyPr lIns="90000" tIns="45000" rIns="90000" bIns="45000" anchor="t">
            <a:noAutofit/>
          </a:bodyPr>
          <a:lstStyle/>
          <a:p>
            <a:r>
              <a:rPr lang="en-US" sz="1000" b="1" strike="noStrike" spc="-1">
                <a:solidFill>
                  <a:srgbClr val="7A38ED"/>
                </a:solidFill>
                <a:latin typeface="Calibri-Bold"/>
                <a:ea typeface="Calibri-Bold"/>
              </a:rPr>
              <a:t>🔑  Transfer learning models dramatically outperform the CNN baseline across all evaluation metrics.</a:t>
            </a:r>
            <a:endParaRPr lang="en-US" sz="1000" b="0" strike="noStrike" spc="-1">
              <a:solidFill>
                <a:srgbClr val="000000"/>
              </a:solidFill>
              <a:latin typeface="Arial"/>
            </a:endParaRPr>
          </a:p>
        </p:txBody>
      </p:sp>
      <p:sp>
        <p:nvSpPr>
          <p:cNvPr id="632" name="Freeform 631"/>
          <p:cNvSpPr/>
          <p:nvPr/>
        </p:nvSpPr>
        <p:spPr>
          <a:xfrm>
            <a:off x="4674600" y="1094400"/>
            <a:ext cx="1933560" cy="960840"/>
          </a:xfrm>
          <a:custGeom>
            <a:avLst/>
            <a:gdLst/>
            <a:ahLst/>
            <a:cxnLst/>
            <a:rect l="0" t="0" r="r" b="b"/>
            <a:pathLst>
              <a:path w="5371" h="2669">
                <a:moveTo>
                  <a:pt x="0" y="0"/>
                </a:moveTo>
                <a:lnTo>
                  <a:pt x="5371" y="0"/>
                </a:lnTo>
                <a:lnTo>
                  <a:pt x="5371" y="2669"/>
                </a:lnTo>
                <a:lnTo>
                  <a:pt x="0" y="2669"/>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633" name="Freeform 632"/>
          <p:cNvSpPr/>
          <p:nvPr/>
        </p:nvSpPr>
        <p:spPr>
          <a:xfrm>
            <a:off x="4683600" y="1090080"/>
            <a:ext cx="64800" cy="960840"/>
          </a:xfrm>
          <a:custGeom>
            <a:avLst/>
            <a:gdLst/>
            <a:ahLst/>
            <a:cxnLst/>
            <a:rect l="0" t="0" r="r" b="b"/>
            <a:pathLst>
              <a:path w="180" h="2669">
                <a:moveTo>
                  <a:pt x="0" y="0"/>
                </a:moveTo>
                <a:lnTo>
                  <a:pt x="180" y="0"/>
                </a:lnTo>
                <a:lnTo>
                  <a:pt x="180" y="2669"/>
                </a:lnTo>
                <a:lnTo>
                  <a:pt x="0" y="2669"/>
                </a:lnTo>
                <a:lnTo>
                  <a:pt x="0" y="0"/>
                </a:lnTo>
                <a:close/>
              </a:path>
            </a:pathLst>
          </a:custGeom>
          <a:solidFill>
            <a:srgbClr val="0691B2"/>
          </a:solidFill>
          <a:ln w="12600">
            <a:solidFill>
              <a:srgbClr val="0691B2"/>
            </a:solidFill>
            <a:round/>
          </a:ln>
        </p:spPr>
        <p:txBody>
          <a:bodyPr lIns="96120" tIns="51120" rIns="96120" bIns="51120" anchor="t">
            <a:noAutofit/>
          </a:bodyPr>
          <a:lstStyle/>
          <a:p>
            <a:endParaRPr lang="en-US" sz="1800" b="0" strike="noStrike" spc="-1">
              <a:solidFill>
                <a:srgbClr val="FFFFFF"/>
              </a:solidFill>
              <a:latin typeface="Arial"/>
            </a:endParaRPr>
          </a:p>
        </p:txBody>
      </p:sp>
      <p:sp>
        <p:nvSpPr>
          <p:cNvPr id="634" name="TextBox 633"/>
          <p:cNvSpPr txBox="1"/>
          <p:nvPr/>
        </p:nvSpPr>
        <p:spPr>
          <a:xfrm>
            <a:off x="4907520" y="1181520"/>
            <a:ext cx="1214280" cy="445320"/>
          </a:xfrm>
          <a:prstGeom prst="rect">
            <a:avLst/>
          </a:prstGeom>
          <a:noFill/>
          <a:ln w="0">
            <a:noFill/>
          </a:ln>
        </p:spPr>
        <p:txBody>
          <a:bodyPr lIns="90000" tIns="45000" rIns="90000" bIns="45000" anchor="t">
            <a:noAutofit/>
          </a:bodyPr>
          <a:lstStyle/>
          <a:p>
            <a:r>
              <a:rPr lang="nl-NL" sz="2400" b="1" strike="noStrike" spc="-1">
                <a:solidFill>
                  <a:srgbClr val="0691B2"/>
                </a:solidFill>
                <a:latin typeface="Calibri-Bold"/>
                <a:ea typeface="Calibri-Bold"/>
              </a:rPr>
              <a:t>94</a:t>
            </a:r>
            <a:r>
              <a:rPr lang="en-US" sz="2400" b="1" strike="noStrike" spc="-1">
                <a:solidFill>
                  <a:srgbClr val="0691B2"/>
                </a:solidFill>
                <a:latin typeface="Calibri-Bold"/>
                <a:ea typeface="Calibri-Bold"/>
              </a:rPr>
              <a:t>%</a:t>
            </a:r>
            <a:endParaRPr lang="en-US" sz="2400" b="0" strike="noStrike" spc="-1">
              <a:solidFill>
                <a:srgbClr val="000000"/>
              </a:solidFill>
              <a:latin typeface="Arial"/>
            </a:endParaRPr>
          </a:p>
        </p:txBody>
      </p:sp>
      <p:sp>
        <p:nvSpPr>
          <p:cNvPr id="635" name="TextBox 634"/>
          <p:cNvSpPr txBox="1"/>
          <p:nvPr/>
        </p:nvSpPr>
        <p:spPr>
          <a:xfrm>
            <a:off x="4907520" y="1704600"/>
            <a:ext cx="1214280" cy="244440"/>
          </a:xfrm>
          <a:prstGeom prst="rect">
            <a:avLst/>
          </a:prstGeom>
          <a:noFill/>
          <a:ln w="0">
            <a:noFill/>
          </a:ln>
        </p:spPr>
        <p:txBody>
          <a:bodyPr lIns="90000" tIns="45000" rIns="90000" bIns="45000" anchor="t">
            <a:noAutofit/>
          </a:bodyPr>
          <a:lstStyle/>
          <a:p>
            <a:r>
              <a:rPr lang="en-US" sz="1000" b="0" strike="noStrike" spc="-1">
                <a:solidFill>
                  <a:srgbClr val="62728B"/>
                </a:solidFill>
                <a:latin typeface="Calibri"/>
                <a:ea typeface="Calibri"/>
              </a:rPr>
              <a:t>Macro recall</a:t>
            </a:r>
            <a:endParaRPr lang="en-US" sz="1000" b="0" strike="noStrike" spc="-1">
              <a:solidFill>
                <a:srgbClr val="000000"/>
              </a:solidFill>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636" name="Freeform 635"/>
          <p:cNvSpPr/>
          <p:nvPr/>
        </p:nvSpPr>
        <p:spPr>
          <a:xfrm>
            <a:off x="0" y="0"/>
            <a:ext cx="9144720" cy="55440"/>
          </a:xfrm>
          <a:custGeom>
            <a:avLst/>
            <a:gdLst/>
            <a:ahLst/>
            <a:cxnLst/>
            <a:rect l="0" t="0" r="r" b="b"/>
            <a:pathLst>
              <a:path w="25402" h="154">
                <a:moveTo>
                  <a:pt x="0" y="0"/>
                </a:moveTo>
                <a:lnTo>
                  <a:pt x="25402" y="0"/>
                </a:lnTo>
                <a:lnTo>
                  <a:pt x="25402" y="154"/>
                </a:lnTo>
                <a:lnTo>
                  <a:pt x="0" y="154"/>
                </a:lnTo>
                <a:lnTo>
                  <a:pt x="0" y="0"/>
                </a:lnTo>
                <a:close/>
              </a:path>
            </a:pathLst>
          </a:custGeom>
          <a:solidFill>
            <a:srgbClr val="2361EB"/>
          </a:solidFill>
          <a:ln w="0">
            <a:noFill/>
          </a:ln>
        </p:spPr>
        <p:txBody>
          <a:bodyPr lIns="90000" tIns="10440" rIns="90000" bIns="10440" anchor="t">
            <a:noAutofit/>
          </a:bodyPr>
          <a:lstStyle/>
          <a:p>
            <a:endParaRPr lang="en-US" sz="1800" b="0" strike="noStrike" spc="-1">
              <a:solidFill>
                <a:srgbClr val="FFFFFF"/>
              </a:solidFill>
              <a:latin typeface="Arial"/>
            </a:endParaRPr>
          </a:p>
        </p:txBody>
      </p:sp>
      <p:sp>
        <p:nvSpPr>
          <p:cNvPr id="637" name="TextBox 636"/>
          <p:cNvSpPr txBox="1"/>
          <p:nvPr/>
        </p:nvSpPr>
        <p:spPr>
          <a:xfrm>
            <a:off x="502200" y="164520"/>
            <a:ext cx="8139600" cy="502920"/>
          </a:xfrm>
          <a:prstGeom prst="rect">
            <a:avLst/>
          </a:prstGeom>
          <a:noFill/>
          <a:ln w="0">
            <a:noFill/>
          </a:ln>
        </p:spPr>
        <p:txBody>
          <a:bodyPr lIns="90000" tIns="45000" rIns="90000" bIns="45000" anchor="t">
            <a:noAutofit/>
          </a:bodyPr>
          <a:lstStyle/>
          <a:p>
            <a:r>
              <a:rPr lang="en-US" sz="2600" b="1" strike="noStrike" spc="-1">
                <a:solidFill>
                  <a:srgbClr val="182C48"/>
                </a:solidFill>
                <a:latin typeface="Calibri-Bold"/>
                <a:ea typeface="Calibri-Bold"/>
              </a:rPr>
              <a:t>Model Performance Comparison</a:t>
            </a:r>
            <a:endParaRPr lang="en-US" sz="2600" b="0" strike="noStrike" spc="-1">
              <a:solidFill>
                <a:srgbClr val="000000"/>
              </a:solidFill>
              <a:latin typeface="Arial"/>
            </a:endParaRPr>
          </a:p>
        </p:txBody>
      </p:sp>
      <p:sp>
        <p:nvSpPr>
          <p:cNvPr id="638" name="Straight Connector 637"/>
          <p:cNvSpPr/>
          <p:nvPr/>
        </p:nvSpPr>
        <p:spPr>
          <a:xfrm>
            <a:off x="457200" y="668160"/>
            <a:ext cx="8229600" cy="0"/>
          </a:xfrm>
          <a:prstGeom prst="line">
            <a:avLst/>
          </a:prstGeom>
          <a:ln w="12600">
            <a:solidFill>
              <a:srgbClr val="E2E8F0"/>
            </a:solidFill>
            <a:round/>
          </a:ln>
        </p:spPr>
        <p:style>
          <a:lnRef idx="0">
            <a:scrgbClr r="0" g="0" b="0"/>
          </a:lnRef>
          <a:fillRef idx="0">
            <a:scrgbClr r="0" g="0" b="0"/>
          </a:fillRef>
          <a:effectRef idx="0">
            <a:scrgbClr r="0" g="0" b="0"/>
          </a:effectRef>
          <a:fontRef idx="minor"/>
        </p:style>
        <p:txBody>
          <a:bodyPr lIns="96120" tIns="-51120" rIns="96120" bIns="-51120" anchor="t">
            <a:noAutofit/>
          </a:bodyPr>
          <a:lstStyle/>
          <a:p>
            <a:endParaRPr lang="en-US" sz="1800" b="0" strike="noStrike" spc="-1">
              <a:solidFill>
                <a:srgbClr val="000000"/>
              </a:solidFill>
              <a:latin typeface="Arial"/>
            </a:endParaRPr>
          </a:p>
        </p:txBody>
      </p:sp>
      <p:sp>
        <p:nvSpPr>
          <p:cNvPr id="639" name="Freeform 638"/>
          <p:cNvSpPr/>
          <p:nvPr/>
        </p:nvSpPr>
        <p:spPr>
          <a:xfrm>
            <a:off x="365760" y="805320"/>
            <a:ext cx="4069800" cy="3280680"/>
          </a:xfrm>
          <a:custGeom>
            <a:avLst/>
            <a:gdLst/>
            <a:ahLst/>
            <a:cxnLst/>
            <a:rect l="0" t="0" r="r" b="b"/>
            <a:pathLst>
              <a:path w="11305" h="9113">
                <a:moveTo>
                  <a:pt x="0" y="0"/>
                </a:moveTo>
                <a:lnTo>
                  <a:pt x="11305" y="0"/>
                </a:lnTo>
                <a:lnTo>
                  <a:pt x="11305" y="9113"/>
                </a:lnTo>
                <a:lnTo>
                  <a:pt x="0" y="9113"/>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640" name="Freeform 639"/>
          <p:cNvSpPr/>
          <p:nvPr/>
        </p:nvSpPr>
        <p:spPr>
          <a:xfrm>
            <a:off x="365760" y="805320"/>
            <a:ext cx="64800" cy="3280680"/>
          </a:xfrm>
          <a:custGeom>
            <a:avLst/>
            <a:gdLst/>
            <a:ahLst/>
            <a:cxnLst/>
            <a:rect l="0" t="0" r="r" b="b"/>
            <a:pathLst>
              <a:path w="180" h="9113">
                <a:moveTo>
                  <a:pt x="0" y="0"/>
                </a:moveTo>
                <a:lnTo>
                  <a:pt x="180" y="0"/>
                </a:lnTo>
                <a:lnTo>
                  <a:pt x="180" y="9113"/>
                </a:lnTo>
                <a:lnTo>
                  <a:pt x="0" y="9113"/>
                </a:lnTo>
                <a:lnTo>
                  <a:pt x="0" y="0"/>
                </a:lnTo>
                <a:close/>
              </a:path>
            </a:pathLst>
          </a:custGeom>
          <a:solidFill>
            <a:srgbClr val="2361EB"/>
          </a:solidFill>
          <a:ln w="0">
            <a:noFill/>
          </a:ln>
        </p:spPr>
        <p:txBody>
          <a:bodyPr lIns="90000" tIns="45000" rIns="90000" bIns="45000" anchor="t">
            <a:noAutofit/>
          </a:bodyPr>
          <a:lstStyle/>
          <a:p>
            <a:endParaRPr lang="en-US" sz="1800" b="0" strike="noStrike" spc="-1">
              <a:solidFill>
                <a:srgbClr val="FFFFFF"/>
              </a:solidFill>
              <a:latin typeface="Arial"/>
            </a:endParaRPr>
          </a:p>
        </p:txBody>
      </p:sp>
      <p:sp>
        <p:nvSpPr>
          <p:cNvPr id="641" name="TextBox 640"/>
          <p:cNvSpPr txBox="1"/>
          <p:nvPr/>
        </p:nvSpPr>
        <p:spPr>
          <a:xfrm>
            <a:off x="593640" y="896760"/>
            <a:ext cx="3659040" cy="280800"/>
          </a:xfrm>
          <a:prstGeom prst="rect">
            <a:avLst/>
          </a:prstGeom>
          <a:noFill/>
          <a:ln w="0">
            <a:noFill/>
          </a:ln>
        </p:spPr>
        <p:txBody>
          <a:bodyPr lIns="90000" tIns="45000" rIns="90000" bIns="45000" anchor="t">
            <a:noAutofit/>
          </a:bodyPr>
          <a:lstStyle/>
          <a:p>
            <a:r>
              <a:rPr lang="en-US" sz="1300" b="1" strike="noStrike" spc="-1">
                <a:solidFill>
                  <a:srgbClr val="182C48"/>
                </a:solidFill>
                <a:latin typeface="Calibri-Bold"/>
                <a:ea typeface="Calibri-Bold"/>
              </a:rPr>
              <a:t>Best result per architecture</a:t>
            </a:r>
            <a:endParaRPr lang="en-US" sz="1300" b="0" strike="noStrike" spc="-1">
              <a:solidFill>
                <a:srgbClr val="000000"/>
              </a:solidFill>
              <a:latin typeface="Arial"/>
            </a:endParaRPr>
          </a:p>
        </p:txBody>
      </p:sp>
      <p:sp>
        <p:nvSpPr>
          <p:cNvPr id="642" name="TextBox 641"/>
          <p:cNvSpPr txBox="1"/>
          <p:nvPr/>
        </p:nvSpPr>
        <p:spPr>
          <a:xfrm>
            <a:off x="593640" y="3823920"/>
            <a:ext cx="3659040" cy="238320"/>
          </a:xfrm>
          <a:prstGeom prst="rect">
            <a:avLst/>
          </a:prstGeom>
          <a:noFill/>
          <a:ln w="0">
            <a:noFill/>
          </a:ln>
        </p:spPr>
        <p:txBody>
          <a:bodyPr lIns="90000" tIns="45000" rIns="90000" bIns="45000" anchor="t">
            <a:noAutofit/>
          </a:bodyPr>
          <a:lstStyle/>
          <a:p>
            <a:r>
              <a:rPr lang="en-US" sz="1000" b="0" i="1" strike="noStrike" spc="-1">
                <a:solidFill>
                  <a:srgbClr val="62728B"/>
                </a:solidFill>
                <a:latin typeface="Calibri-Italic"/>
                <a:ea typeface="Calibri-Italic"/>
              </a:rPr>
              <a:t>Ranked by test accuracy (all experiments)</a:t>
            </a:r>
            <a:endParaRPr lang="en-US" sz="1000" b="0" strike="noStrike" spc="-1">
              <a:solidFill>
                <a:srgbClr val="000000"/>
              </a:solidFill>
              <a:latin typeface="Arial"/>
            </a:endParaRPr>
          </a:p>
        </p:txBody>
      </p:sp>
      <p:sp>
        <p:nvSpPr>
          <p:cNvPr id="643" name="Freeform 642"/>
          <p:cNvSpPr/>
          <p:nvPr/>
        </p:nvSpPr>
        <p:spPr>
          <a:xfrm>
            <a:off x="4709160" y="805320"/>
            <a:ext cx="4069800" cy="3280680"/>
          </a:xfrm>
          <a:custGeom>
            <a:avLst/>
            <a:gdLst/>
            <a:ahLst/>
            <a:cxnLst/>
            <a:rect l="0" t="0" r="r" b="b"/>
            <a:pathLst>
              <a:path w="11305" h="9113">
                <a:moveTo>
                  <a:pt x="0" y="0"/>
                </a:moveTo>
                <a:lnTo>
                  <a:pt x="11305" y="0"/>
                </a:lnTo>
                <a:lnTo>
                  <a:pt x="11305" y="9113"/>
                </a:lnTo>
                <a:lnTo>
                  <a:pt x="0" y="9113"/>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644" name="Freeform 643"/>
          <p:cNvSpPr/>
          <p:nvPr/>
        </p:nvSpPr>
        <p:spPr>
          <a:xfrm>
            <a:off x="4709160" y="805320"/>
            <a:ext cx="64800" cy="3280680"/>
          </a:xfrm>
          <a:custGeom>
            <a:avLst/>
            <a:gdLst/>
            <a:ahLst/>
            <a:cxnLst/>
            <a:rect l="0" t="0" r="r" b="b"/>
            <a:pathLst>
              <a:path w="180" h="9113">
                <a:moveTo>
                  <a:pt x="0" y="0"/>
                </a:moveTo>
                <a:lnTo>
                  <a:pt x="180" y="0"/>
                </a:lnTo>
                <a:lnTo>
                  <a:pt x="180" y="9113"/>
                </a:lnTo>
                <a:lnTo>
                  <a:pt x="0" y="9113"/>
                </a:lnTo>
                <a:lnTo>
                  <a:pt x="0" y="0"/>
                </a:lnTo>
                <a:close/>
              </a:path>
            </a:pathLst>
          </a:custGeom>
          <a:solidFill>
            <a:srgbClr val="2361EB"/>
          </a:solidFill>
          <a:ln w="0">
            <a:noFill/>
          </a:ln>
        </p:spPr>
        <p:txBody>
          <a:bodyPr lIns="90000" tIns="45000" rIns="90000" bIns="45000" anchor="t">
            <a:noAutofit/>
          </a:bodyPr>
          <a:lstStyle/>
          <a:p>
            <a:endParaRPr lang="en-US" sz="1800" b="0" strike="noStrike" spc="-1">
              <a:solidFill>
                <a:srgbClr val="FFFFFF"/>
              </a:solidFill>
              <a:latin typeface="Arial"/>
            </a:endParaRPr>
          </a:p>
        </p:txBody>
      </p:sp>
      <p:sp>
        <p:nvSpPr>
          <p:cNvPr id="645" name="TextBox 644"/>
          <p:cNvSpPr txBox="1"/>
          <p:nvPr/>
        </p:nvSpPr>
        <p:spPr>
          <a:xfrm>
            <a:off x="4937040" y="896760"/>
            <a:ext cx="3659040" cy="280800"/>
          </a:xfrm>
          <a:prstGeom prst="rect">
            <a:avLst/>
          </a:prstGeom>
          <a:noFill/>
          <a:ln w="0">
            <a:noFill/>
          </a:ln>
        </p:spPr>
        <p:txBody>
          <a:bodyPr lIns="90000" tIns="45000" rIns="90000" bIns="45000" anchor="t">
            <a:noAutofit/>
          </a:bodyPr>
          <a:lstStyle/>
          <a:p>
            <a:r>
              <a:rPr lang="en-US" sz="1300" b="1" strike="noStrike" spc="-1">
                <a:solidFill>
                  <a:srgbClr val="182C48"/>
                </a:solidFill>
                <a:latin typeface="Calibri-Bold"/>
                <a:ea typeface="Calibri-Bold"/>
              </a:rPr>
              <a:t>Validation vs Test Accuracy</a:t>
            </a:r>
            <a:endParaRPr lang="en-US" sz="1300" b="0" strike="noStrike" spc="-1">
              <a:solidFill>
                <a:srgbClr val="000000"/>
              </a:solidFill>
              <a:latin typeface="Arial"/>
            </a:endParaRPr>
          </a:p>
        </p:txBody>
      </p:sp>
      <p:sp>
        <p:nvSpPr>
          <p:cNvPr id="646" name="TextBox 645"/>
          <p:cNvSpPr txBox="1"/>
          <p:nvPr/>
        </p:nvSpPr>
        <p:spPr>
          <a:xfrm>
            <a:off x="4937040" y="3823920"/>
            <a:ext cx="3659040" cy="238320"/>
          </a:xfrm>
          <a:prstGeom prst="rect">
            <a:avLst/>
          </a:prstGeom>
          <a:noFill/>
          <a:ln w="0">
            <a:noFill/>
          </a:ln>
        </p:spPr>
        <p:txBody>
          <a:bodyPr lIns="90000" tIns="45000" rIns="90000" bIns="45000" anchor="t">
            <a:noAutofit/>
          </a:bodyPr>
          <a:lstStyle/>
          <a:p>
            <a:r>
              <a:rPr lang="en-US" sz="1000" b="0" i="1" strike="noStrike" spc="-1">
                <a:solidFill>
                  <a:srgbClr val="62728B"/>
                </a:solidFill>
                <a:latin typeface="Calibri-Italic"/>
                <a:ea typeface="Calibri-Italic"/>
              </a:rPr>
              <a:t>Val accuracy vs test accuracy scatter per model</a:t>
            </a:r>
            <a:endParaRPr lang="en-US" sz="1000" b="0" strike="noStrike" spc="-1">
              <a:solidFill>
                <a:srgbClr val="000000"/>
              </a:solidFill>
              <a:latin typeface="Arial"/>
            </a:endParaRPr>
          </a:p>
        </p:txBody>
      </p:sp>
      <p:grpSp>
        <p:nvGrpSpPr>
          <p:cNvPr id="647" name="Group 646"/>
          <p:cNvGrpSpPr/>
          <p:nvPr/>
        </p:nvGrpSpPr>
        <p:grpSpPr>
          <a:xfrm>
            <a:off x="365760" y="4134240"/>
            <a:ext cx="8413200" cy="549000"/>
            <a:chOff x="365760" y="4134240"/>
            <a:chExt cx="8413200" cy="549000"/>
          </a:xfrm>
        </p:grpSpPr>
        <p:sp>
          <p:nvSpPr>
            <p:cNvPr id="648" name="Freeform 647"/>
            <p:cNvSpPr/>
            <p:nvPr/>
          </p:nvSpPr>
          <p:spPr>
            <a:xfrm>
              <a:off x="365760" y="4134240"/>
              <a:ext cx="8413200" cy="549000"/>
            </a:xfrm>
            <a:custGeom>
              <a:avLst/>
              <a:gdLst/>
              <a:ahLst/>
              <a:cxnLst/>
              <a:rect l="0" t="0" r="r" b="b"/>
              <a:pathLst>
                <a:path w="23370" h="1525">
                  <a:moveTo>
                    <a:pt x="0" y="0"/>
                  </a:moveTo>
                  <a:lnTo>
                    <a:pt x="23370" y="0"/>
                  </a:lnTo>
                  <a:lnTo>
                    <a:pt x="23370" y="1525"/>
                  </a:lnTo>
                  <a:lnTo>
                    <a:pt x="0" y="1525"/>
                  </a:lnTo>
                  <a:lnTo>
                    <a:pt x="0" y="0"/>
                  </a:lnTo>
                  <a:close/>
                </a:path>
              </a:pathLst>
            </a:custGeom>
            <a:solidFill>
              <a:srgbClr val="EEF2F9"/>
            </a:solidFill>
            <a:ln w="9000">
              <a:solidFill>
                <a:srgbClr val="C5D3E8"/>
              </a:solidFill>
              <a:round/>
            </a:ln>
          </p:spPr>
          <p:txBody>
            <a:bodyPr lIns="94320" tIns="49320" rIns="94320" bIns="49320" anchor="t">
              <a:noAutofit/>
            </a:bodyPr>
            <a:lstStyle/>
            <a:p>
              <a:endParaRPr lang="en-US" sz="1800" b="0" strike="noStrike" spc="-1">
                <a:solidFill>
                  <a:srgbClr val="000000"/>
                </a:solidFill>
                <a:latin typeface="Arial"/>
              </a:endParaRPr>
            </a:p>
          </p:txBody>
        </p:sp>
        <p:sp>
          <p:nvSpPr>
            <p:cNvPr id="649" name="TextBox 648"/>
            <p:cNvSpPr txBox="1"/>
            <p:nvPr/>
          </p:nvSpPr>
          <p:spPr>
            <a:xfrm>
              <a:off x="415080" y="4138560"/>
              <a:ext cx="8313840" cy="539640"/>
            </a:xfrm>
            <a:prstGeom prst="rect">
              <a:avLst/>
            </a:prstGeom>
            <a:noFill/>
            <a:ln w="0">
              <a:noFill/>
            </a:ln>
          </p:spPr>
          <p:txBody>
            <a:bodyPr lIns="90000" tIns="45000" rIns="90000" bIns="45000" anchor="t">
              <a:noAutofit/>
            </a:bodyPr>
            <a:lstStyle/>
            <a:p>
              <a:r>
                <a:rPr lang="en-US" sz="1000" b="1" strike="noStrike" spc="-1">
                  <a:solidFill>
                    <a:srgbClr val="2361EB"/>
                  </a:solidFill>
                  <a:latin typeface="Calibri-Bold"/>
                  <a:ea typeface="Calibri-Bold"/>
                </a:rPr>
                <a:t>🔑  T</a:t>
              </a:r>
              <a:r>
                <a:rPr lang="en-US" sz="1000" b="0" strike="noStrike" spc="-1">
                  <a:solidFill>
                    <a:srgbClr val="182C48"/>
                  </a:solidFill>
                  <a:latin typeface="Calibri"/>
                  <a:ea typeface="Calibri"/>
                </a:rPr>
                <a:t>ransfer learning models dramatically outperform the CNN baseline. </a:t>
              </a:r>
              <a:r>
                <a:rPr lang="nl-NL" sz="1000" b="0" strike="noStrike" spc="-1">
                  <a:solidFill>
                    <a:srgbClr val="182C48"/>
                  </a:solidFill>
                  <a:latin typeface="Calibri"/>
                  <a:ea typeface="Calibri"/>
                </a:rPr>
                <a:t>C</a:t>
              </a:r>
              <a:r>
                <a:rPr lang="en-US" sz="1000" b="0" strike="noStrike" spc="-1">
                  <a:solidFill>
                    <a:srgbClr val="182C48"/>
                  </a:solidFill>
                  <a:latin typeface="Calibri"/>
                  <a:ea typeface="Calibri"/>
                </a:rPr>
                <a:t>onvNeXt Tiny and ViT models achieved the highest and most stable accuracies, while the baseline CNN showed comparatively lower performance.</a:t>
              </a:r>
              <a:endParaRPr lang="en-US" sz="1000" b="0" strike="noStrike" spc="-1">
                <a:solidFill>
                  <a:srgbClr val="000000"/>
                </a:solidFill>
                <a:latin typeface="Arial"/>
              </a:endParaRPr>
            </a:p>
          </p:txBody>
        </p:sp>
      </p:grpSp>
      <p:pic>
        <p:nvPicPr>
          <p:cNvPr id="650" name="Picture 649"/>
          <p:cNvPicPr/>
          <p:nvPr/>
        </p:nvPicPr>
        <p:blipFill>
          <a:blip r:embed="rId2"/>
          <a:stretch/>
        </p:blipFill>
        <p:spPr>
          <a:xfrm>
            <a:off x="570960" y="1202400"/>
            <a:ext cx="3659040" cy="2037960"/>
          </a:xfrm>
          <a:prstGeom prst="rect">
            <a:avLst/>
          </a:prstGeom>
          <a:ln w="0">
            <a:noFill/>
          </a:ln>
        </p:spPr>
      </p:pic>
      <p:pic>
        <p:nvPicPr>
          <p:cNvPr id="651" name="Picture 650"/>
          <p:cNvPicPr/>
          <p:nvPr/>
        </p:nvPicPr>
        <p:blipFill>
          <a:blip r:embed="rId3"/>
          <a:stretch/>
        </p:blipFill>
        <p:spPr>
          <a:xfrm>
            <a:off x="4937040" y="1157400"/>
            <a:ext cx="3425040" cy="2432160"/>
          </a:xfrm>
          <a:prstGeom prst="rect">
            <a:avLst/>
          </a:prstGeom>
          <a:ln w="0">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652" name="Freeform 651"/>
          <p:cNvSpPr/>
          <p:nvPr/>
        </p:nvSpPr>
        <p:spPr>
          <a:xfrm>
            <a:off x="0" y="0"/>
            <a:ext cx="9144720" cy="55440"/>
          </a:xfrm>
          <a:custGeom>
            <a:avLst/>
            <a:gdLst/>
            <a:ahLst/>
            <a:cxnLst/>
            <a:rect l="0" t="0" r="r" b="b"/>
            <a:pathLst>
              <a:path w="25402" h="154">
                <a:moveTo>
                  <a:pt x="0" y="0"/>
                </a:moveTo>
                <a:lnTo>
                  <a:pt x="25402" y="0"/>
                </a:lnTo>
                <a:lnTo>
                  <a:pt x="25402" y="154"/>
                </a:lnTo>
                <a:lnTo>
                  <a:pt x="0" y="154"/>
                </a:lnTo>
                <a:lnTo>
                  <a:pt x="0" y="0"/>
                </a:lnTo>
                <a:close/>
              </a:path>
            </a:pathLst>
          </a:custGeom>
          <a:solidFill>
            <a:srgbClr val="2361EB"/>
          </a:solidFill>
          <a:ln w="0">
            <a:noFill/>
          </a:ln>
        </p:spPr>
        <p:txBody>
          <a:bodyPr lIns="90000" tIns="10440" rIns="90000" bIns="10440" anchor="t">
            <a:noAutofit/>
          </a:bodyPr>
          <a:lstStyle/>
          <a:p>
            <a:endParaRPr lang="en-US" sz="1800" b="0" strike="noStrike" spc="-1">
              <a:solidFill>
                <a:srgbClr val="FFFFFF"/>
              </a:solidFill>
              <a:latin typeface="Arial"/>
            </a:endParaRPr>
          </a:p>
        </p:txBody>
      </p:sp>
      <p:sp>
        <p:nvSpPr>
          <p:cNvPr id="653" name="TextBox 652"/>
          <p:cNvSpPr txBox="1"/>
          <p:nvPr/>
        </p:nvSpPr>
        <p:spPr>
          <a:xfrm>
            <a:off x="502200" y="164520"/>
            <a:ext cx="8139600" cy="858600"/>
          </a:xfrm>
          <a:prstGeom prst="rect">
            <a:avLst/>
          </a:prstGeom>
          <a:noFill/>
          <a:ln w="0">
            <a:noFill/>
          </a:ln>
        </p:spPr>
        <p:txBody>
          <a:bodyPr lIns="90000" tIns="45000" rIns="90000" bIns="45000" anchor="t">
            <a:noAutofit/>
          </a:bodyPr>
          <a:lstStyle/>
          <a:p>
            <a:r>
              <a:rPr lang="en-US" sz="2600" b="1" strike="noStrike" spc="-1">
                <a:solidFill>
                  <a:srgbClr val="182C48"/>
                </a:solidFill>
                <a:latin typeface="Calibri-Bold"/>
                <a:ea typeface="Calibri-Bold"/>
              </a:rPr>
              <a:t>Classification Performance &amp; Training Stability</a:t>
            </a:r>
            <a:endParaRPr lang="en-US" sz="2600" b="0" strike="noStrike" spc="-1">
              <a:solidFill>
                <a:srgbClr val="000000"/>
              </a:solidFill>
              <a:latin typeface="Arial"/>
            </a:endParaRPr>
          </a:p>
        </p:txBody>
      </p:sp>
      <p:sp>
        <p:nvSpPr>
          <p:cNvPr id="654" name="Straight Connector 653"/>
          <p:cNvSpPr/>
          <p:nvPr/>
        </p:nvSpPr>
        <p:spPr>
          <a:xfrm>
            <a:off x="457200" y="668160"/>
            <a:ext cx="8229600" cy="0"/>
          </a:xfrm>
          <a:prstGeom prst="line">
            <a:avLst/>
          </a:prstGeom>
          <a:ln w="12600">
            <a:solidFill>
              <a:srgbClr val="E2E8F0"/>
            </a:solidFill>
            <a:round/>
          </a:ln>
        </p:spPr>
        <p:style>
          <a:lnRef idx="0">
            <a:scrgbClr r="0" g="0" b="0"/>
          </a:lnRef>
          <a:fillRef idx="0">
            <a:scrgbClr r="0" g="0" b="0"/>
          </a:fillRef>
          <a:effectRef idx="0">
            <a:scrgbClr r="0" g="0" b="0"/>
          </a:effectRef>
          <a:fontRef idx="minor"/>
        </p:style>
        <p:txBody>
          <a:bodyPr lIns="96120" tIns="-51120" rIns="96120" bIns="-51120" anchor="t">
            <a:noAutofit/>
          </a:bodyPr>
          <a:lstStyle/>
          <a:p>
            <a:endParaRPr lang="en-US" sz="1800" b="0" strike="noStrike" spc="-1">
              <a:solidFill>
                <a:srgbClr val="000000"/>
              </a:solidFill>
              <a:latin typeface="Arial"/>
            </a:endParaRPr>
          </a:p>
        </p:txBody>
      </p:sp>
      <p:sp>
        <p:nvSpPr>
          <p:cNvPr id="655" name="Freeform 654"/>
          <p:cNvSpPr/>
          <p:nvPr/>
        </p:nvSpPr>
        <p:spPr>
          <a:xfrm>
            <a:off x="365760" y="805320"/>
            <a:ext cx="4069800" cy="3004920"/>
          </a:xfrm>
          <a:custGeom>
            <a:avLst/>
            <a:gdLst/>
            <a:ahLst/>
            <a:cxnLst/>
            <a:rect l="0" t="0" r="r" b="b"/>
            <a:pathLst>
              <a:path w="11305" h="8347">
                <a:moveTo>
                  <a:pt x="0" y="0"/>
                </a:moveTo>
                <a:lnTo>
                  <a:pt x="11305" y="0"/>
                </a:lnTo>
                <a:lnTo>
                  <a:pt x="11305" y="8347"/>
                </a:lnTo>
                <a:lnTo>
                  <a:pt x="0" y="8347"/>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656" name="Freeform 655"/>
          <p:cNvSpPr/>
          <p:nvPr/>
        </p:nvSpPr>
        <p:spPr>
          <a:xfrm>
            <a:off x="365760" y="805320"/>
            <a:ext cx="64800" cy="3004920"/>
          </a:xfrm>
          <a:custGeom>
            <a:avLst/>
            <a:gdLst/>
            <a:ahLst/>
            <a:cxnLst/>
            <a:rect l="0" t="0" r="r" b="b"/>
            <a:pathLst>
              <a:path w="180" h="8347">
                <a:moveTo>
                  <a:pt x="0" y="0"/>
                </a:moveTo>
                <a:lnTo>
                  <a:pt x="180" y="0"/>
                </a:lnTo>
                <a:lnTo>
                  <a:pt x="180" y="8347"/>
                </a:lnTo>
                <a:lnTo>
                  <a:pt x="0" y="8347"/>
                </a:lnTo>
                <a:lnTo>
                  <a:pt x="0" y="0"/>
                </a:lnTo>
                <a:close/>
              </a:path>
            </a:pathLst>
          </a:custGeom>
          <a:solidFill>
            <a:srgbClr val="2361EB"/>
          </a:solidFill>
          <a:ln w="0">
            <a:noFill/>
          </a:ln>
        </p:spPr>
        <p:txBody>
          <a:bodyPr lIns="90000" tIns="45000" rIns="90000" bIns="45000" anchor="t">
            <a:noAutofit/>
          </a:bodyPr>
          <a:lstStyle/>
          <a:p>
            <a:endParaRPr lang="en-US" sz="1800" b="0" strike="noStrike" spc="-1">
              <a:solidFill>
                <a:srgbClr val="FFFFFF"/>
              </a:solidFill>
              <a:latin typeface="Arial"/>
            </a:endParaRPr>
          </a:p>
        </p:txBody>
      </p:sp>
      <p:sp>
        <p:nvSpPr>
          <p:cNvPr id="657" name="TextBox 656"/>
          <p:cNvSpPr txBox="1"/>
          <p:nvPr/>
        </p:nvSpPr>
        <p:spPr>
          <a:xfrm>
            <a:off x="593640" y="896760"/>
            <a:ext cx="3659040" cy="280800"/>
          </a:xfrm>
          <a:prstGeom prst="rect">
            <a:avLst/>
          </a:prstGeom>
          <a:noFill/>
          <a:ln w="0">
            <a:noFill/>
          </a:ln>
        </p:spPr>
        <p:txBody>
          <a:bodyPr lIns="90000" tIns="45000" rIns="90000" bIns="45000" anchor="t">
            <a:noAutofit/>
          </a:bodyPr>
          <a:lstStyle/>
          <a:p>
            <a:r>
              <a:rPr lang="en-US" sz="1300" b="1" strike="noStrike" spc="-1">
                <a:solidFill>
                  <a:srgbClr val="182C48"/>
                </a:solidFill>
                <a:latin typeface="Calibri-Bold"/>
                <a:ea typeface="Calibri-Bold"/>
              </a:rPr>
              <a:t>Precision vs Recall</a:t>
            </a:r>
            <a:endParaRPr lang="en-US" sz="1300" b="0" strike="noStrike" spc="-1">
              <a:solidFill>
                <a:srgbClr val="000000"/>
              </a:solidFill>
              <a:latin typeface="Arial"/>
            </a:endParaRPr>
          </a:p>
        </p:txBody>
      </p:sp>
      <p:sp>
        <p:nvSpPr>
          <p:cNvPr id="658" name="Freeform 657"/>
          <p:cNvSpPr/>
          <p:nvPr/>
        </p:nvSpPr>
        <p:spPr>
          <a:xfrm>
            <a:off x="4709160" y="805320"/>
            <a:ext cx="4069800" cy="3004920"/>
          </a:xfrm>
          <a:custGeom>
            <a:avLst/>
            <a:gdLst/>
            <a:ahLst/>
            <a:cxnLst/>
            <a:rect l="0" t="0" r="r" b="b"/>
            <a:pathLst>
              <a:path w="11305" h="8347">
                <a:moveTo>
                  <a:pt x="0" y="0"/>
                </a:moveTo>
                <a:lnTo>
                  <a:pt x="11305" y="0"/>
                </a:lnTo>
                <a:lnTo>
                  <a:pt x="11305" y="8347"/>
                </a:lnTo>
                <a:lnTo>
                  <a:pt x="0" y="8347"/>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659" name="Freeform 658"/>
          <p:cNvSpPr/>
          <p:nvPr/>
        </p:nvSpPr>
        <p:spPr>
          <a:xfrm>
            <a:off x="4655520" y="802080"/>
            <a:ext cx="64800" cy="3011400"/>
          </a:xfrm>
          <a:custGeom>
            <a:avLst/>
            <a:gdLst/>
            <a:ahLst/>
            <a:cxnLst/>
            <a:rect l="0" t="0" r="r" b="b"/>
            <a:pathLst>
              <a:path w="180" h="8365">
                <a:moveTo>
                  <a:pt x="0" y="0"/>
                </a:moveTo>
                <a:lnTo>
                  <a:pt x="180" y="0"/>
                </a:lnTo>
                <a:lnTo>
                  <a:pt x="180" y="8365"/>
                </a:lnTo>
                <a:lnTo>
                  <a:pt x="0" y="8365"/>
                </a:lnTo>
                <a:lnTo>
                  <a:pt x="0" y="0"/>
                </a:lnTo>
                <a:close/>
              </a:path>
            </a:pathLst>
          </a:custGeom>
          <a:solidFill>
            <a:srgbClr val="2361EB"/>
          </a:solidFill>
          <a:ln w="0">
            <a:noFill/>
          </a:ln>
        </p:spPr>
        <p:txBody>
          <a:bodyPr lIns="90000" tIns="45000" rIns="90000" bIns="45000" anchor="t">
            <a:noAutofit/>
          </a:bodyPr>
          <a:lstStyle/>
          <a:p>
            <a:endParaRPr lang="en-US" sz="1800" b="0" strike="noStrike" spc="-1">
              <a:solidFill>
                <a:srgbClr val="FFFFFF"/>
              </a:solidFill>
              <a:latin typeface="Arial"/>
            </a:endParaRPr>
          </a:p>
        </p:txBody>
      </p:sp>
      <p:sp>
        <p:nvSpPr>
          <p:cNvPr id="660" name="TextBox 659"/>
          <p:cNvSpPr txBox="1"/>
          <p:nvPr/>
        </p:nvSpPr>
        <p:spPr>
          <a:xfrm>
            <a:off x="4937040" y="896760"/>
            <a:ext cx="3659040" cy="471240"/>
          </a:xfrm>
          <a:prstGeom prst="rect">
            <a:avLst/>
          </a:prstGeom>
          <a:noFill/>
          <a:ln w="0">
            <a:noFill/>
          </a:ln>
        </p:spPr>
        <p:txBody>
          <a:bodyPr lIns="90000" tIns="45000" rIns="90000" bIns="45000" anchor="t">
            <a:noAutofit/>
          </a:bodyPr>
          <a:lstStyle/>
          <a:p>
            <a:r>
              <a:rPr lang="en-US" sz="1300" b="1" strike="noStrike" spc="-1">
                <a:solidFill>
                  <a:srgbClr val="182C48"/>
                </a:solidFill>
                <a:latin typeface="Calibri-Bold"/>
                <a:ea typeface="Calibri-Bold"/>
              </a:rPr>
              <a:t>Best Test Accuracy by Batch Normalization</a:t>
            </a:r>
            <a:endParaRPr lang="en-US" sz="1300" b="0" strike="noStrike" spc="-1">
              <a:solidFill>
                <a:srgbClr val="000000"/>
              </a:solidFill>
              <a:latin typeface="Arial"/>
            </a:endParaRPr>
          </a:p>
        </p:txBody>
      </p:sp>
      <p:grpSp>
        <p:nvGrpSpPr>
          <p:cNvPr id="661" name="Group 660"/>
          <p:cNvGrpSpPr/>
          <p:nvPr/>
        </p:nvGrpSpPr>
        <p:grpSpPr>
          <a:xfrm>
            <a:off x="365760" y="3930840"/>
            <a:ext cx="4069800" cy="884160"/>
            <a:chOff x="365760" y="3930840"/>
            <a:chExt cx="4069800" cy="884160"/>
          </a:xfrm>
        </p:grpSpPr>
        <p:sp>
          <p:nvSpPr>
            <p:cNvPr id="662" name="Freeform 661"/>
            <p:cNvSpPr/>
            <p:nvPr/>
          </p:nvSpPr>
          <p:spPr>
            <a:xfrm>
              <a:off x="365760" y="3936600"/>
              <a:ext cx="4069800" cy="873360"/>
            </a:xfrm>
            <a:custGeom>
              <a:avLst/>
              <a:gdLst/>
              <a:ahLst/>
              <a:cxnLst/>
              <a:rect l="0" t="0" r="r" b="b"/>
              <a:pathLst>
                <a:path w="11305" h="2426">
                  <a:moveTo>
                    <a:pt x="0" y="0"/>
                  </a:moveTo>
                  <a:lnTo>
                    <a:pt x="11305" y="0"/>
                  </a:lnTo>
                  <a:lnTo>
                    <a:pt x="11305" y="2426"/>
                  </a:lnTo>
                  <a:lnTo>
                    <a:pt x="0" y="2426"/>
                  </a:lnTo>
                  <a:lnTo>
                    <a:pt x="0" y="0"/>
                  </a:lnTo>
                  <a:close/>
                </a:path>
              </a:pathLst>
            </a:custGeom>
            <a:solidFill>
              <a:srgbClr val="EEF2F9"/>
            </a:solidFill>
            <a:ln w="9000">
              <a:solidFill>
                <a:srgbClr val="C5D3E8"/>
              </a:solidFill>
              <a:round/>
            </a:ln>
          </p:spPr>
          <p:txBody>
            <a:bodyPr lIns="94320" tIns="49320" rIns="94320" bIns="49320" anchor="t">
              <a:noAutofit/>
            </a:bodyPr>
            <a:lstStyle/>
            <a:p>
              <a:endParaRPr lang="en-US" sz="1800" b="0" strike="noStrike" spc="-1">
                <a:solidFill>
                  <a:srgbClr val="000000"/>
                </a:solidFill>
                <a:latin typeface="Arial"/>
              </a:endParaRPr>
            </a:p>
          </p:txBody>
        </p:sp>
        <p:sp>
          <p:nvSpPr>
            <p:cNvPr id="663" name="TextBox 662"/>
            <p:cNvSpPr txBox="1"/>
            <p:nvPr/>
          </p:nvSpPr>
          <p:spPr>
            <a:xfrm>
              <a:off x="389520" y="3930840"/>
              <a:ext cx="4021920" cy="884160"/>
            </a:xfrm>
            <a:prstGeom prst="rect">
              <a:avLst/>
            </a:prstGeom>
            <a:noFill/>
            <a:ln w="0">
              <a:noFill/>
            </a:ln>
          </p:spPr>
          <p:txBody>
            <a:bodyPr lIns="90000" tIns="45000" rIns="90000" bIns="45000" anchor="t">
              <a:normAutofit/>
            </a:bodyPr>
            <a:lstStyle/>
            <a:p>
              <a:pPr algn="just"/>
              <a:r>
                <a:rPr lang="en-US" sz="1000" b="1" strike="noStrike" spc="-1">
                  <a:solidFill>
                    <a:srgbClr val="2361EB"/>
                  </a:solidFill>
                  <a:latin typeface="Calibri-Bold"/>
                  <a:ea typeface="Calibri-Bold"/>
                </a:rPr>
                <a:t>🔑 </a:t>
              </a:r>
              <a:r>
                <a:rPr lang="nl-NL" sz="1000" b="1" strike="noStrike" spc="-1">
                  <a:solidFill>
                    <a:srgbClr val="2361EB"/>
                  </a:solidFill>
                  <a:latin typeface="Calibri-Bold"/>
                  <a:ea typeface="Calibri-Bold"/>
                </a:rPr>
                <a:t>C</a:t>
              </a:r>
              <a:r>
                <a:rPr lang="en-US" sz="1000" b="0" strike="noStrike" spc="-1">
                  <a:solidFill>
                    <a:srgbClr val="182C48"/>
                  </a:solidFill>
                  <a:latin typeface="Calibri"/>
                  <a:ea typeface="Calibri"/>
                </a:rPr>
                <a:t>onvNeXt Tiny and ViT achieved the highest and most balanced precision–recall performance, indicating strong and consistent classification capability. The baseline CNN showed substantially lower precision and recall across experiments.</a:t>
              </a:r>
              <a:endParaRPr lang="en-US" sz="1000" b="0" strike="noStrike" spc="-1">
                <a:solidFill>
                  <a:srgbClr val="000000"/>
                </a:solidFill>
                <a:latin typeface="Arial"/>
              </a:endParaRPr>
            </a:p>
          </p:txBody>
        </p:sp>
      </p:grpSp>
      <p:grpSp>
        <p:nvGrpSpPr>
          <p:cNvPr id="664" name="Group 663"/>
          <p:cNvGrpSpPr/>
          <p:nvPr/>
        </p:nvGrpSpPr>
        <p:grpSpPr>
          <a:xfrm>
            <a:off x="4683600" y="3930840"/>
            <a:ext cx="4069800" cy="884160"/>
            <a:chOff x="4683600" y="3930840"/>
            <a:chExt cx="4069800" cy="884160"/>
          </a:xfrm>
        </p:grpSpPr>
        <p:sp>
          <p:nvSpPr>
            <p:cNvPr id="665" name="Freeform 664"/>
            <p:cNvSpPr/>
            <p:nvPr/>
          </p:nvSpPr>
          <p:spPr>
            <a:xfrm>
              <a:off x="4683600" y="3936600"/>
              <a:ext cx="4069800" cy="873360"/>
            </a:xfrm>
            <a:custGeom>
              <a:avLst/>
              <a:gdLst/>
              <a:ahLst/>
              <a:cxnLst/>
              <a:rect l="0" t="0" r="r" b="b"/>
              <a:pathLst>
                <a:path w="11305" h="2426">
                  <a:moveTo>
                    <a:pt x="0" y="0"/>
                  </a:moveTo>
                  <a:lnTo>
                    <a:pt x="11305" y="0"/>
                  </a:lnTo>
                  <a:lnTo>
                    <a:pt x="11305" y="2426"/>
                  </a:lnTo>
                  <a:lnTo>
                    <a:pt x="0" y="2426"/>
                  </a:lnTo>
                  <a:lnTo>
                    <a:pt x="0" y="0"/>
                  </a:lnTo>
                  <a:close/>
                </a:path>
              </a:pathLst>
            </a:custGeom>
            <a:solidFill>
              <a:srgbClr val="EEF2F9"/>
            </a:solidFill>
            <a:ln w="9000">
              <a:solidFill>
                <a:srgbClr val="C5D3E8"/>
              </a:solidFill>
              <a:round/>
            </a:ln>
          </p:spPr>
          <p:txBody>
            <a:bodyPr lIns="94320" tIns="49320" rIns="94320" bIns="49320" anchor="t">
              <a:noAutofit/>
            </a:bodyPr>
            <a:lstStyle/>
            <a:p>
              <a:endParaRPr lang="en-US" sz="1800" b="0" strike="noStrike" spc="-1">
                <a:solidFill>
                  <a:srgbClr val="000000"/>
                </a:solidFill>
                <a:latin typeface="Arial"/>
              </a:endParaRPr>
            </a:p>
          </p:txBody>
        </p:sp>
        <p:sp>
          <p:nvSpPr>
            <p:cNvPr id="666" name="TextBox 665"/>
            <p:cNvSpPr txBox="1"/>
            <p:nvPr/>
          </p:nvSpPr>
          <p:spPr>
            <a:xfrm>
              <a:off x="4707360" y="3930840"/>
              <a:ext cx="4021920" cy="884160"/>
            </a:xfrm>
            <a:prstGeom prst="rect">
              <a:avLst/>
            </a:prstGeom>
            <a:noFill/>
            <a:ln w="0">
              <a:noFill/>
            </a:ln>
          </p:spPr>
          <p:txBody>
            <a:bodyPr lIns="90000" tIns="45000" rIns="90000" bIns="45000" anchor="t">
              <a:normAutofit/>
            </a:bodyPr>
            <a:lstStyle/>
            <a:p>
              <a:pPr algn="just"/>
              <a:r>
                <a:rPr lang="en-US" sz="1000" b="1" strike="noStrike" spc="-1">
                  <a:solidFill>
                    <a:srgbClr val="2361EB"/>
                  </a:solidFill>
                  <a:latin typeface="Calibri-Bold"/>
                  <a:ea typeface="Calibri-Bold"/>
                </a:rPr>
                <a:t>🔑 </a:t>
              </a:r>
              <a:r>
                <a:rPr lang="nl-NL" sz="1000" b="1" strike="noStrike" spc="-1">
                  <a:solidFill>
                    <a:srgbClr val="2361EB"/>
                  </a:solidFill>
                  <a:latin typeface="Calibri-Bold"/>
                  <a:ea typeface="Calibri-Bold"/>
                </a:rPr>
                <a:t>B</a:t>
              </a:r>
              <a:r>
                <a:rPr lang="en-US" sz="1000" b="0" strike="noStrike" spc="-1">
                  <a:solidFill>
                    <a:srgbClr val="182C48"/>
                  </a:solidFill>
                  <a:latin typeface="Calibri"/>
                  <a:ea typeface="Calibri"/>
                </a:rPr>
                <a:t>atch normalization significantly improved the baseline CNN performance and training stability. Pretrained architectures maintained high accuracy consistently due to their optimized built-in normalization mechanisms.</a:t>
              </a:r>
              <a:endParaRPr lang="en-US" sz="1000" b="0" strike="noStrike" spc="-1">
                <a:solidFill>
                  <a:srgbClr val="000000"/>
                </a:solidFill>
                <a:latin typeface="Arial"/>
              </a:endParaRPr>
            </a:p>
          </p:txBody>
        </p:sp>
      </p:grpSp>
      <p:pic>
        <p:nvPicPr>
          <p:cNvPr id="667" name="Picture 666"/>
          <p:cNvPicPr/>
          <p:nvPr/>
        </p:nvPicPr>
        <p:blipFill>
          <a:blip r:embed="rId2"/>
          <a:stretch/>
        </p:blipFill>
        <p:spPr>
          <a:xfrm>
            <a:off x="4820400" y="1280880"/>
            <a:ext cx="3892680" cy="1707480"/>
          </a:xfrm>
          <a:prstGeom prst="rect">
            <a:avLst/>
          </a:prstGeom>
          <a:ln w="0">
            <a:noFill/>
          </a:ln>
        </p:spPr>
      </p:pic>
      <p:pic>
        <p:nvPicPr>
          <p:cNvPr id="668" name="Picture 667"/>
          <p:cNvPicPr/>
          <p:nvPr/>
        </p:nvPicPr>
        <p:blipFill>
          <a:blip r:embed="rId3"/>
          <a:stretch/>
        </p:blipFill>
        <p:spPr>
          <a:xfrm>
            <a:off x="588240" y="1188360"/>
            <a:ext cx="3356280" cy="2383560"/>
          </a:xfrm>
          <a:prstGeom prst="rect">
            <a:avLst/>
          </a:prstGeom>
          <a:ln w="0">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669" name="Freeform 668"/>
          <p:cNvSpPr/>
          <p:nvPr/>
        </p:nvSpPr>
        <p:spPr>
          <a:xfrm>
            <a:off x="0" y="0"/>
            <a:ext cx="9144720" cy="55440"/>
          </a:xfrm>
          <a:custGeom>
            <a:avLst/>
            <a:gdLst/>
            <a:ahLst/>
            <a:cxnLst/>
            <a:rect l="0" t="0" r="r" b="b"/>
            <a:pathLst>
              <a:path w="25402" h="154">
                <a:moveTo>
                  <a:pt x="0" y="0"/>
                </a:moveTo>
                <a:lnTo>
                  <a:pt x="25402" y="0"/>
                </a:lnTo>
                <a:lnTo>
                  <a:pt x="25402" y="154"/>
                </a:lnTo>
                <a:lnTo>
                  <a:pt x="0" y="154"/>
                </a:lnTo>
                <a:lnTo>
                  <a:pt x="0" y="0"/>
                </a:lnTo>
                <a:close/>
              </a:path>
            </a:pathLst>
          </a:custGeom>
          <a:solidFill>
            <a:srgbClr val="2361EB"/>
          </a:solidFill>
          <a:ln w="0">
            <a:noFill/>
          </a:ln>
        </p:spPr>
        <p:txBody>
          <a:bodyPr lIns="90000" tIns="10440" rIns="90000" bIns="10440" anchor="t">
            <a:noAutofit/>
          </a:bodyPr>
          <a:lstStyle/>
          <a:p>
            <a:endParaRPr lang="en-US" sz="1800" b="0" strike="noStrike" spc="-1">
              <a:solidFill>
                <a:srgbClr val="FFFFFF"/>
              </a:solidFill>
              <a:latin typeface="Arial"/>
            </a:endParaRPr>
          </a:p>
        </p:txBody>
      </p:sp>
      <p:sp>
        <p:nvSpPr>
          <p:cNvPr id="670" name="TextBox 669"/>
          <p:cNvSpPr txBox="1"/>
          <p:nvPr/>
        </p:nvSpPr>
        <p:spPr>
          <a:xfrm>
            <a:off x="502200" y="164520"/>
            <a:ext cx="8139600" cy="502920"/>
          </a:xfrm>
          <a:prstGeom prst="rect">
            <a:avLst/>
          </a:prstGeom>
          <a:noFill/>
          <a:ln w="0">
            <a:noFill/>
          </a:ln>
        </p:spPr>
        <p:txBody>
          <a:bodyPr lIns="90000" tIns="45000" rIns="90000" bIns="45000" anchor="t">
            <a:noAutofit/>
          </a:bodyPr>
          <a:lstStyle/>
          <a:p>
            <a:r>
              <a:rPr lang="en-US" sz="2600" b="1" strike="noStrike" spc="-1">
                <a:solidFill>
                  <a:srgbClr val="182C48"/>
                </a:solidFill>
                <a:latin typeface="Calibri-Bold"/>
                <a:ea typeface="Calibri-Bold"/>
              </a:rPr>
              <a:t>Generalization &amp; Robustness</a:t>
            </a:r>
            <a:endParaRPr lang="en-US" sz="2600" b="0" strike="noStrike" spc="-1">
              <a:solidFill>
                <a:srgbClr val="000000"/>
              </a:solidFill>
              <a:latin typeface="Arial"/>
            </a:endParaRPr>
          </a:p>
        </p:txBody>
      </p:sp>
      <p:sp>
        <p:nvSpPr>
          <p:cNvPr id="671" name="Straight Connector 670"/>
          <p:cNvSpPr/>
          <p:nvPr/>
        </p:nvSpPr>
        <p:spPr>
          <a:xfrm>
            <a:off x="457200" y="630000"/>
            <a:ext cx="8229600" cy="0"/>
          </a:xfrm>
          <a:prstGeom prst="line">
            <a:avLst/>
          </a:prstGeom>
          <a:ln w="12600">
            <a:solidFill>
              <a:srgbClr val="E2E8F0"/>
            </a:solidFill>
            <a:round/>
          </a:ln>
        </p:spPr>
        <p:style>
          <a:lnRef idx="0">
            <a:scrgbClr r="0" g="0" b="0"/>
          </a:lnRef>
          <a:fillRef idx="0">
            <a:scrgbClr r="0" g="0" b="0"/>
          </a:fillRef>
          <a:effectRef idx="0">
            <a:scrgbClr r="0" g="0" b="0"/>
          </a:effectRef>
          <a:fontRef idx="minor"/>
        </p:style>
        <p:txBody>
          <a:bodyPr lIns="96120" tIns="-51120" rIns="96120" bIns="-51120" anchor="t">
            <a:noAutofit/>
          </a:bodyPr>
          <a:lstStyle/>
          <a:p>
            <a:endParaRPr lang="en-US" sz="1800" b="0" strike="noStrike" spc="-1">
              <a:solidFill>
                <a:srgbClr val="000000"/>
              </a:solidFill>
              <a:latin typeface="Arial"/>
            </a:endParaRPr>
          </a:p>
        </p:txBody>
      </p:sp>
      <p:sp>
        <p:nvSpPr>
          <p:cNvPr id="672" name="Freeform 671"/>
          <p:cNvSpPr/>
          <p:nvPr/>
        </p:nvSpPr>
        <p:spPr>
          <a:xfrm>
            <a:off x="365760" y="767160"/>
            <a:ext cx="4069800" cy="3280680"/>
          </a:xfrm>
          <a:custGeom>
            <a:avLst/>
            <a:gdLst/>
            <a:ahLst/>
            <a:cxnLst/>
            <a:rect l="0" t="0" r="r" b="b"/>
            <a:pathLst>
              <a:path w="11305" h="9113">
                <a:moveTo>
                  <a:pt x="0" y="0"/>
                </a:moveTo>
                <a:lnTo>
                  <a:pt x="11305" y="0"/>
                </a:lnTo>
                <a:lnTo>
                  <a:pt x="11305" y="9113"/>
                </a:lnTo>
                <a:lnTo>
                  <a:pt x="0" y="9113"/>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673" name="Freeform 672"/>
          <p:cNvSpPr/>
          <p:nvPr/>
        </p:nvSpPr>
        <p:spPr>
          <a:xfrm>
            <a:off x="365760" y="767160"/>
            <a:ext cx="64800" cy="3280680"/>
          </a:xfrm>
          <a:custGeom>
            <a:avLst/>
            <a:gdLst/>
            <a:ahLst/>
            <a:cxnLst/>
            <a:rect l="0" t="0" r="r" b="b"/>
            <a:pathLst>
              <a:path w="180" h="9113">
                <a:moveTo>
                  <a:pt x="0" y="0"/>
                </a:moveTo>
                <a:lnTo>
                  <a:pt x="180" y="0"/>
                </a:lnTo>
                <a:lnTo>
                  <a:pt x="180" y="9113"/>
                </a:lnTo>
                <a:lnTo>
                  <a:pt x="0" y="9113"/>
                </a:lnTo>
                <a:lnTo>
                  <a:pt x="0" y="0"/>
                </a:lnTo>
                <a:close/>
              </a:path>
            </a:pathLst>
          </a:custGeom>
          <a:solidFill>
            <a:srgbClr val="2361EB"/>
          </a:solidFill>
          <a:ln w="0">
            <a:noFill/>
          </a:ln>
        </p:spPr>
        <p:txBody>
          <a:bodyPr lIns="90000" tIns="45000" rIns="90000" bIns="45000" anchor="t">
            <a:noAutofit/>
          </a:bodyPr>
          <a:lstStyle/>
          <a:p>
            <a:endParaRPr lang="en-US" sz="1800" b="0" strike="noStrike" spc="-1">
              <a:solidFill>
                <a:srgbClr val="FFFFFF"/>
              </a:solidFill>
              <a:latin typeface="Arial"/>
            </a:endParaRPr>
          </a:p>
        </p:txBody>
      </p:sp>
      <p:sp>
        <p:nvSpPr>
          <p:cNvPr id="674" name="TextBox 673"/>
          <p:cNvSpPr txBox="1"/>
          <p:nvPr/>
        </p:nvSpPr>
        <p:spPr>
          <a:xfrm>
            <a:off x="593640" y="813887"/>
            <a:ext cx="3659040" cy="280800"/>
          </a:xfrm>
          <a:prstGeom prst="rect">
            <a:avLst/>
          </a:prstGeom>
          <a:noFill/>
          <a:ln w="0">
            <a:noFill/>
          </a:ln>
        </p:spPr>
        <p:txBody>
          <a:bodyPr lIns="90000" tIns="45000" rIns="90000" bIns="45000" anchor="t">
            <a:noAutofit/>
          </a:bodyPr>
          <a:lstStyle/>
          <a:p>
            <a:r>
              <a:rPr lang="en-US" sz="1300" b="1" strike="noStrike" spc="-1" dirty="0">
                <a:solidFill>
                  <a:srgbClr val="182C48"/>
                </a:solidFill>
                <a:latin typeface="Calibri-Bold"/>
                <a:ea typeface="Calibri-Bold"/>
              </a:rPr>
              <a:t>Generalization gap comparison</a:t>
            </a:r>
            <a:endParaRPr lang="en-US" sz="1300" b="0" strike="noStrike" spc="-1" dirty="0">
              <a:solidFill>
                <a:srgbClr val="000000"/>
              </a:solidFill>
              <a:latin typeface="Arial"/>
            </a:endParaRPr>
          </a:p>
        </p:txBody>
      </p:sp>
      <p:sp>
        <p:nvSpPr>
          <p:cNvPr id="675" name="TextBox 674"/>
          <p:cNvSpPr txBox="1"/>
          <p:nvPr/>
        </p:nvSpPr>
        <p:spPr>
          <a:xfrm>
            <a:off x="593640" y="3785760"/>
            <a:ext cx="3659040" cy="238320"/>
          </a:xfrm>
          <a:prstGeom prst="rect">
            <a:avLst/>
          </a:prstGeom>
          <a:noFill/>
          <a:ln w="0">
            <a:noFill/>
          </a:ln>
        </p:spPr>
        <p:txBody>
          <a:bodyPr lIns="90000" tIns="45000" rIns="90000" bIns="45000" anchor="t">
            <a:noAutofit/>
          </a:bodyPr>
          <a:lstStyle/>
          <a:p>
            <a:r>
              <a:rPr lang="en-US" sz="1000" b="0" i="1" strike="noStrike" spc="-1">
                <a:solidFill>
                  <a:srgbClr val="62728B"/>
                </a:solidFill>
                <a:latin typeface="Calibri-Italic"/>
                <a:ea typeface="Calibri-Italic"/>
              </a:rPr>
              <a:t>Train/val accuracy gap for best run of each model</a:t>
            </a:r>
            <a:endParaRPr lang="en-US" sz="1000" b="0" strike="noStrike" spc="-1">
              <a:solidFill>
                <a:srgbClr val="000000"/>
              </a:solidFill>
              <a:latin typeface="Arial"/>
            </a:endParaRPr>
          </a:p>
        </p:txBody>
      </p:sp>
      <p:sp>
        <p:nvSpPr>
          <p:cNvPr id="676" name="Freeform 675"/>
          <p:cNvSpPr/>
          <p:nvPr/>
        </p:nvSpPr>
        <p:spPr>
          <a:xfrm>
            <a:off x="4709160" y="767160"/>
            <a:ext cx="4069800" cy="3280680"/>
          </a:xfrm>
          <a:custGeom>
            <a:avLst/>
            <a:gdLst/>
            <a:ahLst/>
            <a:cxnLst/>
            <a:rect l="0" t="0" r="r" b="b"/>
            <a:pathLst>
              <a:path w="11305" h="9113">
                <a:moveTo>
                  <a:pt x="0" y="0"/>
                </a:moveTo>
                <a:lnTo>
                  <a:pt x="11305" y="0"/>
                </a:lnTo>
                <a:lnTo>
                  <a:pt x="11305" y="9113"/>
                </a:lnTo>
                <a:lnTo>
                  <a:pt x="0" y="9113"/>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677" name="Freeform 676"/>
          <p:cNvSpPr/>
          <p:nvPr/>
        </p:nvSpPr>
        <p:spPr>
          <a:xfrm>
            <a:off x="4709160" y="767160"/>
            <a:ext cx="64800" cy="3280680"/>
          </a:xfrm>
          <a:custGeom>
            <a:avLst/>
            <a:gdLst/>
            <a:ahLst/>
            <a:cxnLst/>
            <a:rect l="0" t="0" r="r" b="b"/>
            <a:pathLst>
              <a:path w="180" h="9113">
                <a:moveTo>
                  <a:pt x="0" y="0"/>
                </a:moveTo>
                <a:lnTo>
                  <a:pt x="180" y="0"/>
                </a:lnTo>
                <a:lnTo>
                  <a:pt x="180" y="9113"/>
                </a:lnTo>
                <a:lnTo>
                  <a:pt x="0" y="9113"/>
                </a:lnTo>
                <a:lnTo>
                  <a:pt x="0" y="0"/>
                </a:lnTo>
                <a:close/>
              </a:path>
            </a:pathLst>
          </a:custGeom>
          <a:solidFill>
            <a:srgbClr val="2361EB"/>
          </a:solidFill>
          <a:ln w="0">
            <a:noFill/>
          </a:ln>
        </p:spPr>
        <p:txBody>
          <a:bodyPr lIns="90000" tIns="45000" rIns="90000" bIns="45000" anchor="t">
            <a:noAutofit/>
          </a:bodyPr>
          <a:lstStyle/>
          <a:p>
            <a:endParaRPr lang="en-US" sz="1800" b="0" strike="noStrike" spc="-1">
              <a:solidFill>
                <a:srgbClr val="FFFFFF"/>
              </a:solidFill>
              <a:latin typeface="Arial"/>
            </a:endParaRPr>
          </a:p>
        </p:txBody>
      </p:sp>
      <p:sp>
        <p:nvSpPr>
          <p:cNvPr id="678" name="TextBox 677"/>
          <p:cNvSpPr txBox="1"/>
          <p:nvPr/>
        </p:nvSpPr>
        <p:spPr>
          <a:xfrm>
            <a:off x="4937040" y="820326"/>
            <a:ext cx="3659040" cy="280800"/>
          </a:xfrm>
          <a:prstGeom prst="rect">
            <a:avLst/>
          </a:prstGeom>
          <a:noFill/>
          <a:ln w="0">
            <a:noFill/>
          </a:ln>
        </p:spPr>
        <p:txBody>
          <a:bodyPr lIns="90000" tIns="45000" rIns="90000" bIns="45000" anchor="t">
            <a:noAutofit/>
          </a:bodyPr>
          <a:lstStyle/>
          <a:p>
            <a:r>
              <a:rPr lang="en-US" sz="1300" b="1" strike="noStrike" spc="-1" dirty="0">
                <a:solidFill>
                  <a:srgbClr val="182C48"/>
                </a:solidFill>
                <a:latin typeface="Calibri-Bold"/>
                <a:ea typeface="Calibri-Bold"/>
              </a:rPr>
              <a:t>Learning rate sensitivity</a:t>
            </a:r>
            <a:endParaRPr lang="en-US" sz="1300" b="0" strike="noStrike" spc="-1" dirty="0">
              <a:solidFill>
                <a:srgbClr val="000000"/>
              </a:solidFill>
              <a:latin typeface="Arial"/>
            </a:endParaRPr>
          </a:p>
        </p:txBody>
      </p:sp>
      <p:sp>
        <p:nvSpPr>
          <p:cNvPr id="679" name="TextBox 678"/>
          <p:cNvSpPr txBox="1"/>
          <p:nvPr/>
        </p:nvSpPr>
        <p:spPr>
          <a:xfrm>
            <a:off x="4937040" y="3785760"/>
            <a:ext cx="3659040" cy="238320"/>
          </a:xfrm>
          <a:prstGeom prst="rect">
            <a:avLst/>
          </a:prstGeom>
          <a:noFill/>
          <a:ln w="0">
            <a:noFill/>
          </a:ln>
        </p:spPr>
        <p:txBody>
          <a:bodyPr lIns="90000" tIns="45000" rIns="90000" bIns="45000" anchor="t">
            <a:noAutofit/>
          </a:bodyPr>
          <a:lstStyle/>
          <a:p>
            <a:r>
              <a:rPr lang="en-US" sz="1000" b="0" i="1" strike="noStrike" spc="-1">
                <a:solidFill>
                  <a:srgbClr val="62728B"/>
                </a:solidFill>
                <a:latin typeface="Calibri-Italic"/>
                <a:ea typeface="Calibri-Italic"/>
              </a:rPr>
              <a:t>Test accuracy vs learning rate across all models</a:t>
            </a:r>
            <a:endParaRPr lang="en-US" sz="1000" b="0" strike="noStrike" spc="-1">
              <a:solidFill>
                <a:srgbClr val="000000"/>
              </a:solidFill>
              <a:latin typeface="Arial"/>
            </a:endParaRPr>
          </a:p>
        </p:txBody>
      </p:sp>
      <p:grpSp>
        <p:nvGrpSpPr>
          <p:cNvPr id="680" name="Group 679"/>
          <p:cNvGrpSpPr/>
          <p:nvPr/>
        </p:nvGrpSpPr>
        <p:grpSpPr>
          <a:xfrm>
            <a:off x="4709160" y="4096080"/>
            <a:ext cx="4069800" cy="884160"/>
            <a:chOff x="4709160" y="4096080"/>
            <a:chExt cx="4069800" cy="884160"/>
          </a:xfrm>
        </p:grpSpPr>
        <p:sp>
          <p:nvSpPr>
            <p:cNvPr id="681" name="Freeform 680"/>
            <p:cNvSpPr/>
            <p:nvPr/>
          </p:nvSpPr>
          <p:spPr>
            <a:xfrm>
              <a:off x="4709160" y="4101840"/>
              <a:ext cx="4069800" cy="873360"/>
            </a:xfrm>
            <a:custGeom>
              <a:avLst/>
              <a:gdLst/>
              <a:ahLst/>
              <a:cxnLst/>
              <a:rect l="0" t="0" r="r" b="b"/>
              <a:pathLst>
                <a:path w="11305" h="2426">
                  <a:moveTo>
                    <a:pt x="0" y="0"/>
                  </a:moveTo>
                  <a:lnTo>
                    <a:pt x="11305" y="0"/>
                  </a:lnTo>
                  <a:lnTo>
                    <a:pt x="11305" y="2426"/>
                  </a:lnTo>
                  <a:lnTo>
                    <a:pt x="0" y="2426"/>
                  </a:lnTo>
                  <a:lnTo>
                    <a:pt x="0" y="0"/>
                  </a:lnTo>
                  <a:close/>
                </a:path>
              </a:pathLst>
            </a:custGeom>
            <a:solidFill>
              <a:srgbClr val="EEF2F9"/>
            </a:solidFill>
            <a:ln w="9000">
              <a:solidFill>
                <a:srgbClr val="C5D3E8"/>
              </a:solidFill>
              <a:round/>
            </a:ln>
          </p:spPr>
          <p:txBody>
            <a:bodyPr lIns="94320" tIns="49320" rIns="94320" bIns="49320" anchor="t">
              <a:noAutofit/>
            </a:bodyPr>
            <a:lstStyle/>
            <a:p>
              <a:endParaRPr lang="en-US" sz="1800" b="0" strike="noStrike" spc="-1">
                <a:solidFill>
                  <a:srgbClr val="000000"/>
                </a:solidFill>
                <a:latin typeface="Arial"/>
              </a:endParaRPr>
            </a:p>
          </p:txBody>
        </p:sp>
        <p:sp>
          <p:nvSpPr>
            <p:cNvPr id="682" name="TextBox 681"/>
            <p:cNvSpPr txBox="1"/>
            <p:nvPr/>
          </p:nvSpPr>
          <p:spPr>
            <a:xfrm>
              <a:off x="4732920" y="4096080"/>
              <a:ext cx="4021920" cy="884160"/>
            </a:xfrm>
            <a:prstGeom prst="rect">
              <a:avLst/>
            </a:prstGeom>
            <a:noFill/>
            <a:ln w="0">
              <a:noFill/>
            </a:ln>
          </p:spPr>
          <p:txBody>
            <a:bodyPr lIns="90000" tIns="45000" rIns="90000" bIns="45000" anchor="t">
              <a:normAutofit/>
            </a:bodyPr>
            <a:lstStyle/>
            <a:p>
              <a:pPr algn="just"/>
              <a:r>
                <a:rPr lang="en-US" sz="1000" b="1" strike="noStrike" spc="-1">
                  <a:solidFill>
                    <a:srgbClr val="2361EB"/>
                  </a:solidFill>
                  <a:latin typeface="Calibri-Bold"/>
                  <a:ea typeface="Calibri-Bold"/>
                </a:rPr>
                <a:t>🔑 </a:t>
              </a:r>
              <a:r>
                <a:rPr lang="nl-NL" sz="1000" b="1" strike="noStrike" spc="-1">
                  <a:solidFill>
                    <a:srgbClr val="2361EB"/>
                  </a:solidFill>
                  <a:latin typeface="Calibri-Bold"/>
                  <a:ea typeface="Calibri-Bold"/>
                </a:rPr>
                <a:t>C</a:t>
              </a:r>
              <a:r>
                <a:rPr lang="en-US" sz="1000" b="0" strike="noStrike" spc="-1">
                  <a:solidFill>
                    <a:srgbClr val="182C48"/>
                  </a:solidFill>
                  <a:latin typeface="Calibri"/>
                  <a:ea typeface="Calibri"/>
                </a:rPr>
                <a:t>onvNeXt Tiny and ViT models maintained consistently high test </a:t>
              </a:r>
              <a:r>
                <a:rPr lang="nl-NL" sz="1000" b="0" strike="noStrike" spc="-1">
                  <a:solidFill>
                    <a:srgbClr val="182C48"/>
                  </a:solidFill>
                  <a:latin typeface="Calibri"/>
                  <a:ea typeface="Calibri"/>
                </a:rPr>
                <a:t>a</a:t>
              </a:r>
              <a:r>
                <a:rPr lang="en-US" sz="1000" b="0" strike="noStrike" spc="-1">
                  <a:solidFill>
                    <a:srgbClr val="182C48"/>
                  </a:solidFill>
                  <a:latin typeface="Calibri"/>
                  <a:ea typeface="Calibri"/>
                </a:rPr>
                <a:t>ccuracy across different learning rates, showing strong robustness to hyperparameter changes. In contrast, the baseline CNN was highly s</a:t>
              </a:r>
              <a:r>
                <a:rPr lang="nl-NL" sz="1000" b="0" strike="noStrike" spc="-1">
                  <a:solidFill>
                    <a:srgbClr val="182C48"/>
                  </a:solidFill>
                  <a:latin typeface="Calibri"/>
                  <a:ea typeface="Calibri"/>
                </a:rPr>
                <a:t>ensitive.</a:t>
              </a:r>
              <a:endParaRPr lang="en-US" sz="1000" b="0" strike="noStrike" spc="-1">
                <a:solidFill>
                  <a:srgbClr val="000000"/>
                </a:solidFill>
                <a:latin typeface="Arial"/>
              </a:endParaRPr>
            </a:p>
          </p:txBody>
        </p:sp>
      </p:grpSp>
      <p:pic>
        <p:nvPicPr>
          <p:cNvPr id="683" name="Picture 682"/>
          <p:cNvPicPr/>
          <p:nvPr/>
        </p:nvPicPr>
        <p:blipFill>
          <a:blip r:embed="rId2"/>
          <a:stretch/>
        </p:blipFill>
        <p:spPr>
          <a:xfrm>
            <a:off x="4794840" y="1060200"/>
            <a:ext cx="3706560" cy="2632320"/>
          </a:xfrm>
          <a:prstGeom prst="rect">
            <a:avLst/>
          </a:prstGeom>
          <a:ln w="0">
            <a:noFill/>
          </a:ln>
        </p:spPr>
      </p:pic>
      <p:pic>
        <p:nvPicPr>
          <p:cNvPr id="684" name="Picture 683"/>
          <p:cNvPicPr/>
          <p:nvPr/>
        </p:nvPicPr>
        <p:blipFill>
          <a:blip r:embed="rId3"/>
          <a:stretch/>
        </p:blipFill>
        <p:spPr>
          <a:xfrm>
            <a:off x="593640" y="1050120"/>
            <a:ext cx="3801960" cy="2652480"/>
          </a:xfrm>
          <a:prstGeom prst="rect">
            <a:avLst/>
          </a:prstGeom>
          <a:ln w="0">
            <a:noFill/>
          </a:ln>
        </p:spPr>
      </p:pic>
      <p:grpSp>
        <p:nvGrpSpPr>
          <p:cNvPr id="685" name="Group 684"/>
          <p:cNvGrpSpPr/>
          <p:nvPr/>
        </p:nvGrpSpPr>
        <p:grpSpPr>
          <a:xfrm>
            <a:off x="365760" y="4096080"/>
            <a:ext cx="4069800" cy="884160"/>
            <a:chOff x="365760" y="4096080"/>
            <a:chExt cx="4069800" cy="884160"/>
          </a:xfrm>
        </p:grpSpPr>
        <p:sp>
          <p:nvSpPr>
            <p:cNvPr id="686" name="Freeform 685"/>
            <p:cNvSpPr/>
            <p:nvPr/>
          </p:nvSpPr>
          <p:spPr>
            <a:xfrm>
              <a:off x="365760" y="4101840"/>
              <a:ext cx="4069800" cy="873360"/>
            </a:xfrm>
            <a:custGeom>
              <a:avLst/>
              <a:gdLst/>
              <a:ahLst/>
              <a:cxnLst/>
              <a:rect l="0" t="0" r="r" b="b"/>
              <a:pathLst>
                <a:path w="11305" h="2426">
                  <a:moveTo>
                    <a:pt x="0" y="0"/>
                  </a:moveTo>
                  <a:lnTo>
                    <a:pt x="11305" y="0"/>
                  </a:lnTo>
                  <a:lnTo>
                    <a:pt x="11305" y="2426"/>
                  </a:lnTo>
                  <a:lnTo>
                    <a:pt x="0" y="2426"/>
                  </a:lnTo>
                  <a:lnTo>
                    <a:pt x="0" y="0"/>
                  </a:lnTo>
                  <a:close/>
                </a:path>
              </a:pathLst>
            </a:custGeom>
            <a:solidFill>
              <a:srgbClr val="EEF2F9"/>
            </a:solidFill>
            <a:ln w="9000">
              <a:solidFill>
                <a:srgbClr val="C5D3E8"/>
              </a:solidFill>
              <a:round/>
            </a:ln>
          </p:spPr>
          <p:txBody>
            <a:bodyPr lIns="94320" tIns="49320" rIns="94320" bIns="49320" anchor="t">
              <a:noAutofit/>
            </a:bodyPr>
            <a:lstStyle/>
            <a:p>
              <a:endParaRPr lang="en-US" sz="1800" b="0" strike="noStrike" spc="-1">
                <a:solidFill>
                  <a:srgbClr val="000000"/>
                </a:solidFill>
                <a:latin typeface="Arial"/>
              </a:endParaRPr>
            </a:p>
          </p:txBody>
        </p:sp>
        <p:sp>
          <p:nvSpPr>
            <p:cNvPr id="687" name="TextBox 686"/>
            <p:cNvSpPr txBox="1"/>
            <p:nvPr/>
          </p:nvSpPr>
          <p:spPr>
            <a:xfrm>
              <a:off x="389520" y="4096080"/>
              <a:ext cx="4021920" cy="884160"/>
            </a:xfrm>
            <a:prstGeom prst="rect">
              <a:avLst/>
            </a:prstGeom>
            <a:noFill/>
            <a:ln w="0">
              <a:noFill/>
            </a:ln>
          </p:spPr>
          <p:txBody>
            <a:bodyPr lIns="90000" tIns="45000" rIns="90000" bIns="45000" anchor="t">
              <a:normAutofit/>
            </a:bodyPr>
            <a:lstStyle/>
            <a:p>
              <a:pPr algn="just"/>
              <a:r>
                <a:rPr lang="en-US" sz="1000" b="1" strike="noStrike" spc="-1" dirty="0">
                  <a:solidFill>
                    <a:srgbClr val="2361EB"/>
                  </a:solidFill>
                  <a:latin typeface="Calibri-Bold"/>
                  <a:ea typeface="Calibri-Bold"/>
                </a:rPr>
                <a:t>🔑 </a:t>
              </a:r>
              <a:r>
                <a:rPr lang="nl-NL" sz="1000" b="1" strike="noStrike" spc="-1" dirty="0" err="1">
                  <a:solidFill>
                    <a:srgbClr val="2361EB"/>
                  </a:solidFill>
                  <a:latin typeface="Calibri-Bold"/>
                  <a:ea typeface="Calibri-Bold"/>
                </a:rPr>
                <a:t>S</a:t>
              </a:r>
              <a:r>
                <a:rPr lang="nl-NL" sz="1000" b="0" strike="noStrike" spc="-1" dirty="0" err="1">
                  <a:solidFill>
                    <a:srgbClr val="182C48"/>
                  </a:solidFill>
                  <a:latin typeface="Calibri"/>
                  <a:ea typeface="Calibri"/>
                </a:rPr>
                <a:t>ma</a:t>
              </a:r>
              <a:r>
                <a:rPr lang="en-US" sz="1000" b="0" strike="noStrike" spc="-1" dirty="0" err="1">
                  <a:solidFill>
                    <a:srgbClr val="182C48"/>
                  </a:solidFill>
                  <a:latin typeface="Calibri"/>
                  <a:ea typeface="Calibri"/>
                </a:rPr>
                <a:t>ller</a:t>
              </a:r>
              <a:r>
                <a:rPr lang="en-US" sz="1000" b="0" strike="noStrike" spc="-1" dirty="0">
                  <a:solidFill>
                    <a:srgbClr val="182C48"/>
                  </a:solidFill>
                  <a:latin typeface="Calibri"/>
                  <a:ea typeface="Calibri"/>
                </a:rPr>
                <a:t> generalization gaps were observed for </a:t>
              </a:r>
              <a:r>
                <a:rPr lang="en-US" sz="1000" b="0" strike="noStrike" spc="-1" dirty="0" err="1">
                  <a:solidFill>
                    <a:srgbClr val="182C48"/>
                  </a:solidFill>
                  <a:latin typeface="Calibri"/>
                  <a:ea typeface="Calibri"/>
                </a:rPr>
                <a:t>ViT</a:t>
              </a:r>
              <a:r>
                <a:rPr lang="en-US" sz="1000" b="0" strike="noStrike" spc="-1" dirty="0">
                  <a:solidFill>
                    <a:srgbClr val="182C48"/>
                  </a:solidFill>
                  <a:latin typeface="Calibri"/>
                  <a:ea typeface="Calibri"/>
                </a:rPr>
                <a:t> and ConvNeXt experiments, indicating better generalization from validation to test data. Baseline CNN models showed larger gaps, suggesting higher overfitting and less stable performance.</a:t>
              </a:r>
              <a:endParaRPr lang="en-US" sz="1000" b="0" strike="noStrike" spc="-1" dirty="0">
                <a:solidFill>
                  <a:srgbClr val="000000"/>
                </a:solidFill>
                <a:latin typeface="Aria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688" name="Freeform 687"/>
          <p:cNvSpPr/>
          <p:nvPr/>
        </p:nvSpPr>
        <p:spPr>
          <a:xfrm>
            <a:off x="0" y="0"/>
            <a:ext cx="9144720" cy="55440"/>
          </a:xfrm>
          <a:custGeom>
            <a:avLst/>
            <a:gdLst/>
            <a:ahLst/>
            <a:cxnLst/>
            <a:rect l="0" t="0" r="r" b="b"/>
            <a:pathLst>
              <a:path w="25402" h="154">
                <a:moveTo>
                  <a:pt x="0" y="0"/>
                </a:moveTo>
                <a:lnTo>
                  <a:pt x="25402" y="0"/>
                </a:lnTo>
                <a:lnTo>
                  <a:pt x="25402" y="154"/>
                </a:lnTo>
                <a:lnTo>
                  <a:pt x="0" y="154"/>
                </a:lnTo>
                <a:lnTo>
                  <a:pt x="0" y="0"/>
                </a:lnTo>
                <a:close/>
              </a:path>
            </a:pathLst>
          </a:custGeom>
          <a:solidFill>
            <a:srgbClr val="2361EB"/>
          </a:solidFill>
          <a:ln w="0">
            <a:noFill/>
          </a:ln>
        </p:spPr>
        <p:txBody>
          <a:bodyPr lIns="90000" tIns="10440" rIns="90000" bIns="10440" anchor="t">
            <a:noAutofit/>
          </a:bodyPr>
          <a:lstStyle/>
          <a:p>
            <a:endParaRPr lang="en-US" sz="1800" b="0" strike="noStrike" spc="-1">
              <a:solidFill>
                <a:srgbClr val="FFFFFF"/>
              </a:solidFill>
              <a:latin typeface="Arial"/>
            </a:endParaRPr>
          </a:p>
        </p:txBody>
      </p:sp>
      <p:sp>
        <p:nvSpPr>
          <p:cNvPr id="689" name="TextBox 688"/>
          <p:cNvSpPr txBox="1"/>
          <p:nvPr/>
        </p:nvSpPr>
        <p:spPr>
          <a:xfrm>
            <a:off x="502200" y="164520"/>
            <a:ext cx="8139600" cy="502920"/>
          </a:xfrm>
          <a:prstGeom prst="rect">
            <a:avLst/>
          </a:prstGeom>
          <a:noFill/>
          <a:ln w="0">
            <a:noFill/>
          </a:ln>
        </p:spPr>
        <p:txBody>
          <a:bodyPr lIns="90000" tIns="45000" rIns="90000" bIns="45000" anchor="t">
            <a:noAutofit/>
          </a:bodyPr>
          <a:lstStyle/>
          <a:p>
            <a:r>
              <a:rPr lang="en-US" sz="2600" b="1" strike="noStrike" spc="-1">
                <a:solidFill>
                  <a:srgbClr val="182C48"/>
                </a:solidFill>
                <a:latin typeface="Calibri-Bold"/>
                <a:ea typeface="Calibri-Bold"/>
              </a:rPr>
              <a:t>Hyperparameter Exploration</a:t>
            </a:r>
            <a:endParaRPr lang="en-US" sz="2600" b="0" strike="noStrike" spc="-1">
              <a:solidFill>
                <a:srgbClr val="000000"/>
              </a:solidFill>
              <a:latin typeface="Arial"/>
            </a:endParaRPr>
          </a:p>
        </p:txBody>
      </p:sp>
      <p:sp>
        <p:nvSpPr>
          <p:cNvPr id="690" name="Straight Connector 689"/>
          <p:cNvSpPr/>
          <p:nvPr/>
        </p:nvSpPr>
        <p:spPr>
          <a:xfrm>
            <a:off x="457200" y="630000"/>
            <a:ext cx="8229600" cy="0"/>
          </a:xfrm>
          <a:prstGeom prst="line">
            <a:avLst/>
          </a:prstGeom>
          <a:ln w="12600">
            <a:solidFill>
              <a:srgbClr val="E2E8F0"/>
            </a:solidFill>
            <a:round/>
          </a:ln>
        </p:spPr>
        <p:style>
          <a:lnRef idx="0">
            <a:scrgbClr r="0" g="0" b="0"/>
          </a:lnRef>
          <a:fillRef idx="0">
            <a:scrgbClr r="0" g="0" b="0"/>
          </a:fillRef>
          <a:effectRef idx="0">
            <a:scrgbClr r="0" g="0" b="0"/>
          </a:effectRef>
          <a:fontRef idx="minor"/>
        </p:style>
        <p:txBody>
          <a:bodyPr lIns="96120" tIns="-51120" rIns="96120" bIns="-51120" anchor="t">
            <a:noAutofit/>
          </a:bodyPr>
          <a:lstStyle/>
          <a:p>
            <a:endParaRPr lang="en-US" sz="1800" b="0" strike="noStrike" spc="-1">
              <a:solidFill>
                <a:srgbClr val="000000"/>
              </a:solidFill>
              <a:latin typeface="Arial"/>
            </a:endParaRPr>
          </a:p>
        </p:txBody>
      </p:sp>
      <p:sp>
        <p:nvSpPr>
          <p:cNvPr id="691" name="Freeform 690"/>
          <p:cNvSpPr/>
          <p:nvPr/>
        </p:nvSpPr>
        <p:spPr>
          <a:xfrm>
            <a:off x="388440" y="718560"/>
            <a:ext cx="4069800" cy="3280680"/>
          </a:xfrm>
          <a:custGeom>
            <a:avLst/>
            <a:gdLst/>
            <a:ahLst/>
            <a:cxnLst/>
            <a:rect l="0" t="0" r="r" b="b"/>
            <a:pathLst>
              <a:path w="11305" h="9113">
                <a:moveTo>
                  <a:pt x="0" y="0"/>
                </a:moveTo>
                <a:lnTo>
                  <a:pt x="11305" y="0"/>
                </a:lnTo>
                <a:lnTo>
                  <a:pt x="11305" y="9113"/>
                </a:lnTo>
                <a:lnTo>
                  <a:pt x="0" y="9113"/>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692" name="Freeform 691"/>
          <p:cNvSpPr/>
          <p:nvPr/>
        </p:nvSpPr>
        <p:spPr>
          <a:xfrm>
            <a:off x="365760" y="729000"/>
            <a:ext cx="64800" cy="3280680"/>
          </a:xfrm>
          <a:custGeom>
            <a:avLst/>
            <a:gdLst/>
            <a:ahLst/>
            <a:cxnLst/>
            <a:rect l="0" t="0" r="r" b="b"/>
            <a:pathLst>
              <a:path w="180" h="9113">
                <a:moveTo>
                  <a:pt x="0" y="0"/>
                </a:moveTo>
                <a:lnTo>
                  <a:pt x="180" y="0"/>
                </a:lnTo>
                <a:lnTo>
                  <a:pt x="180" y="9113"/>
                </a:lnTo>
                <a:lnTo>
                  <a:pt x="0" y="9113"/>
                </a:lnTo>
                <a:lnTo>
                  <a:pt x="0" y="0"/>
                </a:lnTo>
                <a:close/>
              </a:path>
            </a:pathLst>
          </a:custGeom>
          <a:solidFill>
            <a:srgbClr val="2361EB"/>
          </a:solidFill>
          <a:ln w="0">
            <a:noFill/>
          </a:ln>
        </p:spPr>
        <p:txBody>
          <a:bodyPr lIns="90000" tIns="45000" rIns="90000" bIns="45000" anchor="t">
            <a:noAutofit/>
          </a:bodyPr>
          <a:lstStyle/>
          <a:p>
            <a:endParaRPr lang="en-US" sz="1800" b="0" strike="noStrike" spc="-1">
              <a:solidFill>
                <a:srgbClr val="FFFFFF"/>
              </a:solidFill>
              <a:latin typeface="Arial"/>
            </a:endParaRPr>
          </a:p>
        </p:txBody>
      </p:sp>
      <p:sp>
        <p:nvSpPr>
          <p:cNvPr id="693" name="TextBox 692"/>
          <p:cNvSpPr txBox="1"/>
          <p:nvPr/>
        </p:nvSpPr>
        <p:spPr>
          <a:xfrm>
            <a:off x="593640" y="858960"/>
            <a:ext cx="3659040" cy="280800"/>
          </a:xfrm>
          <a:prstGeom prst="rect">
            <a:avLst/>
          </a:prstGeom>
          <a:noFill/>
          <a:ln w="0">
            <a:noFill/>
          </a:ln>
        </p:spPr>
        <p:txBody>
          <a:bodyPr lIns="90000" tIns="45000" rIns="90000" bIns="45000" anchor="t">
            <a:noAutofit/>
          </a:bodyPr>
          <a:lstStyle/>
          <a:p>
            <a:r>
              <a:rPr lang="en-US" sz="1300" b="1" strike="noStrike" spc="-1">
                <a:solidFill>
                  <a:srgbClr val="182C48"/>
                </a:solidFill>
                <a:latin typeface="Calibri-Bold"/>
                <a:ea typeface="Calibri-Bold"/>
              </a:rPr>
              <a:t>Epoch count impact</a:t>
            </a:r>
            <a:endParaRPr lang="en-US" sz="1300" b="0" strike="noStrike" spc="-1">
              <a:solidFill>
                <a:srgbClr val="000000"/>
              </a:solidFill>
              <a:latin typeface="Arial"/>
            </a:endParaRPr>
          </a:p>
        </p:txBody>
      </p:sp>
      <p:sp>
        <p:nvSpPr>
          <p:cNvPr id="694" name="TextBox 693"/>
          <p:cNvSpPr txBox="1"/>
          <p:nvPr/>
        </p:nvSpPr>
        <p:spPr>
          <a:xfrm>
            <a:off x="593640" y="3785760"/>
            <a:ext cx="3659040" cy="238320"/>
          </a:xfrm>
          <a:prstGeom prst="rect">
            <a:avLst/>
          </a:prstGeom>
          <a:noFill/>
          <a:ln w="0">
            <a:noFill/>
          </a:ln>
        </p:spPr>
        <p:txBody>
          <a:bodyPr lIns="90000" tIns="45000" rIns="90000" bIns="45000" anchor="t">
            <a:noAutofit/>
          </a:bodyPr>
          <a:lstStyle/>
          <a:p>
            <a:r>
              <a:rPr lang="en-US" sz="1000" b="0" i="1" strike="noStrike" spc="-1">
                <a:solidFill>
                  <a:srgbClr val="62728B"/>
                </a:solidFill>
                <a:latin typeface="Calibri-Italic"/>
                <a:ea typeface="Calibri-Italic"/>
              </a:rPr>
              <a:t>Test accuracy vs number of training epochs</a:t>
            </a:r>
            <a:endParaRPr lang="en-US" sz="1000" b="0" strike="noStrike" spc="-1">
              <a:solidFill>
                <a:srgbClr val="000000"/>
              </a:solidFill>
              <a:latin typeface="Arial"/>
            </a:endParaRPr>
          </a:p>
        </p:txBody>
      </p:sp>
      <p:sp>
        <p:nvSpPr>
          <p:cNvPr id="695" name="Freeform 694"/>
          <p:cNvSpPr/>
          <p:nvPr/>
        </p:nvSpPr>
        <p:spPr>
          <a:xfrm>
            <a:off x="4731840" y="718560"/>
            <a:ext cx="4069800" cy="3280680"/>
          </a:xfrm>
          <a:custGeom>
            <a:avLst/>
            <a:gdLst/>
            <a:ahLst/>
            <a:cxnLst/>
            <a:rect l="0" t="0" r="r" b="b"/>
            <a:pathLst>
              <a:path w="11305" h="9113">
                <a:moveTo>
                  <a:pt x="0" y="0"/>
                </a:moveTo>
                <a:lnTo>
                  <a:pt x="11305" y="0"/>
                </a:lnTo>
                <a:lnTo>
                  <a:pt x="11305" y="9113"/>
                </a:lnTo>
                <a:lnTo>
                  <a:pt x="0" y="9113"/>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696" name="Freeform 695"/>
          <p:cNvSpPr/>
          <p:nvPr/>
        </p:nvSpPr>
        <p:spPr>
          <a:xfrm>
            <a:off x="4709160" y="729000"/>
            <a:ext cx="64800" cy="3280680"/>
          </a:xfrm>
          <a:custGeom>
            <a:avLst/>
            <a:gdLst/>
            <a:ahLst/>
            <a:cxnLst/>
            <a:rect l="0" t="0" r="r" b="b"/>
            <a:pathLst>
              <a:path w="180" h="9113">
                <a:moveTo>
                  <a:pt x="0" y="0"/>
                </a:moveTo>
                <a:lnTo>
                  <a:pt x="180" y="0"/>
                </a:lnTo>
                <a:lnTo>
                  <a:pt x="180" y="9113"/>
                </a:lnTo>
                <a:lnTo>
                  <a:pt x="0" y="9113"/>
                </a:lnTo>
                <a:lnTo>
                  <a:pt x="0" y="0"/>
                </a:lnTo>
                <a:close/>
              </a:path>
            </a:pathLst>
          </a:custGeom>
          <a:solidFill>
            <a:srgbClr val="2361EB"/>
          </a:solidFill>
          <a:ln w="0">
            <a:noFill/>
          </a:ln>
        </p:spPr>
        <p:txBody>
          <a:bodyPr lIns="90000" tIns="45000" rIns="90000" bIns="45000" anchor="t">
            <a:noAutofit/>
          </a:bodyPr>
          <a:lstStyle/>
          <a:p>
            <a:endParaRPr lang="en-US" sz="1800" b="0" strike="noStrike" spc="-1">
              <a:solidFill>
                <a:srgbClr val="FFFFFF"/>
              </a:solidFill>
              <a:latin typeface="Arial"/>
            </a:endParaRPr>
          </a:p>
        </p:txBody>
      </p:sp>
      <p:sp>
        <p:nvSpPr>
          <p:cNvPr id="697" name="TextBox 696"/>
          <p:cNvSpPr txBox="1"/>
          <p:nvPr/>
        </p:nvSpPr>
        <p:spPr>
          <a:xfrm>
            <a:off x="4937040" y="858960"/>
            <a:ext cx="3659040" cy="280800"/>
          </a:xfrm>
          <a:prstGeom prst="rect">
            <a:avLst/>
          </a:prstGeom>
          <a:noFill/>
          <a:ln w="0">
            <a:noFill/>
          </a:ln>
        </p:spPr>
        <p:txBody>
          <a:bodyPr lIns="90000" tIns="45000" rIns="90000" bIns="45000" anchor="t">
            <a:noAutofit/>
          </a:bodyPr>
          <a:lstStyle/>
          <a:p>
            <a:r>
              <a:rPr lang="en-US" sz="1300" b="1" strike="noStrike" spc="-1">
                <a:solidFill>
                  <a:srgbClr val="182C48"/>
                </a:solidFill>
                <a:latin typeface="Calibri-Bold"/>
                <a:ea typeface="Calibri-Bold"/>
              </a:rPr>
              <a:t>Weight decay impact</a:t>
            </a:r>
            <a:endParaRPr lang="en-US" sz="1300" b="0" strike="noStrike" spc="-1">
              <a:solidFill>
                <a:srgbClr val="000000"/>
              </a:solidFill>
              <a:latin typeface="Arial"/>
            </a:endParaRPr>
          </a:p>
        </p:txBody>
      </p:sp>
      <p:sp>
        <p:nvSpPr>
          <p:cNvPr id="698" name="TextBox 697"/>
          <p:cNvSpPr txBox="1"/>
          <p:nvPr/>
        </p:nvSpPr>
        <p:spPr>
          <a:xfrm>
            <a:off x="4937040" y="3785760"/>
            <a:ext cx="3659040" cy="238320"/>
          </a:xfrm>
          <a:prstGeom prst="rect">
            <a:avLst/>
          </a:prstGeom>
          <a:noFill/>
          <a:ln w="0">
            <a:noFill/>
          </a:ln>
        </p:spPr>
        <p:txBody>
          <a:bodyPr lIns="90000" tIns="45000" rIns="90000" bIns="45000" anchor="t">
            <a:noAutofit/>
          </a:bodyPr>
          <a:lstStyle/>
          <a:p>
            <a:r>
              <a:rPr lang="en-US" sz="1000" b="0" i="1" strike="noStrike" spc="-1">
                <a:solidFill>
                  <a:srgbClr val="62728B"/>
                </a:solidFill>
                <a:latin typeface="Calibri-Italic"/>
                <a:ea typeface="Calibri-Italic"/>
              </a:rPr>
              <a:t>Test accuracy vs weight decay coefficient</a:t>
            </a:r>
            <a:endParaRPr lang="en-US" sz="1000" b="0" strike="noStrike" spc="-1">
              <a:solidFill>
                <a:srgbClr val="000000"/>
              </a:solidFill>
              <a:latin typeface="Arial"/>
            </a:endParaRPr>
          </a:p>
        </p:txBody>
      </p:sp>
      <p:grpSp>
        <p:nvGrpSpPr>
          <p:cNvPr id="699" name="Group 698"/>
          <p:cNvGrpSpPr/>
          <p:nvPr/>
        </p:nvGrpSpPr>
        <p:grpSpPr>
          <a:xfrm>
            <a:off x="365760" y="4096080"/>
            <a:ext cx="8413200" cy="802800"/>
            <a:chOff x="365760" y="4096080"/>
            <a:chExt cx="8413200" cy="802800"/>
          </a:xfrm>
        </p:grpSpPr>
        <p:sp>
          <p:nvSpPr>
            <p:cNvPr id="700" name="Freeform 699"/>
            <p:cNvSpPr/>
            <p:nvPr/>
          </p:nvSpPr>
          <p:spPr>
            <a:xfrm>
              <a:off x="365760" y="4096080"/>
              <a:ext cx="8413200" cy="802800"/>
            </a:xfrm>
            <a:custGeom>
              <a:avLst/>
              <a:gdLst/>
              <a:ahLst/>
              <a:cxnLst/>
              <a:rect l="0" t="0" r="r" b="b"/>
              <a:pathLst>
                <a:path w="23370" h="2230">
                  <a:moveTo>
                    <a:pt x="0" y="0"/>
                  </a:moveTo>
                  <a:lnTo>
                    <a:pt x="23370" y="0"/>
                  </a:lnTo>
                  <a:lnTo>
                    <a:pt x="23370" y="2230"/>
                  </a:lnTo>
                  <a:lnTo>
                    <a:pt x="0" y="2230"/>
                  </a:lnTo>
                  <a:lnTo>
                    <a:pt x="0" y="0"/>
                  </a:lnTo>
                  <a:close/>
                </a:path>
              </a:pathLst>
            </a:custGeom>
            <a:solidFill>
              <a:srgbClr val="EEF2F9"/>
            </a:solidFill>
            <a:ln w="9000">
              <a:solidFill>
                <a:srgbClr val="C5D3E8"/>
              </a:solidFill>
              <a:round/>
            </a:ln>
          </p:spPr>
          <p:txBody>
            <a:bodyPr lIns="94320" tIns="49320" rIns="94320" bIns="49320" anchor="t">
              <a:noAutofit/>
            </a:bodyPr>
            <a:lstStyle/>
            <a:p>
              <a:endParaRPr lang="en-US" sz="1800" b="0" strike="noStrike" spc="-1">
                <a:solidFill>
                  <a:srgbClr val="000000"/>
                </a:solidFill>
                <a:latin typeface="Arial"/>
              </a:endParaRPr>
            </a:p>
          </p:txBody>
        </p:sp>
        <p:sp>
          <p:nvSpPr>
            <p:cNvPr id="701" name="TextBox 700"/>
            <p:cNvSpPr txBox="1"/>
            <p:nvPr/>
          </p:nvSpPr>
          <p:spPr>
            <a:xfrm>
              <a:off x="415080" y="4163400"/>
              <a:ext cx="8313840" cy="659520"/>
            </a:xfrm>
            <a:prstGeom prst="rect">
              <a:avLst/>
            </a:prstGeom>
            <a:noFill/>
            <a:ln w="0">
              <a:noFill/>
            </a:ln>
          </p:spPr>
          <p:txBody>
            <a:bodyPr lIns="90000" tIns="45000" rIns="90000" bIns="45000" anchor="t">
              <a:normAutofit/>
            </a:bodyPr>
            <a:lstStyle/>
            <a:p>
              <a:r>
                <a:rPr lang="en-US" sz="1000" b="1" strike="noStrike" spc="-1" dirty="0">
                  <a:solidFill>
                    <a:srgbClr val="2361EB"/>
                  </a:solidFill>
                  <a:latin typeface="Calibri-Bold"/>
                  <a:ea typeface="Calibri-Bold"/>
                </a:rPr>
                <a:t>🔑  C</a:t>
              </a:r>
              <a:r>
                <a:rPr lang="en-US" sz="1000" b="0" strike="noStrike" spc="-1" dirty="0">
                  <a:solidFill>
                    <a:srgbClr val="182C48"/>
                  </a:solidFill>
                  <a:latin typeface="Calibri"/>
                  <a:ea typeface="Calibri"/>
                </a:rPr>
                <a:t>onvNeXt Tiny and </a:t>
              </a:r>
              <a:r>
                <a:rPr lang="en-US" sz="1000" b="0" strike="noStrike" spc="-1" dirty="0" err="1">
                  <a:solidFill>
                    <a:srgbClr val="182C48"/>
                  </a:solidFill>
                  <a:latin typeface="Calibri"/>
                  <a:ea typeface="Calibri"/>
                </a:rPr>
                <a:t>ViT</a:t>
              </a:r>
              <a:r>
                <a:rPr lang="en-US" sz="1000" b="0" strike="noStrike" spc="-1" dirty="0">
                  <a:solidFill>
                    <a:srgbClr val="182C48"/>
                  </a:solidFill>
                  <a:latin typeface="Calibri"/>
                  <a:ea typeface="Calibri"/>
                </a:rPr>
                <a:t> achieved consistently high test accuracy across different epoch counts and weight decay values, demonstrating strong robustness with minimal hyperparameter sensitivity. In contrast, the baseline CNN showed unstable performance and required more careful tuning to achieve reasonable results.</a:t>
              </a:r>
              <a:endParaRPr lang="en-US" sz="1000" b="0" strike="noStrike" spc="-1" dirty="0">
                <a:solidFill>
                  <a:srgbClr val="000000"/>
                </a:solidFill>
                <a:latin typeface="Arial"/>
              </a:endParaRPr>
            </a:p>
          </p:txBody>
        </p:sp>
      </p:grpSp>
      <p:pic>
        <p:nvPicPr>
          <p:cNvPr id="702" name="Picture 701"/>
          <p:cNvPicPr/>
          <p:nvPr/>
        </p:nvPicPr>
        <p:blipFill>
          <a:blip r:embed="rId2"/>
          <a:stretch/>
        </p:blipFill>
        <p:spPr>
          <a:xfrm>
            <a:off x="490320" y="1117800"/>
            <a:ext cx="3631320" cy="2578680"/>
          </a:xfrm>
          <a:prstGeom prst="rect">
            <a:avLst/>
          </a:prstGeom>
          <a:ln w="0">
            <a:noFill/>
          </a:ln>
        </p:spPr>
      </p:pic>
      <p:pic>
        <p:nvPicPr>
          <p:cNvPr id="703" name="Picture 702"/>
          <p:cNvPicPr/>
          <p:nvPr/>
        </p:nvPicPr>
        <p:blipFill>
          <a:blip r:embed="rId3"/>
          <a:stretch/>
        </p:blipFill>
        <p:spPr>
          <a:xfrm>
            <a:off x="4937040" y="1107360"/>
            <a:ext cx="3660480" cy="2599200"/>
          </a:xfrm>
          <a:prstGeom prst="rect">
            <a:avLst/>
          </a:prstGeom>
          <a:ln w="0">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704" name="Freeform 703"/>
          <p:cNvSpPr/>
          <p:nvPr/>
        </p:nvSpPr>
        <p:spPr>
          <a:xfrm>
            <a:off x="0" y="0"/>
            <a:ext cx="9144720" cy="55440"/>
          </a:xfrm>
          <a:custGeom>
            <a:avLst/>
            <a:gdLst/>
            <a:ahLst/>
            <a:cxnLst/>
            <a:rect l="0" t="0" r="r" b="b"/>
            <a:pathLst>
              <a:path w="25402" h="154">
                <a:moveTo>
                  <a:pt x="0" y="0"/>
                </a:moveTo>
                <a:lnTo>
                  <a:pt x="25402" y="0"/>
                </a:lnTo>
                <a:lnTo>
                  <a:pt x="25402" y="154"/>
                </a:lnTo>
                <a:lnTo>
                  <a:pt x="0" y="154"/>
                </a:lnTo>
                <a:lnTo>
                  <a:pt x="0" y="0"/>
                </a:lnTo>
                <a:close/>
              </a:path>
            </a:pathLst>
          </a:custGeom>
          <a:solidFill>
            <a:srgbClr val="2361EB"/>
          </a:solidFill>
          <a:ln w="0">
            <a:noFill/>
          </a:ln>
        </p:spPr>
        <p:txBody>
          <a:bodyPr lIns="90000" tIns="10440" rIns="90000" bIns="10440" anchor="t">
            <a:noAutofit/>
          </a:bodyPr>
          <a:lstStyle/>
          <a:p>
            <a:endParaRPr lang="en-US" sz="1800" b="0" strike="noStrike" spc="-1">
              <a:solidFill>
                <a:srgbClr val="FFFFFF"/>
              </a:solidFill>
              <a:latin typeface="Arial"/>
            </a:endParaRPr>
          </a:p>
        </p:txBody>
      </p:sp>
      <p:sp>
        <p:nvSpPr>
          <p:cNvPr id="705" name="TextBox 704"/>
          <p:cNvSpPr txBox="1"/>
          <p:nvPr/>
        </p:nvSpPr>
        <p:spPr>
          <a:xfrm>
            <a:off x="502200" y="164520"/>
            <a:ext cx="8139600" cy="502920"/>
          </a:xfrm>
          <a:prstGeom prst="rect">
            <a:avLst/>
          </a:prstGeom>
          <a:noFill/>
          <a:ln w="0">
            <a:noFill/>
          </a:ln>
        </p:spPr>
        <p:txBody>
          <a:bodyPr lIns="90000" tIns="45000" rIns="90000" bIns="45000" anchor="t">
            <a:noAutofit/>
          </a:bodyPr>
          <a:lstStyle/>
          <a:p>
            <a:r>
              <a:rPr lang="en-US" sz="2600" b="1" strike="noStrike" spc="-1">
                <a:solidFill>
                  <a:srgbClr val="182C48"/>
                </a:solidFill>
                <a:latin typeface="Calibri-Bold"/>
                <a:ea typeface="Calibri-Bold"/>
              </a:rPr>
              <a:t>Hyperparameter Exploration (cont.)</a:t>
            </a:r>
            <a:endParaRPr lang="en-US" sz="2600" b="0" strike="noStrike" spc="-1">
              <a:solidFill>
                <a:srgbClr val="000000"/>
              </a:solidFill>
              <a:latin typeface="Arial"/>
            </a:endParaRPr>
          </a:p>
        </p:txBody>
      </p:sp>
      <p:sp>
        <p:nvSpPr>
          <p:cNvPr id="706" name="Straight Connector 705"/>
          <p:cNvSpPr/>
          <p:nvPr/>
        </p:nvSpPr>
        <p:spPr>
          <a:xfrm>
            <a:off x="457200" y="642600"/>
            <a:ext cx="8229600" cy="0"/>
          </a:xfrm>
          <a:prstGeom prst="line">
            <a:avLst/>
          </a:prstGeom>
          <a:ln w="12600">
            <a:solidFill>
              <a:srgbClr val="E2E8F0"/>
            </a:solidFill>
            <a:round/>
          </a:ln>
        </p:spPr>
        <p:style>
          <a:lnRef idx="0">
            <a:scrgbClr r="0" g="0" b="0"/>
          </a:lnRef>
          <a:fillRef idx="0">
            <a:scrgbClr r="0" g="0" b="0"/>
          </a:fillRef>
          <a:effectRef idx="0">
            <a:scrgbClr r="0" g="0" b="0"/>
          </a:effectRef>
          <a:fontRef idx="minor"/>
        </p:style>
        <p:txBody>
          <a:bodyPr lIns="96120" tIns="-51120" rIns="96120" bIns="-51120" anchor="t">
            <a:noAutofit/>
          </a:bodyPr>
          <a:lstStyle/>
          <a:p>
            <a:endParaRPr lang="en-US" sz="1800" b="0" strike="noStrike" spc="-1">
              <a:solidFill>
                <a:srgbClr val="000000"/>
              </a:solidFill>
              <a:latin typeface="Arial"/>
            </a:endParaRPr>
          </a:p>
        </p:txBody>
      </p:sp>
      <p:sp>
        <p:nvSpPr>
          <p:cNvPr id="707" name="Freeform 706"/>
          <p:cNvSpPr/>
          <p:nvPr/>
        </p:nvSpPr>
        <p:spPr>
          <a:xfrm>
            <a:off x="365760" y="779760"/>
            <a:ext cx="4069800" cy="3280680"/>
          </a:xfrm>
          <a:custGeom>
            <a:avLst/>
            <a:gdLst/>
            <a:ahLst/>
            <a:cxnLst/>
            <a:rect l="0" t="0" r="r" b="b"/>
            <a:pathLst>
              <a:path w="11305" h="9113">
                <a:moveTo>
                  <a:pt x="0" y="0"/>
                </a:moveTo>
                <a:lnTo>
                  <a:pt x="11305" y="0"/>
                </a:lnTo>
                <a:lnTo>
                  <a:pt x="11305" y="9113"/>
                </a:lnTo>
                <a:lnTo>
                  <a:pt x="0" y="9113"/>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708" name="Freeform 707"/>
          <p:cNvSpPr/>
          <p:nvPr/>
        </p:nvSpPr>
        <p:spPr>
          <a:xfrm>
            <a:off x="365760" y="779760"/>
            <a:ext cx="64800" cy="3280680"/>
          </a:xfrm>
          <a:custGeom>
            <a:avLst/>
            <a:gdLst/>
            <a:ahLst/>
            <a:cxnLst/>
            <a:rect l="0" t="0" r="r" b="b"/>
            <a:pathLst>
              <a:path w="180" h="9113">
                <a:moveTo>
                  <a:pt x="0" y="0"/>
                </a:moveTo>
                <a:lnTo>
                  <a:pt x="180" y="0"/>
                </a:lnTo>
                <a:lnTo>
                  <a:pt x="180" y="9113"/>
                </a:lnTo>
                <a:lnTo>
                  <a:pt x="0" y="9113"/>
                </a:lnTo>
                <a:lnTo>
                  <a:pt x="0" y="0"/>
                </a:lnTo>
                <a:close/>
              </a:path>
            </a:pathLst>
          </a:custGeom>
          <a:solidFill>
            <a:srgbClr val="2361EB"/>
          </a:solidFill>
          <a:ln w="0">
            <a:noFill/>
          </a:ln>
        </p:spPr>
        <p:txBody>
          <a:bodyPr lIns="90000" tIns="45000" rIns="90000" bIns="45000" anchor="t">
            <a:noAutofit/>
          </a:bodyPr>
          <a:lstStyle/>
          <a:p>
            <a:endParaRPr lang="en-US" sz="1800" b="0" strike="noStrike" spc="-1">
              <a:solidFill>
                <a:srgbClr val="FFFFFF"/>
              </a:solidFill>
              <a:latin typeface="Arial"/>
            </a:endParaRPr>
          </a:p>
        </p:txBody>
      </p:sp>
      <p:sp>
        <p:nvSpPr>
          <p:cNvPr id="709" name="TextBox 708"/>
          <p:cNvSpPr txBox="1"/>
          <p:nvPr/>
        </p:nvSpPr>
        <p:spPr>
          <a:xfrm>
            <a:off x="593640" y="871560"/>
            <a:ext cx="3659040" cy="280800"/>
          </a:xfrm>
          <a:prstGeom prst="rect">
            <a:avLst/>
          </a:prstGeom>
          <a:noFill/>
          <a:ln w="0">
            <a:noFill/>
          </a:ln>
        </p:spPr>
        <p:txBody>
          <a:bodyPr lIns="90000" tIns="45000" rIns="90000" bIns="45000" anchor="t">
            <a:noAutofit/>
          </a:bodyPr>
          <a:lstStyle/>
          <a:p>
            <a:r>
              <a:rPr lang="en-US" sz="1300" b="1" strike="noStrike" spc="-1">
                <a:solidFill>
                  <a:srgbClr val="182C48"/>
                </a:solidFill>
                <a:latin typeface="Calibri-Bold"/>
                <a:ea typeface="Calibri-Bold"/>
              </a:rPr>
              <a:t>Model size vs accuracy</a:t>
            </a:r>
            <a:endParaRPr lang="en-US" sz="1300" b="0" strike="noStrike" spc="-1">
              <a:solidFill>
                <a:srgbClr val="000000"/>
              </a:solidFill>
              <a:latin typeface="Arial"/>
            </a:endParaRPr>
          </a:p>
        </p:txBody>
      </p:sp>
      <p:sp>
        <p:nvSpPr>
          <p:cNvPr id="710" name="TextBox 709"/>
          <p:cNvSpPr txBox="1"/>
          <p:nvPr/>
        </p:nvSpPr>
        <p:spPr>
          <a:xfrm>
            <a:off x="593640" y="3798360"/>
            <a:ext cx="3659040" cy="238320"/>
          </a:xfrm>
          <a:prstGeom prst="rect">
            <a:avLst/>
          </a:prstGeom>
          <a:noFill/>
          <a:ln w="0">
            <a:noFill/>
          </a:ln>
        </p:spPr>
        <p:txBody>
          <a:bodyPr lIns="90000" tIns="45000" rIns="90000" bIns="45000" anchor="t">
            <a:noAutofit/>
          </a:bodyPr>
          <a:lstStyle/>
          <a:p>
            <a:r>
              <a:rPr lang="en-US" sz="1000" b="0" i="1" strike="noStrike" spc="-1">
                <a:solidFill>
                  <a:srgbClr val="62728B"/>
                </a:solidFill>
                <a:latin typeface="Calibri-Italic"/>
                <a:ea typeface="Calibri-Italic"/>
              </a:rPr>
              <a:t>Parameter count vs test accuracy for all models</a:t>
            </a:r>
            <a:endParaRPr lang="en-US" sz="1000" b="0" strike="noStrike" spc="-1">
              <a:solidFill>
                <a:srgbClr val="000000"/>
              </a:solidFill>
              <a:latin typeface="Arial"/>
            </a:endParaRPr>
          </a:p>
        </p:txBody>
      </p:sp>
      <p:sp>
        <p:nvSpPr>
          <p:cNvPr id="711" name="Freeform 710"/>
          <p:cNvSpPr/>
          <p:nvPr/>
        </p:nvSpPr>
        <p:spPr>
          <a:xfrm>
            <a:off x="4709160" y="779760"/>
            <a:ext cx="4069800" cy="3280680"/>
          </a:xfrm>
          <a:custGeom>
            <a:avLst/>
            <a:gdLst/>
            <a:ahLst/>
            <a:cxnLst/>
            <a:rect l="0" t="0" r="r" b="b"/>
            <a:pathLst>
              <a:path w="11305" h="9113">
                <a:moveTo>
                  <a:pt x="0" y="0"/>
                </a:moveTo>
                <a:lnTo>
                  <a:pt x="11305" y="0"/>
                </a:lnTo>
                <a:lnTo>
                  <a:pt x="11305" y="9113"/>
                </a:lnTo>
                <a:lnTo>
                  <a:pt x="0" y="9113"/>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712" name="Freeform 711"/>
          <p:cNvSpPr/>
          <p:nvPr/>
        </p:nvSpPr>
        <p:spPr>
          <a:xfrm>
            <a:off x="4709160" y="779760"/>
            <a:ext cx="64800" cy="3280680"/>
          </a:xfrm>
          <a:custGeom>
            <a:avLst/>
            <a:gdLst/>
            <a:ahLst/>
            <a:cxnLst/>
            <a:rect l="0" t="0" r="r" b="b"/>
            <a:pathLst>
              <a:path w="180" h="9113">
                <a:moveTo>
                  <a:pt x="0" y="0"/>
                </a:moveTo>
                <a:lnTo>
                  <a:pt x="180" y="0"/>
                </a:lnTo>
                <a:lnTo>
                  <a:pt x="180" y="9113"/>
                </a:lnTo>
                <a:lnTo>
                  <a:pt x="0" y="9113"/>
                </a:lnTo>
                <a:lnTo>
                  <a:pt x="0" y="0"/>
                </a:lnTo>
                <a:close/>
              </a:path>
            </a:pathLst>
          </a:custGeom>
          <a:solidFill>
            <a:srgbClr val="2361EB"/>
          </a:solidFill>
          <a:ln w="0">
            <a:noFill/>
          </a:ln>
        </p:spPr>
        <p:txBody>
          <a:bodyPr lIns="90000" tIns="45000" rIns="90000" bIns="45000" anchor="t">
            <a:noAutofit/>
          </a:bodyPr>
          <a:lstStyle/>
          <a:p>
            <a:endParaRPr lang="en-US" sz="1800" b="0" strike="noStrike" spc="-1">
              <a:solidFill>
                <a:srgbClr val="FFFFFF"/>
              </a:solidFill>
              <a:latin typeface="Arial"/>
            </a:endParaRPr>
          </a:p>
        </p:txBody>
      </p:sp>
      <p:sp>
        <p:nvSpPr>
          <p:cNvPr id="713" name="TextBox 712"/>
          <p:cNvSpPr txBox="1"/>
          <p:nvPr/>
        </p:nvSpPr>
        <p:spPr>
          <a:xfrm>
            <a:off x="4937040" y="871560"/>
            <a:ext cx="3659040" cy="280800"/>
          </a:xfrm>
          <a:prstGeom prst="rect">
            <a:avLst/>
          </a:prstGeom>
          <a:noFill/>
          <a:ln w="0">
            <a:noFill/>
          </a:ln>
        </p:spPr>
        <p:txBody>
          <a:bodyPr lIns="90000" tIns="45000" rIns="90000" bIns="45000" anchor="t">
            <a:noAutofit/>
          </a:bodyPr>
          <a:lstStyle/>
          <a:p>
            <a:r>
              <a:rPr lang="en-US" sz="1300" b="1" strike="noStrike" spc="-1">
                <a:solidFill>
                  <a:srgbClr val="182C48"/>
                </a:solidFill>
                <a:latin typeface="Calibri-Bold"/>
                <a:ea typeface="Calibri-Bold"/>
              </a:rPr>
              <a:t>Scheduler comparison</a:t>
            </a:r>
            <a:endParaRPr lang="en-US" sz="1300" b="0" strike="noStrike" spc="-1">
              <a:solidFill>
                <a:srgbClr val="000000"/>
              </a:solidFill>
              <a:latin typeface="Arial"/>
            </a:endParaRPr>
          </a:p>
        </p:txBody>
      </p:sp>
      <p:sp>
        <p:nvSpPr>
          <p:cNvPr id="714" name="TextBox 713"/>
          <p:cNvSpPr txBox="1"/>
          <p:nvPr/>
        </p:nvSpPr>
        <p:spPr>
          <a:xfrm>
            <a:off x="4937040" y="3798360"/>
            <a:ext cx="3659040" cy="238320"/>
          </a:xfrm>
          <a:prstGeom prst="rect">
            <a:avLst/>
          </a:prstGeom>
          <a:noFill/>
          <a:ln w="0">
            <a:noFill/>
          </a:ln>
        </p:spPr>
        <p:txBody>
          <a:bodyPr lIns="90000" tIns="45000" rIns="90000" bIns="45000" anchor="t">
            <a:noAutofit/>
          </a:bodyPr>
          <a:lstStyle/>
          <a:p>
            <a:r>
              <a:rPr lang="en-US" sz="1000" b="0" i="1" strike="noStrike" spc="-1">
                <a:solidFill>
                  <a:srgbClr val="62728B"/>
                </a:solidFill>
                <a:latin typeface="Calibri-Italic"/>
                <a:ea typeface="Calibri-Italic"/>
              </a:rPr>
              <a:t>Test accuracy with different LR schedulers</a:t>
            </a:r>
            <a:endParaRPr lang="en-US" sz="1000" b="0" strike="noStrike" spc="-1">
              <a:solidFill>
                <a:srgbClr val="000000"/>
              </a:solidFill>
              <a:latin typeface="Arial"/>
            </a:endParaRPr>
          </a:p>
        </p:txBody>
      </p:sp>
      <p:grpSp>
        <p:nvGrpSpPr>
          <p:cNvPr id="715" name="Group 714"/>
          <p:cNvGrpSpPr/>
          <p:nvPr/>
        </p:nvGrpSpPr>
        <p:grpSpPr>
          <a:xfrm>
            <a:off x="365760" y="4108680"/>
            <a:ext cx="8413200" cy="730080"/>
            <a:chOff x="365760" y="4108680"/>
            <a:chExt cx="8413200" cy="730080"/>
          </a:xfrm>
        </p:grpSpPr>
        <p:sp>
          <p:nvSpPr>
            <p:cNvPr id="716" name="Freeform 715"/>
            <p:cNvSpPr/>
            <p:nvPr/>
          </p:nvSpPr>
          <p:spPr>
            <a:xfrm>
              <a:off x="365760" y="4108680"/>
              <a:ext cx="8413200" cy="730080"/>
            </a:xfrm>
            <a:custGeom>
              <a:avLst/>
              <a:gdLst/>
              <a:ahLst/>
              <a:cxnLst/>
              <a:rect l="0" t="0" r="r" b="b"/>
              <a:pathLst>
                <a:path w="23370" h="2028">
                  <a:moveTo>
                    <a:pt x="0" y="0"/>
                  </a:moveTo>
                  <a:lnTo>
                    <a:pt x="23370" y="0"/>
                  </a:lnTo>
                  <a:lnTo>
                    <a:pt x="23370" y="2028"/>
                  </a:lnTo>
                  <a:lnTo>
                    <a:pt x="0" y="2028"/>
                  </a:lnTo>
                  <a:lnTo>
                    <a:pt x="0" y="0"/>
                  </a:lnTo>
                  <a:close/>
                </a:path>
              </a:pathLst>
            </a:custGeom>
            <a:solidFill>
              <a:srgbClr val="EEF2F9"/>
            </a:solidFill>
            <a:ln w="9000">
              <a:solidFill>
                <a:srgbClr val="C5D3E8"/>
              </a:solidFill>
              <a:round/>
            </a:ln>
          </p:spPr>
          <p:txBody>
            <a:bodyPr lIns="94320" tIns="49320" rIns="94320" bIns="49320" anchor="t">
              <a:noAutofit/>
            </a:bodyPr>
            <a:lstStyle/>
            <a:p>
              <a:endParaRPr lang="en-US" sz="1800" b="0" strike="noStrike" spc="-1">
                <a:solidFill>
                  <a:srgbClr val="000000"/>
                </a:solidFill>
                <a:latin typeface="Arial"/>
              </a:endParaRPr>
            </a:p>
          </p:txBody>
        </p:sp>
        <p:sp>
          <p:nvSpPr>
            <p:cNvPr id="717" name="TextBox 716"/>
            <p:cNvSpPr txBox="1"/>
            <p:nvPr/>
          </p:nvSpPr>
          <p:spPr>
            <a:xfrm>
              <a:off x="415080" y="4175280"/>
              <a:ext cx="8313840" cy="501840"/>
            </a:xfrm>
            <a:prstGeom prst="rect">
              <a:avLst/>
            </a:prstGeom>
            <a:noFill/>
            <a:ln w="0">
              <a:noFill/>
            </a:ln>
          </p:spPr>
          <p:txBody>
            <a:bodyPr lIns="90000" tIns="45000" rIns="90000" bIns="45000" anchor="t">
              <a:normAutofit/>
            </a:bodyPr>
            <a:lstStyle/>
            <a:p>
              <a:r>
                <a:rPr lang="en-US" sz="1000" b="1" strike="noStrike" spc="-1" dirty="0">
                  <a:solidFill>
                    <a:srgbClr val="2361EB"/>
                  </a:solidFill>
                  <a:latin typeface="Calibri-Bold"/>
                  <a:ea typeface="Calibri-Bold"/>
                </a:rPr>
                <a:t>🔑  L</a:t>
              </a:r>
              <a:r>
                <a:rPr lang="en-US" sz="1000" b="0" strike="noStrike" spc="-1" dirty="0">
                  <a:solidFill>
                    <a:srgbClr val="182C48"/>
                  </a:solidFill>
                  <a:latin typeface="Calibri"/>
                  <a:ea typeface="Calibri"/>
                </a:rPr>
                <a:t>arger pretrained models generally achieved higher test accuracy, but the performance gain became marginal at very high parameter counts. ConvNeXt Tiny provided the best accuracy–efficiency trade-off, while appropriate learning rate scheduling further improved training stability and final performance.</a:t>
              </a:r>
              <a:endParaRPr lang="en-US" sz="1000" b="0" strike="noStrike" spc="-1" dirty="0">
                <a:solidFill>
                  <a:srgbClr val="000000"/>
                </a:solidFill>
                <a:latin typeface="Arial"/>
              </a:endParaRPr>
            </a:p>
          </p:txBody>
        </p:sp>
      </p:grpSp>
      <p:pic>
        <p:nvPicPr>
          <p:cNvPr id="718" name="Picture 717"/>
          <p:cNvPicPr/>
          <p:nvPr/>
        </p:nvPicPr>
        <p:blipFill>
          <a:blip r:embed="rId2"/>
          <a:stretch/>
        </p:blipFill>
        <p:spPr>
          <a:xfrm>
            <a:off x="4824000" y="1348200"/>
            <a:ext cx="3884760" cy="1702440"/>
          </a:xfrm>
          <a:prstGeom prst="rect">
            <a:avLst/>
          </a:prstGeom>
          <a:ln w="0">
            <a:noFill/>
          </a:ln>
        </p:spPr>
      </p:pic>
      <p:pic>
        <p:nvPicPr>
          <p:cNvPr id="719" name="Picture 718"/>
          <p:cNvPicPr/>
          <p:nvPr/>
        </p:nvPicPr>
        <p:blipFill>
          <a:blip r:embed="rId3"/>
          <a:stretch/>
        </p:blipFill>
        <p:spPr>
          <a:xfrm>
            <a:off x="593640" y="1230120"/>
            <a:ext cx="3319920" cy="2359440"/>
          </a:xfrm>
          <a:prstGeom prst="rect">
            <a:avLst/>
          </a:prstGeom>
          <a:ln w="0">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720" name="Freeform 719"/>
          <p:cNvSpPr/>
          <p:nvPr/>
        </p:nvSpPr>
        <p:spPr>
          <a:xfrm>
            <a:off x="0" y="0"/>
            <a:ext cx="9144720" cy="55440"/>
          </a:xfrm>
          <a:custGeom>
            <a:avLst/>
            <a:gdLst/>
            <a:ahLst/>
            <a:cxnLst/>
            <a:rect l="0" t="0" r="r" b="b"/>
            <a:pathLst>
              <a:path w="25402" h="154">
                <a:moveTo>
                  <a:pt x="0" y="0"/>
                </a:moveTo>
                <a:lnTo>
                  <a:pt x="25402" y="0"/>
                </a:lnTo>
                <a:lnTo>
                  <a:pt x="25402" y="154"/>
                </a:lnTo>
                <a:lnTo>
                  <a:pt x="0" y="154"/>
                </a:lnTo>
                <a:lnTo>
                  <a:pt x="0" y="0"/>
                </a:lnTo>
                <a:close/>
              </a:path>
            </a:pathLst>
          </a:custGeom>
          <a:solidFill>
            <a:srgbClr val="2361EB"/>
          </a:solidFill>
          <a:ln w="0">
            <a:noFill/>
          </a:ln>
        </p:spPr>
        <p:txBody>
          <a:bodyPr lIns="90000" tIns="10440" rIns="90000" bIns="10440" anchor="t">
            <a:noAutofit/>
          </a:bodyPr>
          <a:lstStyle/>
          <a:p>
            <a:endParaRPr lang="en-US" sz="1800" b="0" strike="noStrike" spc="-1">
              <a:solidFill>
                <a:srgbClr val="FFFFFF"/>
              </a:solidFill>
              <a:latin typeface="Arial"/>
            </a:endParaRPr>
          </a:p>
        </p:txBody>
      </p:sp>
      <p:sp>
        <p:nvSpPr>
          <p:cNvPr id="721" name="TextBox 720"/>
          <p:cNvSpPr txBox="1"/>
          <p:nvPr/>
        </p:nvSpPr>
        <p:spPr>
          <a:xfrm>
            <a:off x="502200" y="164520"/>
            <a:ext cx="8139600" cy="502920"/>
          </a:xfrm>
          <a:prstGeom prst="rect">
            <a:avLst/>
          </a:prstGeom>
          <a:noFill/>
          <a:ln w="0">
            <a:noFill/>
          </a:ln>
        </p:spPr>
        <p:txBody>
          <a:bodyPr lIns="90000" tIns="45000" rIns="90000" bIns="45000" anchor="t">
            <a:noAutofit/>
          </a:bodyPr>
          <a:lstStyle/>
          <a:p>
            <a:r>
              <a:rPr lang="en-US" sz="2600" b="1" strike="noStrike" spc="-1">
                <a:solidFill>
                  <a:srgbClr val="182C48"/>
                </a:solidFill>
                <a:latin typeface="Calibri-Bold"/>
                <a:ea typeface="Calibri-Bold"/>
              </a:rPr>
              <a:t>Transfer Learning Analysis</a:t>
            </a:r>
            <a:endParaRPr lang="en-US" sz="2600" b="0" strike="noStrike" spc="-1">
              <a:solidFill>
                <a:srgbClr val="000000"/>
              </a:solidFill>
              <a:latin typeface="Arial"/>
            </a:endParaRPr>
          </a:p>
        </p:txBody>
      </p:sp>
      <p:sp>
        <p:nvSpPr>
          <p:cNvPr id="722" name="TextBox 721"/>
          <p:cNvSpPr txBox="1"/>
          <p:nvPr/>
        </p:nvSpPr>
        <p:spPr>
          <a:xfrm>
            <a:off x="502200" y="658440"/>
            <a:ext cx="8139600" cy="292680"/>
          </a:xfrm>
          <a:prstGeom prst="rect">
            <a:avLst/>
          </a:prstGeom>
          <a:noFill/>
          <a:ln w="0">
            <a:noFill/>
          </a:ln>
        </p:spPr>
        <p:txBody>
          <a:bodyPr lIns="90000" tIns="45000" rIns="90000" bIns="45000" anchor="t">
            <a:noAutofit/>
          </a:bodyPr>
          <a:lstStyle/>
          <a:p>
            <a:r>
              <a:rPr lang="en-US" sz="1200" b="0" i="1" strike="noStrike" spc="-1">
                <a:solidFill>
                  <a:srgbClr val="62728B"/>
                </a:solidFill>
                <a:latin typeface="Calibri-Italic"/>
                <a:ea typeface="Calibri-Italic"/>
              </a:rPr>
              <a:t>Fine-tuning strategy and training cost</a:t>
            </a:r>
            <a:endParaRPr lang="en-US" sz="1200" b="0" strike="noStrike" spc="-1">
              <a:solidFill>
                <a:srgbClr val="000000"/>
              </a:solidFill>
              <a:latin typeface="Arial"/>
            </a:endParaRPr>
          </a:p>
        </p:txBody>
      </p:sp>
      <p:sp>
        <p:nvSpPr>
          <p:cNvPr id="723" name="Straight Connector 722"/>
          <p:cNvSpPr/>
          <p:nvPr/>
        </p:nvSpPr>
        <p:spPr>
          <a:xfrm>
            <a:off x="457200" y="960120"/>
            <a:ext cx="8229600" cy="0"/>
          </a:xfrm>
          <a:prstGeom prst="line">
            <a:avLst/>
          </a:prstGeom>
          <a:ln w="12600">
            <a:solidFill>
              <a:srgbClr val="E2E8F0"/>
            </a:solidFill>
            <a:round/>
          </a:ln>
        </p:spPr>
        <p:style>
          <a:lnRef idx="0">
            <a:scrgbClr r="0" g="0" b="0"/>
          </a:lnRef>
          <a:fillRef idx="0">
            <a:scrgbClr r="0" g="0" b="0"/>
          </a:fillRef>
          <a:effectRef idx="0">
            <a:scrgbClr r="0" g="0" b="0"/>
          </a:effectRef>
          <a:fontRef idx="minor"/>
        </p:style>
        <p:txBody>
          <a:bodyPr lIns="96120" tIns="-51120" rIns="96120" bIns="-51120" anchor="t">
            <a:noAutofit/>
          </a:bodyPr>
          <a:lstStyle/>
          <a:p>
            <a:endParaRPr lang="en-US" sz="1800" b="0" strike="noStrike" spc="-1">
              <a:solidFill>
                <a:srgbClr val="000000"/>
              </a:solidFill>
              <a:latin typeface="Arial"/>
            </a:endParaRPr>
          </a:p>
        </p:txBody>
      </p:sp>
      <p:sp>
        <p:nvSpPr>
          <p:cNvPr id="724" name="Freeform 723"/>
          <p:cNvSpPr/>
          <p:nvPr/>
        </p:nvSpPr>
        <p:spPr>
          <a:xfrm>
            <a:off x="365760" y="1097280"/>
            <a:ext cx="4339080" cy="3280680"/>
          </a:xfrm>
          <a:custGeom>
            <a:avLst/>
            <a:gdLst/>
            <a:ahLst/>
            <a:cxnLst/>
            <a:rect l="0" t="0" r="r" b="b"/>
            <a:pathLst>
              <a:path w="12053" h="9113">
                <a:moveTo>
                  <a:pt x="0" y="0"/>
                </a:moveTo>
                <a:lnTo>
                  <a:pt x="12053" y="0"/>
                </a:lnTo>
                <a:lnTo>
                  <a:pt x="12053" y="9113"/>
                </a:lnTo>
                <a:lnTo>
                  <a:pt x="0" y="9113"/>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725" name="Freeform 724"/>
          <p:cNvSpPr/>
          <p:nvPr/>
        </p:nvSpPr>
        <p:spPr>
          <a:xfrm>
            <a:off x="365760" y="1097280"/>
            <a:ext cx="64800" cy="3280680"/>
          </a:xfrm>
          <a:custGeom>
            <a:avLst/>
            <a:gdLst/>
            <a:ahLst/>
            <a:cxnLst/>
            <a:rect l="0" t="0" r="r" b="b"/>
            <a:pathLst>
              <a:path w="180" h="9113">
                <a:moveTo>
                  <a:pt x="0" y="0"/>
                </a:moveTo>
                <a:lnTo>
                  <a:pt x="180" y="0"/>
                </a:lnTo>
                <a:lnTo>
                  <a:pt x="180" y="9113"/>
                </a:lnTo>
                <a:lnTo>
                  <a:pt x="0" y="9113"/>
                </a:lnTo>
                <a:lnTo>
                  <a:pt x="0" y="0"/>
                </a:lnTo>
                <a:close/>
              </a:path>
            </a:pathLst>
          </a:custGeom>
          <a:solidFill>
            <a:srgbClr val="2361EB"/>
          </a:solidFill>
          <a:ln w="0">
            <a:noFill/>
          </a:ln>
        </p:spPr>
        <p:txBody>
          <a:bodyPr lIns="90000" tIns="45000" rIns="90000" bIns="45000" anchor="t">
            <a:noAutofit/>
          </a:bodyPr>
          <a:lstStyle/>
          <a:p>
            <a:endParaRPr lang="en-US" sz="1800" b="0" strike="noStrike" spc="-1">
              <a:solidFill>
                <a:srgbClr val="FFFFFF"/>
              </a:solidFill>
              <a:latin typeface="Arial"/>
            </a:endParaRPr>
          </a:p>
        </p:txBody>
      </p:sp>
      <p:sp>
        <p:nvSpPr>
          <p:cNvPr id="726" name="TextBox 725"/>
          <p:cNvSpPr txBox="1"/>
          <p:nvPr/>
        </p:nvSpPr>
        <p:spPr>
          <a:xfrm>
            <a:off x="593640" y="1189080"/>
            <a:ext cx="3659040" cy="471240"/>
          </a:xfrm>
          <a:prstGeom prst="rect">
            <a:avLst/>
          </a:prstGeom>
          <a:noFill/>
          <a:ln w="0">
            <a:noFill/>
          </a:ln>
        </p:spPr>
        <p:txBody>
          <a:bodyPr lIns="90000" tIns="45000" rIns="90000" bIns="45000" anchor="t">
            <a:noAutofit/>
          </a:bodyPr>
          <a:lstStyle/>
          <a:p>
            <a:r>
              <a:rPr lang="en-US" sz="1300" b="1" strike="noStrike" spc="-1">
                <a:solidFill>
                  <a:srgbClr val="182C48"/>
                </a:solidFill>
                <a:latin typeface="Calibri-Bold"/>
                <a:ea typeface="Calibri-Bold"/>
              </a:rPr>
              <a:t>Transfer learning strategy comparison</a:t>
            </a:r>
            <a:endParaRPr lang="en-US" sz="1300" b="0" strike="noStrike" spc="-1">
              <a:solidFill>
                <a:srgbClr val="000000"/>
              </a:solidFill>
              <a:latin typeface="Arial"/>
            </a:endParaRPr>
          </a:p>
        </p:txBody>
      </p:sp>
      <p:sp>
        <p:nvSpPr>
          <p:cNvPr id="727" name="TextBox 726"/>
          <p:cNvSpPr txBox="1"/>
          <p:nvPr/>
        </p:nvSpPr>
        <p:spPr>
          <a:xfrm>
            <a:off x="593640" y="4115880"/>
            <a:ext cx="3659040" cy="253800"/>
          </a:xfrm>
          <a:prstGeom prst="rect">
            <a:avLst/>
          </a:prstGeom>
          <a:noFill/>
          <a:ln w="0">
            <a:noFill/>
          </a:ln>
        </p:spPr>
        <p:txBody>
          <a:bodyPr lIns="90000" tIns="45000" rIns="90000" bIns="45000" anchor="t">
            <a:noAutofit/>
          </a:bodyPr>
          <a:lstStyle/>
          <a:p>
            <a:r>
              <a:rPr lang="en-US" sz="1000" b="0" i="1" strike="noStrike" spc="-1">
                <a:solidFill>
                  <a:srgbClr val="62728B"/>
                </a:solidFill>
                <a:latin typeface="Calibri-Italic"/>
                <a:ea typeface="Calibri-Italic"/>
              </a:rPr>
              <a:t>Classifier-only vs full fine-tuning accuracy</a:t>
            </a:r>
            <a:endParaRPr lang="en-US" sz="1000" b="0" strike="noStrike" spc="-1">
              <a:solidFill>
                <a:srgbClr val="000000"/>
              </a:solidFill>
              <a:latin typeface="Arial"/>
            </a:endParaRPr>
          </a:p>
        </p:txBody>
      </p:sp>
      <p:sp>
        <p:nvSpPr>
          <p:cNvPr id="728" name="Freeform 727"/>
          <p:cNvSpPr/>
          <p:nvPr/>
        </p:nvSpPr>
        <p:spPr>
          <a:xfrm>
            <a:off x="4820760" y="1100880"/>
            <a:ext cx="3918960" cy="3280680"/>
          </a:xfrm>
          <a:custGeom>
            <a:avLst/>
            <a:gdLst/>
            <a:ahLst/>
            <a:cxnLst/>
            <a:rect l="0" t="0" r="r" b="b"/>
            <a:pathLst>
              <a:path w="10886" h="9113">
                <a:moveTo>
                  <a:pt x="0" y="0"/>
                </a:moveTo>
                <a:lnTo>
                  <a:pt x="10886" y="0"/>
                </a:lnTo>
                <a:lnTo>
                  <a:pt x="10886" y="9113"/>
                </a:lnTo>
                <a:lnTo>
                  <a:pt x="0" y="9113"/>
                </a:lnTo>
                <a:lnTo>
                  <a:pt x="0" y="0"/>
                </a:lnTo>
                <a:close/>
              </a:path>
            </a:pathLst>
          </a:custGeom>
          <a:solidFill>
            <a:srgbClr val="FFFFFF"/>
          </a:solidFill>
          <a:ln w="6480">
            <a:solidFill>
              <a:srgbClr val="E2E8F0"/>
            </a:solidFill>
            <a:round/>
          </a:ln>
        </p:spPr>
        <p:txBody>
          <a:bodyPr lIns="93240" tIns="48240" rIns="93240" bIns="48240" anchor="t">
            <a:noAutofit/>
          </a:bodyPr>
          <a:lstStyle/>
          <a:p>
            <a:endParaRPr lang="en-US" sz="1800" b="0" strike="noStrike" spc="-1">
              <a:solidFill>
                <a:srgbClr val="000000"/>
              </a:solidFill>
              <a:latin typeface="Arial"/>
            </a:endParaRPr>
          </a:p>
        </p:txBody>
      </p:sp>
      <p:sp>
        <p:nvSpPr>
          <p:cNvPr id="729" name="Freeform 728"/>
          <p:cNvSpPr/>
          <p:nvPr/>
        </p:nvSpPr>
        <p:spPr>
          <a:xfrm>
            <a:off x="4798080" y="1097280"/>
            <a:ext cx="64800" cy="3280680"/>
          </a:xfrm>
          <a:custGeom>
            <a:avLst/>
            <a:gdLst/>
            <a:ahLst/>
            <a:cxnLst/>
            <a:rect l="0" t="0" r="r" b="b"/>
            <a:pathLst>
              <a:path w="180" h="9113">
                <a:moveTo>
                  <a:pt x="0" y="0"/>
                </a:moveTo>
                <a:lnTo>
                  <a:pt x="180" y="0"/>
                </a:lnTo>
                <a:lnTo>
                  <a:pt x="180" y="9113"/>
                </a:lnTo>
                <a:lnTo>
                  <a:pt x="0" y="9113"/>
                </a:lnTo>
                <a:lnTo>
                  <a:pt x="0" y="0"/>
                </a:lnTo>
                <a:close/>
              </a:path>
            </a:pathLst>
          </a:custGeom>
          <a:solidFill>
            <a:srgbClr val="2361EB"/>
          </a:solidFill>
          <a:ln w="0">
            <a:noFill/>
          </a:ln>
        </p:spPr>
        <p:txBody>
          <a:bodyPr lIns="90000" tIns="45000" rIns="90000" bIns="45000" anchor="t">
            <a:noAutofit/>
          </a:bodyPr>
          <a:lstStyle/>
          <a:p>
            <a:endParaRPr lang="en-US" sz="1800" b="0" strike="noStrike" spc="-1">
              <a:solidFill>
                <a:srgbClr val="FFFFFF"/>
              </a:solidFill>
              <a:latin typeface="Arial"/>
            </a:endParaRPr>
          </a:p>
        </p:txBody>
      </p:sp>
      <p:sp>
        <p:nvSpPr>
          <p:cNvPr id="730" name="TextBox 729"/>
          <p:cNvSpPr txBox="1"/>
          <p:nvPr/>
        </p:nvSpPr>
        <p:spPr>
          <a:xfrm>
            <a:off x="5025960" y="1189080"/>
            <a:ext cx="3659040" cy="280800"/>
          </a:xfrm>
          <a:prstGeom prst="rect">
            <a:avLst/>
          </a:prstGeom>
          <a:noFill/>
          <a:ln w="0">
            <a:noFill/>
          </a:ln>
        </p:spPr>
        <p:txBody>
          <a:bodyPr lIns="90000" tIns="45000" rIns="90000" bIns="45000" anchor="t">
            <a:noAutofit/>
          </a:bodyPr>
          <a:lstStyle/>
          <a:p>
            <a:r>
              <a:rPr lang="en-US" sz="1300" b="1" strike="noStrike" spc="-1">
                <a:solidFill>
                  <a:srgbClr val="182C48"/>
                </a:solidFill>
                <a:latin typeface="Calibri-Bold"/>
                <a:ea typeface="Calibri-Bold"/>
              </a:rPr>
              <a:t>Accuracy vs training cost</a:t>
            </a:r>
            <a:endParaRPr lang="en-US" sz="1300" b="0" strike="noStrike" spc="-1">
              <a:solidFill>
                <a:srgbClr val="000000"/>
              </a:solidFill>
              <a:latin typeface="Arial"/>
            </a:endParaRPr>
          </a:p>
        </p:txBody>
      </p:sp>
      <p:sp>
        <p:nvSpPr>
          <p:cNvPr id="731" name="TextBox 730"/>
          <p:cNvSpPr txBox="1"/>
          <p:nvPr/>
        </p:nvSpPr>
        <p:spPr>
          <a:xfrm>
            <a:off x="5025960" y="4115880"/>
            <a:ext cx="3659040" cy="238320"/>
          </a:xfrm>
          <a:prstGeom prst="rect">
            <a:avLst/>
          </a:prstGeom>
          <a:noFill/>
          <a:ln w="0">
            <a:noFill/>
          </a:ln>
        </p:spPr>
        <p:txBody>
          <a:bodyPr lIns="90000" tIns="45000" rIns="90000" bIns="45000" anchor="t">
            <a:noAutofit/>
          </a:bodyPr>
          <a:lstStyle/>
          <a:p>
            <a:r>
              <a:rPr lang="en-US" sz="1000" b="0" i="1" strike="noStrike" spc="-1">
                <a:solidFill>
                  <a:srgbClr val="62728B"/>
                </a:solidFill>
                <a:latin typeface="Calibri-Italic"/>
                <a:ea typeface="Calibri-Italic"/>
              </a:rPr>
              <a:t>Test accuracy vs training time (epochs x batch time)</a:t>
            </a:r>
            <a:endParaRPr lang="en-US" sz="1000" b="0" strike="noStrike" spc="-1">
              <a:solidFill>
                <a:srgbClr val="000000"/>
              </a:solidFill>
              <a:latin typeface="Arial"/>
            </a:endParaRPr>
          </a:p>
        </p:txBody>
      </p:sp>
      <p:grpSp>
        <p:nvGrpSpPr>
          <p:cNvPr id="732" name="Group 731"/>
          <p:cNvGrpSpPr/>
          <p:nvPr/>
        </p:nvGrpSpPr>
        <p:grpSpPr>
          <a:xfrm>
            <a:off x="365760" y="4426200"/>
            <a:ext cx="8413200" cy="549000"/>
            <a:chOff x="365760" y="4426200"/>
            <a:chExt cx="8413200" cy="549000"/>
          </a:xfrm>
        </p:grpSpPr>
        <p:sp>
          <p:nvSpPr>
            <p:cNvPr id="733" name="Freeform 732"/>
            <p:cNvSpPr/>
            <p:nvPr/>
          </p:nvSpPr>
          <p:spPr>
            <a:xfrm>
              <a:off x="365760" y="4426200"/>
              <a:ext cx="8413200" cy="549000"/>
            </a:xfrm>
            <a:custGeom>
              <a:avLst/>
              <a:gdLst/>
              <a:ahLst/>
              <a:cxnLst/>
              <a:rect l="0" t="0" r="r" b="b"/>
              <a:pathLst>
                <a:path w="23370" h="1525">
                  <a:moveTo>
                    <a:pt x="0" y="0"/>
                  </a:moveTo>
                  <a:lnTo>
                    <a:pt x="23370" y="0"/>
                  </a:lnTo>
                  <a:lnTo>
                    <a:pt x="23370" y="1525"/>
                  </a:lnTo>
                  <a:lnTo>
                    <a:pt x="0" y="1525"/>
                  </a:lnTo>
                  <a:lnTo>
                    <a:pt x="0" y="0"/>
                  </a:lnTo>
                  <a:close/>
                </a:path>
              </a:pathLst>
            </a:custGeom>
            <a:solidFill>
              <a:srgbClr val="EEF2F9"/>
            </a:solidFill>
            <a:ln w="9000">
              <a:solidFill>
                <a:srgbClr val="C5D3E8"/>
              </a:solidFill>
              <a:round/>
            </a:ln>
          </p:spPr>
          <p:txBody>
            <a:bodyPr lIns="94320" tIns="49320" rIns="94320" bIns="49320" anchor="t">
              <a:noAutofit/>
            </a:bodyPr>
            <a:lstStyle/>
            <a:p>
              <a:endParaRPr lang="en-US" sz="1800" b="0" strike="noStrike" spc="-1">
                <a:solidFill>
                  <a:srgbClr val="000000"/>
                </a:solidFill>
                <a:latin typeface="Arial"/>
              </a:endParaRPr>
            </a:p>
          </p:txBody>
        </p:sp>
        <p:sp>
          <p:nvSpPr>
            <p:cNvPr id="734" name="TextBox 733"/>
            <p:cNvSpPr txBox="1"/>
            <p:nvPr/>
          </p:nvSpPr>
          <p:spPr>
            <a:xfrm>
              <a:off x="415080" y="4430880"/>
              <a:ext cx="8313840" cy="539640"/>
            </a:xfrm>
            <a:prstGeom prst="rect">
              <a:avLst/>
            </a:prstGeom>
            <a:noFill/>
            <a:ln w="0">
              <a:noFill/>
            </a:ln>
          </p:spPr>
          <p:txBody>
            <a:bodyPr lIns="90000" tIns="45000" rIns="90000" bIns="45000" anchor="t">
              <a:noAutofit/>
            </a:bodyPr>
            <a:lstStyle/>
            <a:p>
              <a:r>
                <a:rPr lang="en-US" sz="1000" b="1" strike="noStrike" spc="-1">
                  <a:solidFill>
                    <a:srgbClr val="2361EB"/>
                  </a:solidFill>
                  <a:latin typeface="Calibri-Bold"/>
                  <a:ea typeface="Calibri-Bold"/>
                </a:rPr>
                <a:t>🔑  C</a:t>
              </a:r>
              <a:r>
                <a:rPr lang="en-US" sz="1000" b="0" strike="noStrike" spc="-1">
                  <a:solidFill>
                    <a:srgbClr val="182C48"/>
                  </a:solidFill>
                  <a:latin typeface="Calibri"/>
                  <a:ea typeface="Calibri"/>
                </a:rPr>
                <a:t>lassifier-only fine-tuning offers an excellent accuracy-to-cost tradeoff. </a:t>
              </a:r>
              <a:r>
                <a:rPr lang="nl-NL" sz="1000" b="0" strike="noStrike" spc="-1">
                  <a:solidFill>
                    <a:srgbClr val="182C48"/>
                  </a:solidFill>
                  <a:latin typeface="Calibri"/>
                  <a:ea typeface="Calibri"/>
                </a:rPr>
                <a:t>M</a:t>
              </a:r>
              <a:r>
                <a:rPr lang="en-US" sz="1000" b="0" strike="noStrike" spc="-1">
                  <a:solidFill>
                    <a:srgbClr val="182C48"/>
                  </a:solidFill>
                  <a:latin typeface="Calibri"/>
                  <a:ea typeface="Calibri"/>
                </a:rPr>
                <a:t>ore extensive fine-tuning (last blocks or full fine-tuning) produced only marginal accuracy improvements, showing that pretrained feature representations were already highly effective for the dataset.</a:t>
              </a:r>
              <a:endParaRPr lang="en-US" sz="1000" b="0" strike="noStrike" spc="-1">
                <a:solidFill>
                  <a:srgbClr val="000000"/>
                </a:solidFill>
                <a:latin typeface="Arial"/>
              </a:endParaRPr>
            </a:p>
          </p:txBody>
        </p:sp>
      </p:grpSp>
      <p:pic>
        <p:nvPicPr>
          <p:cNvPr id="735" name="Picture 734"/>
          <p:cNvPicPr/>
          <p:nvPr/>
        </p:nvPicPr>
        <p:blipFill>
          <a:blip r:embed="rId2"/>
          <a:stretch/>
        </p:blipFill>
        <p:spPr>
          <a:xfrm>
            <a:off x="600480" y="1508760"/>
            <a:ext cx="4036320" cy="2222280"/>
          </a:xfrm>
          <a:prstGeom prst="rect">
            <a:avLst/>
          </a:prstGeom>
          <a:ln w="0">
            <a:noFill/>
          </a:ln>
        </p:spPr>
      </p:pic>
      <p:pic>
        <p:nvPicPr>
          <p:cNvPr id="736" name="Picture 735"/>
          <p:cNvPicPr/>
          <p:nvPr/>
        </p:nvPicPr>
        <p:blipFill>
          <a:blip r:embed="rId3"/>
          <a:stretch/>
        </p:blipFill>
        <p:spPr>
          <a:xfrm>
            <a:off x="4986720" y="1453680"/>
            <a:ext cx="3737520" cy="2654280"/>
          </a:xfrm>
          <a:prstGeom prst="rect">
            <a:avLst/>
          </a:prstGeom>
          <a:ln w="0">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 name="Freeform 719"/>
          <p:cNvSpPr/>
          <p:nvPr/>
        </p:nvSpPr>
        <p:spPr>
          <a:xfrm>
            <a:off x="-1" y="0"/>
            <a:ext cx="9144722" cy="55441"/>
          </a:xfrm>
          <a:prstGeom prst="rect">
            <a:avLst/>
          </a:prstGeom>
          <a:solidFill>
            <a:srgbClr val="2361EB"/>
          </a:solidFill>
          <a:ln w="12700">
            <a:miter lim="400000"/>
          </a:ln>
        </p:spPr>
        <p:txBody>
          <a:bodyPr lIns="45719" rIns="45719"/>
          <a:lstStyle/>
          <a:p>
            <a:pPr>
              <a:defRPr spc="-1">
                <a:solidFill>
                  <a:srgbClr val="FFFFFF"/>
                </a:solidFill>
              </a:defRPr>
            </a:pPr>
            <a:endParaRPr/>
          </a:p>
        </p:txBody>
      </p:sp>
      <p:sp>
        <p:nvSpPr>
          <p:cNvPr id="810" name="TextBox 720"/>
          <p:cNvSpPr txBox="1"/>
          <p:nvPr/>
        </p:nvSpPr>
        <p:spPr>
          <a:xfrm>
            <a:off x="547199" y="164519"/>
            <a:ext cx="8049602" cy="4362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999" tIns="44999" rIns="44999" bIns="44999">
            <a:spAutoFit/>
          </a:bodyPr>
          <a:lstStyle>
            <a:lvl1pPr>
              <a:defRPr sz="2600" b="1" spc="-1">
                <a:solidFill>
                  <a:srgbClr val="182C48"/>
                </a:solidFill>
                <a:latin typeface="Calibri"/>
                <a:ea typeface="Calibri"/>
                <a:cs typeface="Calibri"/>
                <a:sym typeface="Calibri"/>
              </a:defRPr>
            </a:lvl1pPr>
          </a:lstStyle>
          <a:p>
            <a:r>
              <a:t>Confusion Matrix (Baseline CNN vs ConvNeXt)</a:t>
            </a:r>
          </a:p>
        </p:txBody>
      </p:sp>
      <p:sp>
        <p:nvSpPr>
          <p:cNvPr id="811" name="Straight Connector 722"/>
          <p:cNvSpPr/>
          <p:nvPr/>
        </p:nvSpPr>
        <p:spPr>
          <a:xfrm>
            <a:off x="457200" y="591819"/>
            <a:ext cx="8229600" cy="1"/>
          </a:xfrm>
          <a:prstGeom prst="line">
            <a:avLst/>
          </a:prstGeom>
          <a:ln w="12600">
            <a:solidFill>
              <a:srgbClr val="E2E8F0"/>
            </a:solidFill>
          </a:ln>
        </p:spPr>
        <p:txBody>
          <a:bodyPr lIns="45719" rIns="45719"/>
          <a:lstStyle/>
          <a:p>
            <a:endParaRPr/>
          </a:p>
        </p:txBody>
      </p:sp>
      <p:sp>
        <p:nvSpPr>
          <p:cNvPr id="812" name="Freeform 723"/>
          <p:cNvSpPr/>
          <p:nvPr/>
        </p:nvSpPr>
        <p:spPr>
          <a:xfrm>
            <a:off x="365759" y="728980"/>
            <a:ext cx="4339082" cy="3653126"/>
          </a:xfrm>
          <a:prstGeom prst="rect">
            <a:avLst/>
          </a:prstGeom>
          <a:solidFill>
            <a:srgbClr val="FFFFFF"/>
          </a:solidFill>
          <a:ln w="6480">
            <a:solidFill>
              <a:srgbClr val="E2E8F0"/>
            </a:solidFill>
          </a:ln>
        </p:spPr>
        <p:txBody>
          <a:bodyPr lIns="45719" rIns="45719"/>
          <a:lstStyle/>
          <a:p>
            <a:pPr>
              <a:defRPr spc="-1"/>
            </a:pPr>
            <a:endParaRPr/>
          </a:p>
        </p:txBody>
      </p:sp>
      <p:sp>
        <p:nvSpPr>
          <p:cNvPr id="813" name="Freeform 727"/>
          <p:cNvSpPr/>
          <p:nvPr/>
        </p:nvSpPr>
        <p:spPr>
          <a:xfrm>
            <a:off x="4820760" y="732579"/>
            <a:ext cx="3918961" cy="3645927"/>
          </a:xfrm>
          <a:prstGeom prst="rect">
            <a:avLst/>
          </a:prstGeom>
          <a:solidFill>
            <a:srgbClr val="FFFFFF"/>
          </a:solidFill>
          <a:ln w="6480">
            <a:solidFill>
              <a:srgbClr val="E2E8F0"/>
            </a:solidFill>
          </a:ln>
        </p:spPr>
        <p:txBody>
          <a:bodyPr lIns="45719" rIns="45719"/>
          <a:lstStyle/>
          <a:p>
            <a:pPr>
              <a:defRPr spc="-1"/>
            </a:pPr>
            <a:endParaRPr/>
          </a:p>
        </p:txBody>
      </p:sp>
      <p:pic>
        <p:nvPicPr>
          <p:cNvPr id="814" name="baseline_confusion_matrix.png" descr="baseline_confusion_matrix.png"/>
          <p:cNvPicPr>
            <a:picLocks noChangeAspect="1"/>
          </p:cNvPicPr>
          <p:nvPr/>
        </p:nvPicPr>
        <p:blipFill>
          <a:blip r:embed="rId2"/>
          <a:stretch>
            <a:fillRect/>
          </a:stretch>
        </p:blipFill>
        <p:spPr>
          <a:xfrm>
            <a:off x="712310" y="861343"/>
            <a:ext cx="3645980" cy="3447289"/>
          </a:xfrm>
          <a:prstGeom prst="rect">
            <a:avLst/>
          </a:prstGeom>
          <a:ln w="12700">
            <a:miter lim="400000"/>
          </a:ln>
        </p:spPr>
      </p:pic>
      <p:pic>
        <p:nvPicPr>
          <p:cNvPr id="815" name="convnext_confusion_matrix.png" descr="convnext_confusion_matrix.png"/>
          <p:cNvPicPr>
            <a:picLocks noChangeAspect="1"/>
          </p:cNvPicPr>
          <p:nvPr/>
        </p:nvPicPr>
        <p:blipFill>
          <a:blip r:embed="rId3"/>
          <a:stretch>
            <a:fillRect/>
          </a:stretch>
        </p:blipFill>
        <p:spPr>
          <a:xfrm>
            <a:off x="4957250" y="870612"/>
            <a:ext cx="3645980" cy="3428751"/>
          </a:xfrm>
          <a:prstGeom prst="rect">
            <a:avLst/>
          </a:prstGeom>
          <a:ln w="12700">
            <a:miter lim="400000"/>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720" cy="55440"/>
          </a:xfrm>
          <a:prstGeom prst="rect">
            <a:avLst/>
          </a:prstGeom>
          <a:solidFill>
            <a:srgbClr val="2361EB"/>
          </a:solidFill>
        </p:spPr>
        <p:txBody>
          <a:bodyPr/>
          <a:lstStyle/>
          <a:p>
            <a:endParaRPr/>
          </a:p>
        </p:txBody>
      </p:sp>
      <p:sp>
        <p:nvSpPr>
          <p:cNvPr id="3" name="TextBox 2"/>
          <p:cNvSpPr txBox="1"/>
          <p:nvPr/>
        </p:nvSpPr>
        <p:spPr>
          <a:xfrm>
            <a:off x="502200" y="164520"/>
            <a:ext cx="8139600" cy="502920"/>
          </a:xfrm>
          <a:prstGeom prst="rect">
            <a:avLst/>
          </a:prstGeom>
          <a:noFill/>
          <a:ln w="0">
            <a:noFill/>
          </a:ln>
        </p:spPr>
        <p:txBody>
          <a:bodyPr lIns="90000" tIns="45000" rIns="90000" bIns="45000" anchor="t">
            <a:noAutofit/>
          </a:bodyPr>
          <a:lstStyle/>
          <a:p>
            <a:r>
              <a:rPr lang="en-US" sz="2600" b="1" strike="noStrike" spc="-1">
                <a:solidFill>
                  <a:srgbClr val="182C48"/>
                </a:solidFill>
                <a:latin typeface="Calibri-Bold"/>
              </a:rPr>
              <a:t>Classification App — Architecture</a:t>
            </a:r>
          </a:p>
        </p:txBody>
      </p:sp>
      <p:sp>
        <p:nvSpPr>
          <p:cNvPr id="4" name="TextBox 3"/>
          <p:cNvSpPr txBox="1"/>
          <p:nvPr/>
        </p:nvSpPr>
        <p:spPr>
          <a:xfrm>
            <a:off x="502200" y="658440"/>
            <a:ext cx="8139600" cy="292680"/>
          </a:xfrm>
          <a:prstGeom prst="rect">
            <a:avLst/>
          </a:prstGeom>
          <a:noFill/>
          <a:ln w="0">
            <a:noFill/>
          </a:ln>
        </p:spPr>
        <p:txBody>
          <a:bodyPr lIns="90000" tIns="45000" rIns="90000" bIns="45000" anchor="t">
            <a:noAutofit/>
          </a:bodyPr>
          <a:lstStyle/>
          <a:p>
            <a:r>
              <a:rPr lang="en-US" sz="1200" b="0" i="1" strike="noStrike" spc="-1" dirty="0" err="1">
                <a:solidFill>
                  <a:srgbClr val="62728B"/>
                </a:solidFill>
                <a:latin typeface="Calibri-Italic"/>
              </a:rPr>
              <a:t>Streamlit</a:t>
            </a:r>
            <a:r>
              <a:rPr lang="en-US" sz="1200" b="0" i="1" strike="noStrike" spc="-1" dirty="0">
                <a:solidFill>
                  <a:srgbClr val="62728B"/>
                </a:solidFill>
                <a:latin typeface="Calibri-Italic"/>
              </a:rPr>
              <a:t> web app • 4 selectable models • top-3 predictions with confidence</a:t>
            </a:r>
          </a:p>
        </p:txBody>
      </p:sp>
      <p:sp>
        <p:nvSpPr>
          <p:cNvPr id="5" name="Straight Connector 4"/>
          <p:cNvSpPr/>
          <p:nvPr/>
        </p:nvSpPr>
        <p:spPr>
          <a:xfrm>
            <a:off x="457200" y="960120"/>
            <a:ext cx="8229600" cy="0"/>
          </a:xfrm>
          <a:prstGeom prst="line">
            <a:avLst/>
          </a:prstGeom>
          <a:ln w="12600">
            <a:solidFill>
              <a:srgbClr val="E2E8F0"/>
            </a:solidFill>
            <a:round/>
          </a:ln>
        </p:spPr>
        <p:txBody>
          <a:bodyPr/>
          <a:lstStyle/>
          <a:p>
            <a:endParaRPr/>
          </a:p>
        </p:txBody>
      </p:sp>
      <p:sp>
        <p:nvSpPr>
          <p:cNvPr id="6" name="TextBox 5"/>
          <p:cNvSpPr txBox="1"/>
          <p:nvPr/>
        </p:nvSpPr>
        <p:spPr>
          <a:xfrm>
            <a:off x="274320" y="990000"/>
            <a:ext cx="2000000" cy="220000"/>
          </a:xfrm>
          <a:prstGeom prst="rect">
            <a:avLst/>
          </a:prstGeom>
          <a:noFill/>
          <a:ln w="0">
            <a:noFill/>
          </a:ln>
        </p:spPr>
        <p:txBody>
          <a:bodyPr lIns="90000" tIns="30000" rIns="90000" bIns="30000" anchor="t">
            <a:noAutofit/>
          </a:bodyPr>
          <a:lstStyle/>
          <a:p>
            <a:r>
              <a:rPr lang="en-US" sz="1100" b="1" strike="noStrike" spc="-1">
                <a:solidFill>
                  <a:srgbClr val="182C48"/>
                </a:solidFill>
                <a:latin typeface="Calibri-Bold"/>
              </a:rPr>
              <a:t>Inference Pipeline</a:t>
            </a:r>
          </a:p>
        </p:txBody>
      </p:sp>
      <p:sp>
        <p:nvSpPr>
          <p:cNvPr id="10" name="Rectangle 9"/>
          <p:cNvSpPr/>
          <p:nvPr/>
        </p:nvSpPr>
        <p:spPr>
          <a:xfrm>
            <a:off x="274320" y="1215000"/>
            <a:ext cx="1250000" cy="560000"/>
          </a:xfrm>
          <a:prstGeom prst="rect">
            <a:avLst/>
          </a:prstGeom>
          <a:solidFill>
            <a:srgbClr val="62728B"/>
          </a:solidFill>
          <a:ln w="0">
            <a:noFill/>
          </a:ln>
        </p:spPr>
        <p:txBody>
          <a:bodyPr/>
          <a:lstStyle/>
          <a:p>
            <a:endParaRPr/>
          </a:p>
        </p:txBody>
      </p:sp>
      <p:sp>
        <p:nvSpPr>
          <p:cNvPr id="11" name="TextBox 10"/>
          <p:cNvSpPr txBox="1"/>
          <p:nvPr/>
        </p:nvSpPr>
        <p:spPr>
          <a:xfrm>
            <a:off x="274320" y="1215000"/>
            <a:ext cx="1250000" cy="560000"/>
          </a:xfrm>
          <a:prstGeom prst="rect">
            <a:avLst/>
          </a:prstGeom>
          <a:noFill/>
          <a:ln w="0">
            <a:noFill/>
          </a:ln>
        </p:spPr>
        <p:txBody>
          <a:bodyPr lIns="60000" tIns="60000" rIns="60000" bIns="60000" anchor="ctr">
            <a:noAutofit/>
          </a:bodyPr>
          <a:lstStyle/>
          <a:p>
            <a:pPr algn="ctr"/>
            <a:r>
              <a:rPr lang="en-US" sz="1100" b="1" spc="-1">
                <a:solidFill>
                  <a:srgbClr val="FFFFFF"/>
                </a:solidFill>
                <a:latin typeface="Calibri-Bold"/>
              </a:rPr>
              <a:t>Upload Image</a:t>
            </a:r>
          </a:p>
          <a:p>
            <a:pPr algn="ctr"/>
            <a:r>
              <a:rPr lang="en-US" sz="900" b="0" spc="-1">
                <a:solidFill>
                  <a:srgbClr val="D0D8E4"/>
                </a:solidFill>
                <a:latin typeface="Calibri"/>
              </a:rPr>
              <a:t>JPG / PNG</a:t>
            </a:r>
          </a:p>
        </p:txBody>
      </p:sp>
      <p:sp>
        <p:nvSpPr>
          <p:cNvPr id="12" name="Straight Connector 11"/>
          <p:cNvSpPr/>
          <p:nvPr/>
        </p:nvSpPr>
        <p:spPr>
          <a:xfrm>
            <a:off x="1524320" y="1495000"/>
            <a:ext cx="250000" cy="0"/>
          </a:xfrm>
          <a:prstGeom prst="line">
            <a:avLst/>
          </a:prstGeom>
          <a:ln w="25000">
            <a:solidFill>
              <a:srgbClr val="94A3B8"/>
            </a:solidFill>
            <a:round/>
            <a:tailEnd type="triangle" w="med" len="med"/>
          </a:ln>
        </p:spPr>
        <p:txBody>
          <a:bodyPr/>
          <a:lstStyle/>
          <a:p>
            <a:endParaRPr/>
          </a:p>
        </p:txBody>
      </p:sp>
      <p:sp>
        <p:nvSpPr>
          <p:cNvPr id="13" name="Rectangle 12"/>
          <p:cNvSpPr/>
          <p:nvPr/>
        </p:nvSpPr>
        <p:spPr>
          <a:xfrm>
            <a:off x="1774320" y="1215000"/>
            <a:ext cx="1400000" cy="560000"/>
          </a:xfrm>
          <a:prstGeom prst="rect">
            <a:avLst/>
          </a:prstGeom>
          <a:solidFill>
            <a:srgbClr val="2361EB"/>
          </a:solidFill>
          <a:ln w="0">
            <a:noFill/>
          </a:ln>
        </p:spPr>
        <p:txBody>
          <a:bodyPr/>
          <a:lstStyle/>
          <a:p>
            <a:endParaRPr/>
          </a:p>
        </p:txBody>
      </p:sp>
      <p:sp>
        <p:nvSpPr>
          <p:cNvPr id="14" name="TextBox 13"/>
          <p:cNvSpPr txBox="1"/>
          <p:nvPr/>
        </p:nvSpPr>
        <p:spPr>
          <a:xfrm>
            <a:off x="1774320" y="1215000"/>
            <a:ext cx="1400000" cy="560000"/>
          </a:xfrm>
          <a:prstGeom prst="rect">
            <a:avLst/>
          </a:prstGeom>
          <a:noFill/>
          <a:ln w="0">
            <a:noFill/>
          </a:ln>
        </p:spPr>
        <p:txBody>
          <a:bodyPr lIns="60000" tIns="60000" rIns="60000" bIns="60000" anchor="ctr">
            <a:noAutofit/>
          </a:bodyPr>
          <a:lstStyle/>
          <a:p>
            <a:pPr algn="ctr"/>
            <a:r>
              <a:rPr lang="en-US" sz="1100" b="1" spc="-1">
                <a:solidFill>
                  <a:srgbClr val="FFFFFF"/>
                </a:solidFill>
                <a:latin typeface="Calibri-Bold"/>
              </a:rPr>
              <a:t>Preprocess</a:t>
            </a:r>
          </a:p>
          <a:p>
            <a:pPr algn="ctr"/>
            <a:r>
              <a:rPr lang="en-US" sz="900" b="0" spc="-1">
                <a:solidFill>
                  <a:srgbClr val="C8D8FF"/>
                </a:solidFill>
                <a:latin typeface="Calibri"/>
              </a:rPr>
              <a:t>Resize + Normalize</a:t>
            </a:r>
          </a:p>
        </p:txBody>
      </p:sp>
      <p:sp>
        <p:nvSpPr>
          <p:cNvPr id="15" name="Straight Connector 14"/>
          <p:cNvSpPr/>
          <p:nvPr/>
        </p:nvSpPr>
        <p:spPr>
          <a:xfrm>
            <a:off x="3174320" y="1495000"/>
            <a:ext cx="250000" cy="0"/>
          </a:xfrm>
          <a:prstGeom prst="line">
            <a:avLst/>
          </a:prstGeom>
          <a:ln w="25000">
            <a:solidFill>
              <a:srgbClr val="94A3B8"/>
            </a:solidFill>
            <a:round/>
            <a:tailEnd type="triangle" w="med" len="med"/>
          </a:ln>
        </p:spPr>
        <p:txBody>
          <a:bodyPr/>
          <a:lstStyle/>
          <a:p>
            <a:endParaRPr/>
          </a:p>
        </p:txBody>
      </p:sp>
      <p:sp>
        <p:nvSpPr>
          <p:cNvPr id="16" name="Rectangle 15"/>
          <p:cNvSpPr/>
          <p:nvPr/>
        </p:nvSpPr>
        <p:spPr>
          <a:xfrm>
            <a:off x="3424320" y="1215000"/>
            <a:ext cx="1700000" cy="560000"/>
          </a:xfrm>
          <a:prstGeom prst="rect">
            <a:avLst/>
          </a:prstGeom>
          <a:solidFill>
            <a:srgbClr val="0691B2"/>
          </a:solidFill>
          <a:ln w="0">
            <a:noFill/>
          </a:ln>
        </p:spPr>
        <p:txBody>
          <a:bodyPr/>
          <a:lstStyle/>
          <a:p>
            <a:endParaRPr/>
          </a:p>
        </p:txBody>
      </p:sp>
      <p:sp>
        <p:nvSpPr>
          <p:cNvPr id="17" name="TextBox 16"/>
          <p:cNvSpPr txBox="1"/>
          <p:nvPr/>
        </p:nvSpPr>
        <p:spPr>
          <a:xfrm>
            <a:off x="3424320" y="1215000"/>
            <a:ext cx="1700000" cy="560000"/>
          </a:xfrm>
          <a:prstGeom prst="rect">
            <a:avLst/>
          </a:prstGeom>
          <a:noFill/>
          <a:ln w="0">
            <a:noFill/>
          </a:ln>
        </p:spPr>
        <p:txBody>
          <a:bodyPr lIns="60000" tIns="60000" rIns="60000" bIns="60000" anchor="ctr">
            <a:noAutofit/>
          </a:bodyPr>
          <a:lstStyle/>
          <a:p>
            <a:pPr algn="ctr"/>
            <a:r>
              <a:rPr lang="en-US" sz="1100" b="1" spc="-1" dirty="0">
                <a:solidFill>
                  <a:srgbClr val="FFFFFF"/>
                </a:solidFill>
                <a:latin typeface="Calibri-Bold"/>
              </a:rPr>
              <a:t>Model Inference</a:t>
            </a:r>
          </a:p>
          <a:p>
            <a:pPr algn="ctr"/>
            <a:r>
              <a:rPr lang="en-US" sz="900" b="0" spc="-1" dirty="0">
                <a:solidFill>
                  <a:srgbClr val="C8F0FF"/>
                </a:solidFill>
                <a:latin typeface="Calibri"/>
              </a:rPr>
              <a:t>CNN/ </a:t>
            </a:r>
            <a:r>
              <a:rPr lang="en-US" sz="900" b="0" spc="-1" dirty="0" err="1">
                <a:solidFill>
                  <a:srgbClr val="C8F0FF"/>
                </a:solidFill>
                <a:latin typeface="Calibri"/>
              </a:rPr>
              <a:t>ResNet</a:t>
            </a:r>
            <a:r>
              <a:rPr lang="en-US" sz="900" b="0" spc="-1" dirty="0">
                <a:solidFill>
                  <a:srgbClr val="C8F0FF"/>
                </a:solidFill>
                <a:latin typeface="Calibri"/>
              </a:rPr>
              <a:t> / ConvNeXt / </a:t>
            </a:r>
            <a:r>
              <a:rPr lang="en-US" sz="900" b="0" spc="-1" dirty="0" err="1">
                <a:solidFill>
                  <a:srgbClr val="C8F0FF"/>
                </a:solidFill>
                <a:latin typeface="Calibri"/>
              </a:rPr>
              <a:t>ViT</a:t>
            </a:r>
            <a:endParaRPr lang="en-US" sz="900" b="0" spc="-1" dirty="0">
              <a:solidFill>
                <a:srgbClr val="C8F0FF"/>
              </a:solidFill>
              <a:latin typeface="Calibri"/>
            </a:endParaRPr>
          </a:p>
        </p:txBody>
      </p:sp>
      <p:sp>
        <p:nvSpPr>
          <p:cNvPr id="18" name="Straight Connector 17"/>
          <p:cNvSpPr/>
          <p:nvPr/>
        </p:nvSpPr>
        <p:spPr>
          <a:xfrm>
            <a:off x="5124320" y="1495000"/>
            <a:ext cx="250000" cy="0"/>
          </a:xfrm>
          <a:prstGeom prst="line">
            <a:avLst/>
          </a:prstGeom>
          <a:ln w="25000">
            <a:solidFill>
              <a:srgbClr val="94A3B8"/>
            </a:solidFill>
            <a:round/>
            <a:tailEnd type="triangle" w="med" len="med"/>
          </a:ln>
        </p:spPr>
        <p:txBody>
          <a:bodyPr/>
          <a:lstStyle/>
          <a:p>
            <a:endParaRPr/>
          </a:p>
        </p:txBody>
      </p:sp>
      <p:sp>
        <p:nvSpPr>
          <p:cNvPr id="19" name="Rectangle 18"/>
          <p:cNvSpPr/>
          <p:nvPr/>
        </p:nvSpPr>
        <p:spPr>
          <a:xfrm>
            <a:off x="5374320" y="1215000"/>
            <a:ext cx="1300000" cy="560000"/>
          </a:xfrm>
          <a:prstGeom prst="rect">
            <a:avLst/>
          </a:prstGeom>
          <a:solidFill>
            <a:srgbClr val="2361EB"/>
          </a:solidFill>
          <a:ln w="0">
            <a:noFill/>
          </a:ln>
        </p:spPr>
        <p:txBody>
          <a:bodyPr/>
          <a:lstStyle/>
          <a:p>
            <a:endParaRPr/>
          </a:p>
        </p:txBody>
      </p:sp>
      <p:sp>
        <p:nvSpPr>
          <p:cNvPr id="20" name="TextBox 19"/>
          <p:cNvSpPr txBox="1"/>
          <p:nvPr/>
        </p:nvSpPr>
        <p:spPr>
          <a:xfrm>
            <a:off x="5374320" y="1215000"/>
            <a:ext cx="1300000" cy="560000"/>
          </a:xfrm>
          <a:prstGeom prst="rect">
            <a:avLst/>
          </a:prstGeom>
          <a:noFill/>
          <a:ln w="0">
            <a:noFill/>
          </a:ln>
        </p:spPr>
        <p:txBody>
          <a:bodyPr lIns="60000" tIns="60000" rIns="60000" bIns="60000" anchor="ctr">
            <a:noAutofit/>
          </a:bodyPr>
          <a:lstStyle/>
          <a:p>
            <a:pPr algn="ctr"/>
            <a:r>
              <a:rPr lang="en-US" sz="1100" b="1" spc="-1">
                <a:solidFill>
                  <a:srgbClr val="FFFFFF"/>
                </a:solidFill>
                <a:latin typeface="Calibri-Bold"/>
              </a:rPr>
              <a:t>Softmax</a:t>
            </a:r>
          </a:p>
          <a:p>
            <a:pPr algn="ctr"/>
            <a:r>
              <a:rPr lang="en-US" sz="900" b="0" spc="-1">
                <a:solidFill>
                  <a:srgbClr val="C8D8FF"/>
                </a:solidFill>
                <a:latin typeface="Calibri"/>
              </a:rPr>
              <a:t>Probabilities</a:t>
            </a:r>
          </a:p>
        </p:txBody>
      </p:sp>
      <p:sp>
        <p:nvSpPr>
          <p:cNvPr id="21" name="Straight Connector 20"/>
          <p:cNvSpPr/>
          <p:nvPr/>
        </p:nvSpPr>
        <p:spPr>
          <a:xfrm>
            <a:off x="6674320" y="1495000"/>
            <a:ext cx="250000" cy="0"/>
          </a:xfrm>
          <a:prstGeom prst="line">
            <a:avLst/>
          </a:prstGeom>
          <a:ln w="25000">
            <a:solidFill>
              <a:srgbClr val="94A3B8"/>
            </a:solidFill>
            <a:round/>
            <a:tailEnd type="triangle" w="med" len="med"/>
          </a:ln>
        </p:spPr>
        <p:txBody>
          <a:bodyPr/>
          <a:lstStyle/>
          <a:p>
            <a:endParaRPr/>
          </a:p>
        </p:txBody>
      </p:sp>
      <p:sp>
        <p:nvSpPr>
          <p:cNvPr id="22" name="Rectangle 21"/>
          <p:cNvSpPr/>
          <p:nvPr/>
        </p:nvSpPr>
        <p:spPr>
          <a:xfrm>
            <a:off x="6924320" y="1215000"/>
            <a:ext cx="1500000" cy="560000"/>
          </a:xfrm>
          <a:prstGeom prst="rect">
            <a:avLst/>
          </a:prstGeom>
          <a:solidFill>
            <a:srgbClr val="039667"/>
          </a:solidFill>
          <a:ln w="0">
            <a:noFill/>
          </a:ln>
        </p:spPr>
        <p:txBody>
          <a:bodyPr/>
          <a:lstStyle/>
          <a:p>
            <a:endParaRPr/>
          </a:p>
        </p:txBody>
      </p:sp>
      <p:sp>
        <p:nvSpPr>
          <p:cNvPr id="23" name="TextBox 22"/>
          <p:cNvSpPr txBox="1"/>
          <p:nvPr/>
        </p:nvSpPr>
        <p:spPr>
          <a:xfrm>
            <a:off x="6924320" y="1215000"/>
            <a:ext cx="1500000" cy="560000"/>
          </a:xfrm>
          <a:prstGeom prst="rect">
            <a:avLst/>
          </a:prstGeom>
          <a:noFill/>
          <a:ln w="0">
            <a:noFill/>
          </a:ln>
        </p:spPr>
        <p:txBody>
          <a:bodyPr lIns="60000" tIns="60000" rIns="60000" bIns="60000" anchor="ctr">
            <a:noAutofit/>
          </a:bodyPr>
          <a:lstStyle/>
          <a:p>
            <a:pPr algn="ctr"/>
            <a:r>
              <a:rPr lang="en-US" sz="1100" b="1" spc="-1">
                <a:solidFill>
                  <a:srgbClr val="FFFFFF"/>
                </a:solidFill>
                <a:latin typeface="Calibri-Bold"/>
              </a:rPr>
              <a:t>Top-3 Output</a:t>
            </a:r>
          </a:p>
          <a:p>
            <a:pPr algn="ctr"/>
            <a:r>
              <a:rPr lang="en-US" sz="900" b="0" spc="-1">
                <a:solidFill>
                  <a:srgbClr val="B8F0D8"/>
                </a:solidFill>
                <a:latin typeface="Calibri"/>
              </a:rPr>
              <a:t>Breed + Confidence</a:t>
            </a:r>
          </a:p>
        </p:txBody>
      </p:sp>
      <p:sp>
        <p:nvSpPr>
          <p:cNvPr id="30" name="Rectangle 29"/>
          <p:cNvSpPr/>
          <p:nvPr/>
        </p:nvSpPr>
        <p:spPr>
          <a:xfrm>
            <a:off x="274320" y="1950000"/>
            <a:ext cx="4000000" cy="2870000"/>
          </a:xfrm>
          <a:prstGeom prst="rect">
            <a:avLst/>
          </a:prstGeom>
          <a:solidFill>
            <a:srgbClr val="FFFFFF"/>
          </a:solidFill>
          <a:ln w="6480">
            <a:solidFill>
              <a:srgbClr val="E2E8F0"/>
            </a:solidFill>
            <a:round/>
          </a:ln>
        </p:spPr>
        <p:txBody>
          <a:bodyPr/>
          <a:lstStyle/>
          <a:p>
            <a:endParaRPr/>
          </a:p>
        </p:txBody>
      </p:sp>
      <p:sp>
        <p:nvSpPr>
          <p:cNvPr id="31" name="Rectangle 30"/>
          <p:cNvSpPr/>
          <p:nvPr/>
        </p:nvSpPr>
        <p:spPr>
          <a:xfrm>
            <a:off x="274320" y="1950000"/>
            <a:ext cx="60000" cy="2870000"/>
          </a:xfrm>
          <a:prstGeom prst="rect">
            <a:avLst/>
          </a:prstGeom>
          <a:solidFill>
            <a:srgbClr val="2361EB"/>
          </a:solidFill>
          <a:ln w="0">
            <a:noFill/>
          </a:ln>
        </p:spPr>
        <p:txBody>
          <a:bodyPr/>
          <a:lstStyle/>
          <a:p>
            <a:endParaRPr/>
          </a:p>
        </p:txBody>
      </p:sp>
      <p:sp>
        <p:nvSpPr>
          <p:cNvPr id="32" name="TextBox 31"/>
          <p:cNvSpPr txBox="1"/>
          <p:nvPr/>
        </p:nvSpPr>
        <p:spPr>
          <a:xfrm>
            <a:off x="440000" y="2010000"/>
            <a:ext cx="3700000" cy="270000"/>
          </a:xfrm>
          <a:prstGeom prst="rect">
            <a:avLst/>
          </a:prstGeom>
          <a:noFill/>
          <a:ln w="0">
            <a:noFill/>
          </a:ln>
        </p:spPr>
        <p:txBody>
          <a:bodyPr lIns="90000" tIns="30000" rIns="90000" bIns="30000" anchor="t">
            <a:noAutofit/>
          </a:bodyPr>
          <a:lstStyle/>
          <a:p>
            <a:r>
              <a:rPr lang="en-US" sz="1300" b="1" spc="-1">
                <a:solidFill>
                  <a:srgbClr val="182C48"/>
                </a:solidFill>
                <a:latin typeface="Calibri-Bold"/>
              </a:rPr>
              <a:t>Tech Stack</a:t>
            </a:r>
          </a:p>
        </p:txBody>
      </p:sp>
      <p:sp>
        <p:nvSpPr>
          <p:cNvPr id="33" name="Rectangle 32"/>
          <p:cNvSpPr/>
          <p:nvPr/>
        </p:nvSpPr>
        <p:spPr>
          <a:xfrm>
            <a:off x="340000" y="2350000"/>
            <a:ext cx="3850000" cy="280000"/>
          </a:xfrm>
          <a:prstGeom prst="rect">
            <a:avLst/>
          </a:prstGeom>
          <a:solidFill>
            <a:srgbClr val="F8FAFC"/>
          </a:solidFill>
          <a:ln w="6480">
            <a:solidFill>
              <a:srgbClr val="E2E8F0"/>
            </a:solidFill>
            <a:round/>
          </a:ln>
        </p:spPr>
        <p:txBody>
          <a:bodyPr/>
          <a:lstStyle/>
          <a:p>
            <a:endParaRPr/>
          </a:p>
        </p:txBody>
      </p:sp>
      <p:sp>
        <p:nvSpPr>
          <p:cNvPr id="34" name="TextBox 33"/>
          <p:cNvSpPr txBox="1"/>
          <p:nvPr/>
        </p:nvSpPr>
        <p:spPr>
          <a:xfrm>
            <a:off x="450000" y="2380000"/>
            <a:ext cx="1100000" cy="230000"/>
          </a:xfrm>
          <a:prstGeom prst="rect">
            <a:avLst/>
          </a:prstGeom>
          <a:noFill/>
          <a:ln w="0">
            <a:noFill/>
          </a:ln>
        </p:spPr>
        <p:txBody>
          <a:bodyPr lIns="90000" tIns="30000" rIns="90000" bIns="30000" anchor="t">
            <a:noAutofit/>
          </a:bodyPr>
          <a:lstStyle/>
          <a:p>
            <a:r>
              <a:rPr lang="en-US" sz="1000" b="1" spc="-1">
                <a:solidFill>
                  <a:srgbClr val="2361EB"/>
                </a:solidFill>
                <a:latin typeface="Calibri-Bold"/>
              </a:rPr>
              <a:t>Frontend</a:t>
            </a:r>
          </a:p>
        </p:txBody>
      </p:sp>
      <p:sp>
        <p:nvSpPr>
          <p:cNvPr id="35" name="TextBox 34"/>
          <p:cNvSpPr txBox="1"/>
          <p:nvPr/>
        </p:nvSpPr>
        <p:spPr>
          <a:xfrm>
            <a:off x="1700000" y="2380000"/>
            <a:ext cx="2350000" cy="230000"/>
          </a:xfrm>
          <a:prstGeom prst="rect">
            <a:avLst/>
          </a:prstGeom>
          <a:noFill/>
          <a:ln w="0">
            <a:noFill/>
          </a:ln>
        </p:spPr>
        <p:txBody>
          <a:bodyPr lIns="90000" tIns="30000" rIns="90000" bIns="30000" anchor="t">
            <a:noAutofit/>
          </a:bodyPr>
          <a:lstStyle/>
          <a:p>
            <a:r>
              <a:rPr lang="en-US" sz="1000" b="0" spc="-1">
                <a:solidFill>
                  <a:srgbClr val="1C2739"/>
                </a:solidFill>
                <a:latin typeface="Calibri"/>
              </a:rPr>
              <a:t>Streamlit</a:t>
            </a:r>
          </a:p>
        </p:txBody>
      </p:sp>
      <p:sp>
        <p:nvSpPr>
          <p:cNvPr id="36" name="Rectangle 35"/>
          <p:cNvSpPr/>
          <p:nvPr/>
        </p:nvSpPr>
        <p:spPr>
          <a:xfrm>
            <a:off x="340000" y="2640000"/>
            <a:ext cx="3850000" cy="280000"/>
          </a:xfrm>
          <a:prstGeom prst="rect">
            <a:avLst/>
          </a:prstGeom>
          <a:solidFill>
            <a:srgbClr val="FFFFFF"/>
          </a:solidFill>
          <a:ln w="6480">
            <a:solidFill>
              <a:srgbClr val="E2E8F0"/>
            </a:solidFill>
            <a:round/>
          </a:ln>
        </p:spPr>
        <p:txBody>
          <a:bodyPr/>
          <a:lstStyle/>
          <a:p>
            <a:endParaRPr/>
          </a:p>
        </p:txBody>
      </p:sp>
      <p:sp>
        <p:nvSpPr>
          <p:cNvPr id="37" name="TextBox 36"/>
          <p:cNvSpPr txBox="1"/>
          <p:nvPr/>
        </p:nvSpPr>
        <p:spPr>
          <a:xfrm>
            <a:off x="450000" y="2670000"/>
            <a:ext cx="1100000" cy="230000"/>
          </a:xfrm>
          <a:prstGeom prst="rect">
            <a:avLst/>
          </a:prstGeom>
          <a:noFill/>
          <a:ln w="0">
            <a:noFill/>
          </a:ln>
        </p:spPr>
        <p:txBody>
          <a:bodyPr lIns="90000" tIns="30000" rIns="90000" bIns="30000" anchor="t">
            <a:noAutofit/>
          </a:bodyPr>
          <a:lstStyle/>
          <a:p>
            <a:r>
              <a:rPr lang="en-US" sz="1000" b="1" spc="-1">
                <a:solidFill>
                  <a:srgbClr val="2361EB"/>
                </a:solidFill>
                <a:latin typeface="Calibri-Bold"/>
              </a:rPr>
              <a:t>DL / Models</a:t>
            </a:r>
          </a:p>
        </p:txBody>
      </p:sp>
      <p:sp>
        <p:nvSpPr>
          <p:cNvPr id="38" name="TextBox 37"/>
          <p:cNvSpPr txBox="1"/>
          <p:nvPr/>
        </p:nvSpPr>
        <p:spPr>
          <a:xfrm>
            <a:off x="1700000" y="2670000"/>
            <a:ext cx="2350000" cy="230000"/>
          </a:xfrm>
          <a:prstGeom prst="rect">
            <a:avLst/>
          </a:prstGeom>
          <a:noFill/>
          <a:ln w="0">
            <a:noFill/>
          </a:ln>
        </p:spPr>
        <p:txBody>
          <a:bodyPr lIns="90000" tIns="30000" rIns="90000" bIns="30000" anchor="t">
            <a:noAutofit/>
          </a:bodyPr>
          <a:lstStyle/>
          <a:p>
            <a:r>
              <a:rPr lang="en-US" sz="1000" b="0" spc="-1" dirty="0" err="1">
                <a:solidFill>
                  <a:srgbClr val="1C2739"/>
                </a:solidFill>
                <a:latin typeface="Calibri"/>
              </a:rPr>
              <a:t>PyTorch</a:t>
            </a:r>
            <a:r>
              <a:rPr lang="en-US" sz="1000" b="0" spc="-1" dirty="0">
                <a:solidFill>
                  <a:srgbClr val="1C2739"/>
                </a:solidFill>
                <a:latin typeface="Calibri"/>
              </a:rPr>
              <a:t>, </a:t>
            </a:r>
            <a:r>
              <a:rPr lang="en-US" sz="1000" b="0" spc="-1" dirty="0" err="1">
                <a:solidFill>
                  <a:srgbClr val="1C2739"/>
                </a:solidFill>
                <a:latin typeface="Calibri"/>
              </a:rPr>
              <a:t>torchvision</a:t>
            </a:r>
            <a:r>
              <a:rPr lang="en-US" sz="1000" b="0" spc="-1" dirty="0">
                <a:solidFill>
                  <a:srgbClr val="1C2739"/>
                </a:solidFill>
                <a:latin typeface="Calibri"/>
              </a:rPr>
              <a:t>, </a:t>
            </a:r>
            <a:r>
              <a:rPr lang="en-US" sz="1000" b="0" spc="-1" dirty="0" err="1">
                <a:solidFill>
                  <a:srgbClr val="1C2739"/>
                </a:solidFill>
                <a:latin typeface="Calibri"/>
              </a:rPr>
              <a:t>HuggingFace</a:t>
            </a:r>
            <a:endParaRPr lang="en-US" sz="1000" b="0" spc="-1" dirty="0">
              <a:solidFill>
                <a:srgbClr val="1C2739"/>
              </a:solidFill>
              <a:latin typeface="Calibri"/>
            </a:endParaRPr>
          </a:p>
        </p:txBody>
      </p:sp>
      <p:sp>
        <p:nvSpPr>
          <p:cNvPr id="39" name="Rectangle 38"/>
          <p:cNvSpPr/>
          <p:nvPr/>
        </p:nvSpPr>
        <p:spPr>
          <a:xfrm>
            <a:off x="340000" y="2930000"/>
            <a:ext cx="3850000" cy="280000"/>
          </a:xfrm>
          <a:prstGeom prst="rect">
            <a:avLst/>
          </a:prstGeom>
          <a:solidFill>
            <a:srgbClr val="F8FAFC"/>
          </a:solidFill>
          <a:ln w="6480">
            <a:solidFill>
              <a:srgbClr val="E2E8F0"/>
            </a:solidFill>
            <a:round/>
          </a:ln>
        </p:spPr>
        <p:txBody>
          <a:bodyPr/>
          <a:lstStyle/>
          <a:p>
            <a:endParaRPr/>
          </a:p>
        </p:txBody>
      </p:sp>
      <p:sp>
        <p:nvSpPr>
          <p:cNvPr id="40" name="TextBox 39"/>
          <p:cNvSpPr txBox="1"/>
          <p:nvPr/>
        </p:nvSpPr>
        <p:spPr>
          <a:xfrm>
            <a:off x="450000" y="2960000"/>
            <a:ext cx="1100000" cy="230000"/>
          </a:xfrm>
          <a:prstGeom prst="rect">
            <a:avLst/>
          </a:prstGeom>
          <a:noFill/>
          <a:ln w="0">
            <a:noFill/>
          </a:ln>
        </p:spPr>
        <p:txBody>
          <a:bodyPr lIns="90000" tIns="30000" rIns="90000" bIns="30000" anchor="t">
            <a:noAutofit/>
          </a:bodyPr>
          <a:lstStyle/>
          <a:p>
            <a:r>
              <a:rPr lang="en-US" sz="1000" b="1" spc="-1">
                <a:solidFill>
                  <a:srgbClr val="2361EB"/>
                </a:solidFill>
                <a:latin typeface="Calibri-Bold"/>
              </a:rPr>
              <a:t>Models</a:t>
            </a:r>
          </a:p>
        </p:txBody>
      </p:sp>
      <p:sp>
        <p:nvSpPr>
          <p:cNvPr id="41" name="TextBox 40"/>
          <p:cNvSpPr txBox="1"/>
          <p:nvPr/>
        </p:nvSpPr>
        <p:spPr>
          <a:xfrm>
            <a:off x="1700000" y="2960000"/>
            <a:ext cx="2350000" cy="230000"/>
          </a:xfrm>
          <a:prstGeom prst="rect">
            <a:avLst/>
          </a:prstGeom>
          <a:noFill/>
          <a:ln w="0">
            <a:noFill/>
          </a:ln>
        </p:spPr>
        <p:txBody>
          <a:bodyPr lIns="90000" tIns="30000" rIns="90000" bIns="30000" anchor="t">
            <a:noAutofit/>
          </a:bodyPr>
          <a:lstStyle/>
          <a:p>
            <a:r>
              <a:rPr lang="en-US" sz="1000" b="0" spc="-1" dirty="0">
                <a:solidFill>
                  <a:srgbClr val="1C2739"/>
                </a:solidFill>
                <a:latin typeface="Calibri"/>
              </a:rPr>
              <a:t>CNN, ResNet18 ,ConvNeXt-Tiny, </a:t>
            </a:r>
            <a:r>
              <a:rPr lang="en-US" sz="1000" b="0" spc="-1" dirty="0" err="1">
                <a:solidFill>
                  <a:srgbClr val="1C2739"/>
                </a:solidFill>
                <a:latin typeface="Calibri"/>
              </a:rPr>
              <a:t>ViT</a:t>
            </a:r>
            <a:r>
              <a:rPr lang="en-US" sz="1000" b="0" spc="-1" dirty="0">
                <a:solidFill>
                  <a:srgbClr val="1C2739"/>
                </a:solidFill>
                <a:latin typeface="Calibri"/>
              </a:rPr>
              <a:t>-B/16</a:t>
            </a:r>
          </a:p>
        </p:txBody>
      </p:sp>
      <p:sp>
        <p:nvSpPr>
          <p:cNvPr id="42" name="Rectangle 41"/>
          <p:cNvSpPr/>
          <p:nvPr/>
        </p:nvSpPr>
        <p:spPr>
          <a:xfrm>
            <a:off x="340000" y="3220000"/>
            <a:ext cx="3850000" cy="280000"/>
          </a:xfrm>
          <a:prstGeom prst="rect">
            <a:avLst/>
          </a:prstGeom>
          <a:solidFill>
            <a:srgbClr val="FFFFFF"/>
          </a:solidFill>
          <a:ln w="6480">
            <a:solidFill>
              <a:srgbClr val="E2E8F0"/>
            </a:solidFill>
            <a:round/>
          </a:ln>
        </p:spPr>
        <p:txBody>
          <a:bodyPr/>
          <a:lstStyle/>
          <a:p>
            <a:endParaRPr/>
          </a:p>
        </p:txBody>
      </p:sp>
      <p:sp>
        <p:nvSpPr>
          <p:cNvPr id="43" name="TextBox 42"/>
          <p:cNvSpPr txBox="1"/>
          <p:nvPr/>
        </p:nvSpPr>
        <p:spPr>
          <a:xfrm>
            <a:off x="450000" y="3250000"/>
            <a:ext cx="1100000" cy="230000"/>
          </a:xfrm>
          <a:prstGeom prst="rect">
            <a:avLst/>
          </a:prstGeom>
          <a:noFill/>
          <a:ln w="0">
            <a:noFill/>
          </a:ln>
        </p:spPr>
        <p:txBody>
          <a:bodyPr lIns="90000" tIns="30000" rIns="90000" bIns="30000" anchor="t">
            <a:noAutofit/>
          </a:bodyPr>
          <a:lstStyle/>
          <a:p>
            <a:r>
              <a:rPr lang="en-US" sz="1000" b="1" spc="-1">
                <a:solidFill>
                  <a:srgbClr val="2361EB"/>
                </a:solidFill>
                <a:latin typeface="Calibri-Bold"/>
              </a:rPr>
              <a:t>Image Lib</a:t>
            </a:r>
          </a:p>
        </p:txBody>
      </p:sp>
      <p:sp>
        <p:nvSpPr>
          <p:cNvPr id="44" name="TextBox 43"/>
          <p:cNvSpPr txBox="1"/>
          <p:nvPr/>
        </p:nvSpPr>
        <p:spPr>
          <a:xfrm>
            <a:off x="1700000" y="3250000"/>
            <a:ext cx="2350000" cy="230000"/>
          </a:xfrm>
          <a:prstGeom prst="rect">
            <a:avLst/>
          </a:prstGeom>
          <a:noFill/>
          <a:ln w="0">
            <a:noFill/>
          </a:ln>
        </p:spPr>
        <p:txBody>
          <a:bodyPr lIns="90000" tIns="30000" rIns="90000" bIns="30000" anchor="t">
            <a:noAutofit/>
          </a:bodyPr>
          <a:lstStyle/>
          <a:p>
            <a:r>
              <a:rPr lang="en-US" sz="1000" b="0" spc="-1">
                <a:solidFill>
                  <a:srgbClr val="1C2739"/>
                </a:solidFill>
                <a:latin typeface="Calibri"/>
              </a:rPr>
              <a:t>Pillow (PIL)</a:t>
            </a:r>
          </a:p>
        </p:txBody>
      </p:sp>
      <p:sp>
        <p:nvSpPr>
          <p:cNvPr id="45" name="Rectangle 44"/>
          <p:cNvSpPr/>
          <p:nvPr/>
        </p:nvSpPr>
        <p:spPr>
          <a:xfrm>
            <a:off x="340000" y="3510000"/>
            <a:ext cx="3850000" cy="280000"/>
          </a:xfrm>
          <a:prstGeom prst="rect">
            <a:avLst/>
          </a:prstGeom>
          <a:solidFill>
            <a:srgbClr val="F8FAFC"/>
          </a:solidFill>
          <a:ln w="6480">
            <a:solidFill>
              <a:srgbClr val="E2E8F0"/>
            </a:solidFill>
            <a:round/>
          </a:ln>
        </p:spPr>
        <p:txBody>
          <a:bodyPr/>
          <a:lstStyle/>
          <a:p>
            <a:endParaRPr/>
          </a:p>
        </p:txBody>
      </p:sp>
      <p:sp>
        <p:nvSpPr>
          <p:cNvPr id="46" name="TextBox 45"/>
          <p:cNvSpPr txBox="1"/>
          <p:nvPr/>
        </p:nvSpPr>
        <p:spPr>
          <a:xfrm>
            <a:off x="450000" y="3540000"/>
            <a:ext cx="1100000" cy="230000"/>
          </a:xfrm>
          <a:prstGeom prst="rect">
            <a:avLst/>
          </a:prstGeom>
          <a:noFill/>
          <a:ln w="0">
            <a:noFill/>
          </a:ln>
        </p:spPr>
        <p:txBody>
          <a:bodyPr lIns="90000" tIns="30000" rIns="90000" bIns="30000" anchor="t">
            <a:noAutofit/>
          </a:bodyPr>
          <a:lstStyle/>
          <a:p>
            <a:r>
              <a:rPr lang="en-US" sz="1000" b="1" spc="-1">
                <a:solidFill>
                  <a:srgbClr val="2361EB"/>
                </a:solidFill>
                <a:latin typeface="Calibri-Bold"/>
              </a:rPr>
              <a:t>Caching</a:t>
            </a:r>
          </a:p>
        </p:txBody>
      </p:sp>
      <p:sp>
        <p:nvSpPr>
          <p:cNvPr id="47" name="TextBox 46"/>
          <p:cNvSpPr txBox="1"/>
          <p:nvPr/>
        </p:nvSpPr>
        <p:spPr>
          <a:xfrm>
            <a:off x="1700000" y="3540000"/>
            <a:ext cx="2350000" cy="230000"/>
          </a:xfrm>
          <a:prstGeom prst="rect">
            <a:avLst/>
          </a:prstGeom>
          <a:noFill/>
          <a:ln w="0">
            <a:noFill/>
          </a:ln>
        </p:spPr>
        <p:txBody>
          <a:bodyPr lIns="90000" tIns="30000" rIns="90000" bIns="30000" anchor="t">
            <a:noAutofit/>
          </a:bodyPr>
          <a:lstStyle/>
          <a:p>
            <a:r>
              <a:rPr lang="en-US" sz="1000" b="0" spc="-1">
                <a:solidFill>
                  <a:srgbClr val="1C2739"/>
                </a:solidFill>
                <a:latin typeface="Calibri"/>
              </a:rPr>
              <a:t>@st.cache_resource</a:t>
            </a:r>
          </a:p>
        </p:txBody>
      </p:sp>
      <p:sp>
        <p:nvSpPr>
          <p:cNvPr id="80" name="Rectangle 79"/>
          <p:cNvSpPr/>
          <p:nvPr/>
        </p:nvSpPr>
        <p:spPr>
          <a:xfrm>
            <a:off x="4474320" y="1950000"/>
            <a:ext cx="4450000" cy="2870000"/>
          </a:xfrm>
          <a:prstGeom prst="rect">
            <a:avLst/>
          </a:prstGeom>
          <a:solidFill>
            <a:srgbClr val="FFFFFF"/>
          </a:solidFill>
          <a:ln w="6480">
            <a:solidFill>
              <a:srgbClr val="E2E8F0"/>
            </a:solidFill>
            <a:round/>
          </a:ln>
        </p:spPr>
        <p:txBody>
          <a:bodyPr/>
          <a:lstStyle/>
          <a:p>
            <a:endParaRPr/>
          </a:p>
        </p:txBody>
      </p:sp>
      <p:sp>
        <p:nvSpPr>
          <p:cNvPr id="81" name="Rectangle 80"/>
          <p:cNvSpPr/>
          <p:nvPr/>
        </p:nvSpPr>
        <p:spPr>
          <a:xfrm>
            <a:off x="4474320" y="1950000"/>
            <a:ext cx="60000" cy="2870000"/>
          </a:xfrm>
          <a:prstGeom prst="rect">
            <a:avLst/>
          </a:prstGeom>
          <a:solidFill>
            <a:srgbClr val="0691B2"/>
          </a:solidFill>
          <a:ln w="0">
            <a:noFill/>
          </a:ln>
        </p:spPr>
        <p:txBody>
          <a:bodyPr/>
          <a:lstStyle/>
          <a:p>
            <a:endParaRPr/>
          </a:p>
        </p:txBody>
      </p:sp>
      <p:sp>
        <p:nvSpPr>
          <p:cNvPr id="82" name="TextBox 81"/>
          <p:cNvSpPr txBox="1"/>
          <p:nvPr/>
        </p:nvSpPr>
        <p:spPr>
          <a:xfrm>
            <a:off x="4640000" y="2010000"/>
            <a:ext cx="4180000" cy="270000"/>
          </a:xfrm>
          <a:prstGeom prst="rect">
            <a:avLst/>
          </a:prstGeom>
          <a:noFill/>
          <a:ln w="0">
            <a:noFill/>
          </a:ln>
        </p:spPr>
        <p:txBody>
          <a:bodyPr lIns="90000" tIns="30000" rIns="90000" bIns="30000" anchor="t">
            <a:noAutofit/>
          </a:bodyPr>
          <a:lstStyle/>
          <a:p>
            <a:r>
              <a:rPr lang="en-US" sz="1300" b="1" spc="-1">
                <a:solidFill>
                  <a:srgbClr val="182C48"/>
                </a:solidFill>
                <a:latin typeface="Calibri-Bold"/>
              </a:rPr>
              <a:t>Key Features</a:t>
            </a:r>
          </a:p>
        </p:txBody>
      </p:sp>
      <p:sp>
        <p:nvSpPr>
          <p:cNvPr id="90" name="TextBox 89"/>
          <p:cNvSpPr txBox="1"/>
          <p:nvPr/>
        </p:nvSpPr>
        <p:spPr>
          <a:xfrm>
            <a:off x="4640000" y="2360000"/>
            <a:ext cx="4180000" cy="340000"/>
          </a:xfrm>
          <a:prstGeom prst="rect">
            <a:avLst/>
          </a:prstGeom>
          <a:noFill/>
          <a:ln w="0">
            <a:noFill/>
          </a:ln>
        </p:spPr>
        <p:txBody>
          <a:bodyPr lIns="90000" tIns="30000" rIns="90000" bIns="30000" anchor="ctr">
            <a:noAutofit/>
          </a:bodyPr>
          <a:lstStyle/>
          <a:p>
            <a:pPr marL="200000" indent="-200000"/>
            <a:r>
              <a:rPr lang="en-US" sz="1050" b="1" spc="-1" dirty="0">
                <a:solidFill>
                  <a:srgbClr val="2361EB"/>
                </a:solidFill>
                <a:latin typeface="Calibri-Bold"/>
              </a:rPr>
              <a:t>✓  </a:t>
            </a:r>
            <a:r>
              <a:rPr lang="en-US" sz="1050" b="0" spc="-1" dirty="0">
                <a:solidFill>
                  <a:srgbClr val="182C48"/>
                </a:solidFill>
                <a:latin typeface="Calibri"/>
              </a:rPr>
              <a:t>Multi-model selector in sidebar (CNN, </a:t>
            </a:r>
            <a:r>
              <a:rPr lang="en-US" sz="1050" b="0" spc="-1" dirty="0" err="1">
                <a:solidFill>
                  <a:srgbClr val="182C48"/>
                </a:solidFill>
                <a:latin typeface="Calibri"/>
              </a:rPr>
              <a:t>ResNet</a:t>
            </a:r>
            <a:r>
              <a:rPr lang="en-US" sz="1050" b="0" spc="-1" dirty="0">
                <a:solidFill>
                  <a:srgbClr val="182C48"/>
                </a:solidFill>
                <a:latin typeface="Calibri"/>
              </a:rPr>
              <a:t>, ConvNeXt, </a:t>
            </a:r>
            <a:r>
              <a:rPr lang="en-US" sz="1050" b="0" spc="-1" dirty="0" err="1">
                <a:solidFill>
                  <a:srgbClr val="182C48"/>
                </a:solidFill>
                <a:latin typeface="Calibri"/>
              </a:rPr>
              <a:t>ViT</a:t>
            </a:r>
            <a:r>
              <a:rPr lang="en-US" sz="1050" b="0" spc="-1" dirty="0">
                <a:solidFill>
                  <a:srgbClr val="182C48"/>
                </a:solidFill>
                <a:latin typeface="Calibri"/>
              </a:rPr>
              <a:t>)</a:t>
            </a:r>
          </a:p>
        </p:txBody>
      </p:sp>
      <p:sp>
        <p:nvSpPr>
          <p:cNvPr id="91" name="TextBox 90"/>
          <p:cNvSpPr txBox="1"/>
          <p:nvPr/>
        </p:nvSpPr>
        <p:spPr>
          <a:xfrm>
            <a:off x="4640000" y="2740000"/>
            <a:ext cx="4180000" cy="340000"/>
          </a:xfrm>
          <a:prstGeom prst="rect">
            <a:avLst/>
          </a:prstGeom>
          <a:noFill/>
          <a:ln w="0">
            <a:noFill/>
          </a:ln>
        </p:spPr>
        <p:txBody>
          <a:bodyPr lIns="90000" tIns="30000" rIns="90000" bIns="30000" anchor="ctr">
            <a:noAutofit/>
          </a:bodyPr>
          <a:lstStyle/>
          <a:p>
            <a:pPr marL="200000" indent="-200000"/>
            <a:r>
              <a:rPr lang="en-US" sz="1050" b="1" spc="-1">
                <a:solidFill>
                  <a:srgbClr val="2361EB"/>
                </a:solidFill>
                <a:latin typeface="Calibri-Bold"/>
              </a:rPr>
              <a:t>✓  </a:t>
            </a:r>
            <a:r>
              <a:rPr lang="en-US" sz="1050" b="0" spc="-1">
                <a:solidFill>
                  <a:srgbClr val="182C48"/>
                </a:solidFill>
                <a:latin typeface="Calibri"/>
              </a:rPr>
              <a:t>Top-3 predictions with confidence progress bars</a:t>
            </a:r>
          </a:p>
        </p:txBody>
      </p:sp>
      <p:sp>
        <p:nvSpPr>
          <p:cNvPr id="92" name="TextBox 91"/>
          <p:cNvSpPr txBox="1"/>
          <p:nvPr/>
        </p:nvSpPr>
        <p:spPr>
          <a:xfrm>
            <a:off x="4640000" y="3120000"/>
            <a:ext cx="4180000" cy="340000"/>
          </a:xfrm>
          <a:prstGeom prst="rect">
            <a:avLst/>
          </a:prstGeom>
          <a:noFill/>
          <a:ln w="0">
            <a:noFill/>
          </a:ln>
        </p:spPr>
        <p:txBody>
          <a:bodyPr lIns="90000" tIns="30000" rIns="90000" bIns="30000" anchor="ctr">
            <a:noAutofit/>
          </a:bodyPr>
          <a:lstStyle/>
          <a:p>
            <a:pPr marL="200000" indent="-200000"/>
            <a:r>
              <a:rPr lang="en-US" sz="1050" b="1" spc="-1">
                <a:solidFill>
                  <a:srgbClr val="2361EB"/>
                </a:solidFill>
                <a:latin typeface="Calibri-Bold"/>
              </a:rPr>
              <a:t>✓  </a:t>
            </a:r>
            <a:r>
              <a:rPr lang="en-US" sz="1050" b="0" spc="-1">
                <a:solidFill>
                  <a:srgbClr val="182C48"/>
                </a:solidFill>
                <a:latin typeface="Calibri"/>
              </a:rPr>
              <a:t>Dog vs Cat label automatically resolved per class</a:t>
            </a:r>
          </a:p>
        </p:txBody>
      </p:sp>
      <p:sp>
        <p:nvSpPr>
          <p:cNvPr id="93" name="TextBox 92"/>
          <p:cNvSpPr txBox="1"/>
          <p:nvPr/>
        </p:nvSpPr>
        <p:spPr>
          <a:xfrm>
            <a:off x="4640000" y="3500000"/>
            <a:ext cx="4180000" cy="340000"/>
          </a:xfrm>
          <a:prstGeom prst="rect">
            <a:avLst/>
          </a:prstGeom>
          <a:noFill/>
          <a:ln w="0">
            <a:noFill/>
          </a:ln>
        </p:spPr>
        <p:txBody>
          <a:bodyPr lIns="90000" tIns="30000" rIns="90000" bIns="30000" anchor="ctr">
            <a:noAutofit/>
          </a:bodyPr>
          <a:lstStyle/>
          <a:p>
            <a:pPr marL="200000" indent="-200000"/>
            <a:r>
              <a:rPr lang="en-US" sz="1050" b="1" spc="-1">
                <a:solidFill>
                  <a:srgbClr val="2361EB"/>
                </a:solidFill>
                <a:latin typeface="Calibri-Bold"/>
              </a:rPr>
              <a:t>✓  </a:t>
            </a:r>
            <a:r>
              <a:rPr lang="en-US" sz="1050" b="0" spc="-1">
                <a:solidFill>
                  <a:srgbClr val="182C48"/>
                </a:solidFill>
                <a:latin typeface="Calibri"/>
              </a:rPr>
              <a:t>Per-model image transforms (size + normalization)</a:t>
            </a:r>
          </a:p>
        </p:txBody>
      </p:sp>
      <p:sp>
        <p:nvSpPr>
          <p:cNvPr id="94" name="TextBox 93"/>
          <p:cNvSpPr txBox="1"/>
          <p:nvPr/>
        </p:nvSpPr>
        <p:spPr>
          <a:xfrm>
            <a:off x="4640000" y="3880000"/>
            <a:ext cx="4180000" cy="340000"/>
          </a:xfrm>
          <a:prstGeom prst="rect">
            <a:avLst/>
          </a:prstGeom>
          <a:noFill/>
          <a:ln w="0">
            <a:noFill/>
          </a:ln>
        </p:spPr>
        <p:txBody>
          <a:bodyPr lIns="90000" tIns="30000" rIns="90000" bIns="30000" anchor="ctr">
            <a:noAutofit/>
          </a:bodyPr>
          <a:lstStyle/>
          <a:p>
            <a:pPr marL="200000" indent="-200000"/>
            <a:r>
              <a:rPr lang="en-US" sz="1050" b="1" spc="-1">
                <a:solidFill>
                  <a:srgbClr val="2361EB"/>
                </a:solidFill>
                <a:latin typeface="Calibri-Bold"/>
              </a:rPr>
              <a:t>✓  </a:t>
            </a:r>
            <a:r>
              <a:rPr lang="en-US" sz="1050" b="0" spc="-1">
                <a:solidFill>
                  <a:srgbClr val="182C48"/>
                </a:solidFill>
                <a:latin typeface="Calibri"/>
              </a:rPr>
              <a:t>Cached model loading — no reload between predictions</a:t>
            </a:r>
          </a:p>
        </p:txBody>
      </p:sp>
      <p:sp>
        <p:nvSpPr>
          <p:cNvPr id="95" name="TextBox 94"/>
          <p:cNvSpPr txBox="1"/>
          <p:nvPr/>
        </p:nvSpPr>
        <p:spPr>
          <a:xfrm>
            <a:off x="4640000" y="4260000"/>
            <a:ext cx="4180000" cy="340000"/>
          </a:xfrm>
          <a:prstGeom prst="rect">
            <a:avLst/>
          </a:prstGeom>
          <a:noFill/>
          <a:ln w="0">
            <a:noFill/>
          </a:ln>
        </p:spPr>
        <p:txBody>
          <a:bodyPr lIns="90000" tIns="30000" rIns="90000" bIns="30000" anchor="ctr">
            <a:noAutofit/>
          </a:bodyPr>
          <a:lstStyle/>
          <a:p>
            <a:pPr marL="200000" indent="-200000"/>
            <a:r>
              <a:rPr lang="en-US" sz="1050" b="1" spc="-1">
                <a:solidFill>
                  <a:srgbClr val="2361EB"/>
                </a:solidFill>
                <a:latin typeface="Calibri-Bold"/>
              </a:rPr>
              <a:t>✓  </a:t>
            </a:r>
            <a:r>
              <a:rPr lang="en-US" sz="1050" b="0" spc="-1">
                <a:solidFill>
                  <a:srgbClr val="182C48"/>
                </a:solidFill>
                <a:latin typeface="Calibri"/>
              </a:rPr>
              <a:t>class_names.json for human-readable class mapping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720" cy="55440"/>
          </a:xfrm>
          <a:prstGeom prst="rect">
            <a:avLst/>
          </a:prstGeom>
          <a:solidFill>
            <a:srgbClr val="2361EB"/>
          </a:solidFill>
        </p:spPr>
        <p:txBody>
          <a:bodyPr/>
          <a:lstStyle/>
          <a:p>
            <a:endParaRPr/>
          </a:p>
        </p:txBody>
      </p:sp>
      <p:sp>
        <p:nvSpPr>
          <p:cNvPr id="3" name="TextBox 2"/>
          <p:cNvSpPr txBox="1"/>
          <p:nvPr/>
        </p:nvSpPr>
        <p:spPr>
          <a:xfrm>
            <a:off x="502200" y="164520"/>
            <a:ext cx="8139600" cy="502920"/>
          </a:xfrm>
          <a:prstGeom prst="rect">
            <a:avLst/>
          </a:prstGeom>
          <a:noFill/>
          <a:ln w="0">
            <a:noFill/>
          </a:ln>
        </p:spPr>
        <p:txBody>
          <a:bodyPr lIns="90000" tIns="45000" rIns="90000" bIns="45000" anchor="t">
            <a:noAutofit/>
          </a:bodyPr>
          <a:lstStyle/>
          <a:p>
            <a:r>
              <a:rPr lang="en-US" sz="2600" b="1" strike="noStrike" spc="-1">
                <a:solidFill>
                  <a:srgbClr val="182C48"/>
                </a:solidFill>
                <a:latin typeface="Calibri-Bold"/>
              </a:rPr>
              <a:t>Classification App — Live Demo</a:t>
            </a:r>
          </a:p>
        </p:txBody>
      </p:sp>
      <p:sp>
        <p:nvSpPr>
          <p:cNvPr id="4" name="TextBox 3"/>
          <p:cNvSpPr txBox="1"/>
          <p:nvPr/>
        </p:nvSpPr>
        <p:spPr>
          <a:xfrm>
            <a:off x="502200" y="658440"/>
            <a:ext cx="8139600" cy="292680"/>
          </a:xfrm>
          <a:prstGeom prst="rect">
            <a:avLst/>
          </a:prstGeom>
          <a:noFill/>
          <a:ln w="0">
            <a:noFill/>
          </a:ln>
        </p:spPr>
        <p:txBody>
          <a:bodyPr lIns="90000" tIns="45000" rIns="90000" bIns="45000" anchor="t">
            <a:noAutofit/>
          </a:bodyPr>
          <a:lstStyle/>
          <a:p>
            <a:r>
              <a:rPr lang="en-US" sz="1200" b="0" i="1" strike="noStrike" spc="-1" dirty="0">
                <a:solidFill>
                  <a:srgbClr val="62728B"/>
                </a:solidFill>
                <a:latin typeface="Calibri-Italic"/>
              </a:rPr>
              <a:t>Baseline </a:t>
            </a:r>
            <a:r>
              <a:rPr lang="en-US" sz="1200" b="0" i="1" strike="noStrike" spc="-1" dirty="0">
                <a:solidFill>
                  <a:srgbClr val="FFC000"/>
                </a:solidFill>
                <a:latin typeface="Calibri-Italic"/>
              </a:rPr>
              <a:t>CNN</a:t>
            </a:r>
            <a:r>
              <a:rPr lang="en-US" sz="1200" b="0" i="1" strike="noStrike" spc="-1" dirty="0">
                <a:solidFill>
                  <a:srgbClr val="62728B"/>
                </a:solidFill>
                <a:latin typeface="Calibri-Italic"/>
              </a:rPr>
              <a:t> vs </a:t>
            </a:r>
            <a:r>
              <a:rPr lang="en-US" sz="1200" b="0" i="1" strike="noStrike" spc="-1" dirty="0">
                <a:solidFill>
                  <a:srgbClr val="FFC000"/>
                </a:solidFill>
                <a:latin typeface="Calibri-Italic"/>
              </a:rPr>
              <a:t>ConvNeXt</a:t>
            </a:r>
            <a:r>
              <a:rPr lang="en-US" sz="1200" b="0" i="1" strike="noStrike" spc="-1" dirty="0">
                <a:solidFill>
                  <a:srgbClr val="62728B"/>
                </a:solidFill>
                <a:latin typeface="Calibri-Italic"/>
              </a:rPr>
              <a:t> model • Input: Beagle </a:t>
            </a:r>
          </a:p>
        </p:txBody>
      </p:sp>
      <p:sp>
        <p:nvSpPr>
          <p:cNvPr id="5" name="Straight Connector 4"/>
          <p:cNvSpPr/>
          <p:nvPr/>
        </p:nvSpPr>
        <p:spPr>
          <a:xfrm>
            <a:off x="457200" y="960120"/>
            <a:ext cx="8229600" cy="0"/>
          </a:xfrm>
          <a:prstGeom prst="line">
            <a:avLst/>
          </a:prstGeom>
          <a:ln w="12600">
            <a:solidFill>
              <a:srgbClr val="E2E8F0"/>
            </a:solidFill>
            <a:round/>
          </a:ln>
        </p:spPr>
        <p:txBody>
          <a:bodyPr/>
          <a:lstStyle/>
          <a:p>
            <a:endParaRPr/>
          </a:p>
        </p:txBody>
      </p:sp>
      <p:sp>
        <p:nvSpPr>
          <p:cNvPr id="6" name="Rectangle 5"/>
          <p:cNvSpPr/>
          <p:nvPr/>
        </p:nvSpPr>
        <p:spPr>
          <a:xfrm>
            <a:off x="457200" y="1010000"/>
            <a:ext cx="8229600" cy="3890000"/>
          </a:xfrm>
          <a:prstGeom prst="rect">
            <a:avLst/>
          </a:prstGeom>
          <a:solidFill>
            <a:srgbClr val="FFFFFF"/>
          </a:solidFill>
          <a:ln w="9000">
            <a:solidFill>
              <a:srgbClr val="E2E8F0"/>
            </a:solidFill>
            <a:round/>
          </a:ln>
          <a:effectLst>
            <a:outerShdw blurRad="63500" dist="38100" dir="5400000" algn="t" rotWithShape="0">
              <a:srgbClr val="000000">
                <a:alpha val="15000"/>
              </a:srgbClr>
            </a:outerShdw>
          </a:effectLst>
        </p:spPr>
        <p:txBody>
          <a:bodyPr/>
          <a:lstStyle/>
          <a:p>
            <a:endParaRPr/>
          </a:p>
        </p:txBody>
      </p:sp>
      <p:pic>
        <p:nvPicPr>
          <p:cNvPr id="7" name="app_demo"/>
          <p:cNvPicPr>
            <a:picLocks noChangeAspect="1"/>
          </p:cNvPicPr>
          <p:nvPr/>
        </p:nvPicPr>
        <p:blipFill rotWithShape="1">
          <a:blip r:embed="rId2"/>
          <a:srcRect l="30382" t="2390" r="10899" b="6101"/>
          <a:stretch>
            <a:fillRect/>
          </a:stretch>
        </p:blipFill>
        <p:spPr>
          <a:xfrm>
            <a:off x="4713669" y="1010001"/>
            <a:ext cx="3090928" cy="3706536"/>
          </a:xfrm>
          <a:prstGeom prst="rect">
            <a:avLst/>
          </a:prstGeom>
        </p:spPr>
      </p:pic>
      <p:pic>
        <p:nvPicPr>
          <p:cNvPr id="11" name="Picture 10">
            <a:extLst>
              <a:ext uri="{FF2B5EF4-FFF2-40B4-BE49-F238E27FC236}">
                <a16:creationId xmlns:a16="http://schemas.microsoft.com/office/drawing/2014/main" id="{1251BF38-A616-60B8-A948-DC03F2CD7088}"/>
              </a:ext>
            </a:extLst>
          </p:cNvPr>
          <p:cNvPicPr>
            <a:picLocks noChangeAspect="1"/>
          </p:cNvPicPr>
          <p:nvPr/>
        </p:nvPicPr>
        <p:blipFill rotWithShape="1">
          <a:blip r:embed="rId3">
            <a:extLst>
              <a:ext uri="{28A0092B-C50C-407E-A947-70E740481C1C}">
                <a14:useLocalDpi xmlns:a14="http://schemas.microsoft.com/office/drawing/2010/main" val="0"/>
              </a:ext>
            </a:extLst>
          </a:blip>
          <a:srcRect l="15397" t="2664" r="25884" b="670"/>
          <a:stretch>
            <a:fillRect/>
          </a:stretch>
        </p:blipFill>
        <p:spPr>
          <a:xfrm>
            <a:off x="457200" y="1000999"/>
            <a:ext cx="3139227" cy="3571001"/>
          </a:xfrm>
          <a:prstGeom prst="rect">
            <a:avLst/>
          </a:prstGeom>
        </p:spPr>
      </p:pic>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344</TotalTime>
  <Words>2291</Words>
  <Application>Microsoft Macintosh PowerPoint</Application>
  <PresentationFormat>On-screen Show (16:9)</PresentationFormat>
  <Paragraphs>498</Paragraphs>
  <Slides>25</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25</vt:i4>
      </vt:variant>
    </vt:vector>
  </HeadingPairs>
  <TitlesOfParts>
    <vt:vector size="33" baseType="lpstr">
      <vt:lpstr>Arial</vt:lpstr>
      <vt:lpstr>Calibri</vt:lpstr>
      <vt:lpstr>Calibri-Bold</vt:lpstr>
      <vt:lpstr>Calibri-Italic</vt:lpstr>
      <vt:lpstr>Symbol</vt:lpstr>
      <vt:lpstr>Wingdings</vt:lpstr>
      <vt:lpstr>Office</vt:lpstr>
      <vt:lpstr>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Don Mithila Palliyaguruge</cp:lastModifiedBy>
  <cp:revision>18</cp:revision>
  <dcterms:modified xsi:type="dcterms:W3CDTF">2026-05-09T13:12:53Z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